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311" r:id="rId15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310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953" userDrawn="1">
          <p15:clr>
            <a:srgbClr val="A4A3A4"/>
          </p15:clr>
        </p15:guide>
        <p15:guide id="2" pos="21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953"/>
        <p:guide pos="214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1" Type="http://schemas.openxmlformats.org/officeDocument/2006/relationships/tableStyles" Target="tableStyles.xml"/><Relationship Id="rId60" Type="http://schemas.openxmlformats.org/officeDocument/2006/relationships/viewProps" Target="viewProps.xml"/><Relationship Id="rId6" Type="http://schemas.openxmlformats.org/officeDocument/2006/relationships/slide" Target="slides/slide4.xml"/><Relationship Id="rId59" Type="http://schemas.openxmlformats.org/officeDocument/2006/relationships/presProps" Target="presProps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94283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12700">
              <a:lnSpc>
                <a:spcPts val="1435"/>
              </a:lnSpc>
            </a:pPr>
            <a:r>
              <a:rPr spc="-10" dirty="0"/>
              <a:t>Start-</a:t>
            </a:r>
            <a:r>
              <a:rPr spc="-25" dirty="0"/>
              <a:t>Tech </a:t>
            </a:r>
            <a:r>
              <a:rPr spc="-10" dirty="0"/>
              <a:t>Academy</a:t>
            </a:r>
            <a:endParaRPr spc="-10" dirty="0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12700">
              <a:lnSpc>
                <a:spcPts val="1435"/>
              </a:lnSpc>
            </a:pPr>
            <a:r>
              <a:rPr spc="-10" dirty="0"/>
              <a:t>Start-</a:t>
            </a:r>
            <a:r>
              <a:rPr spc="-25" dirty="0"/>
              <a:t>Tech </a:t>
            </a:r>
            <a:r>
              <a:rPr spc="-10" dirty="0"/>
              <a:t>Academy</a:t>
            </a:r>
            <a:endParaRPr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12700">
              <a:lnSpc>
                <a:spcPts val="1435"/>
              </a:lnSpc>
            </a:pPr>
            <a:r>
              <a:rPr spc="-10" dirty="0"/>
              <a:t>Start-</a:t>
            </a:r>
            <a:r>
              <a:rPr spc="-25" dirty="0"/>
              <a:t>Tech </a:t>
            </a:r>
            <a:r>
              <a:rPr spc="-10" dirty="0"/>
              <a:t>Academy</a:t>
            </a:r>
            <a:endParaRPr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12700">
              <a:lnSpc>
                <a:spcPts val="1435"/>
              </a:lnSpc>
            </a:pPr>
            <a:r>
              <a:rPr spc="-10" dirty="0"/>
              <a:t>Start-</a:t>
            </a:r>
            <a:r>
              <a:rPr spc="-25" dirty="0"/>
              <a:t>Tech </a:t>
            </a:r>
            <a:r>
              <a:rPr spc="-10" dirty="0"/>
              <a:t>Academy</a:t>
            </a:r>
            <a:endParaRPr spc="-1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12700">
              <a:lnSpc>
                <a:spcPts val="1435"/>
              </a:lnSpc>
            </a:pPr>
            <a:r>
              <a:rPr spc="-10" dirty="0"/>
              <a:t>Start-</a:t>
            </a:r>
            <a:r>
              <a:rPr spc="-25" dirty="0"/>
              <a:t>Tech </a:t>
            </a:r>
            <a:r>
              <a:rPr spc="-10" dirty="0"/>
              <a:t>Academy</a:t>
            </a:r>
            <a:endParaRPr spc="-1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/>
          <a:lstStyle>
            <a:lvl1pPr algn="ctr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12700">
              <a:lnSpc>
                <a:spcPts val="1435"/>
              </a:lnSpc>
            </a:pPr>
            <a:r>
              <a:rPr spc="-10" dirty="0"/>
              <a:t>Start-</a:t>
            </a:r>
            <a:r>
              <a:rPr spc="-25" dirty="0"/>
              <a:t>Tech </a:t>
            </a:r>
            <a:r>
              <a:rPr spc="-10" dirty="0"/>
              <a:t>Academy</a:t>
            </a:r>
            <a:endParaRPr spc="-10" dirty="0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9.png"/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jpeg"/><Relationship Id="rId1" Type="http://schemas.openxmlformats.org/officeDocument/2006/relationships/image" Target="../media/image24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jpeg"/><Relationship Id="rId1" Type="http://schemas.openxmlformats.org/officeDocument/2006/relationships/image" Target="../media/image24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jpe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image" Target="../media/image26.jpeg"/><Relationship Id="rId1" Type="http://schemas.openxmlformats.org/officeDocument/2006/relationships/tags" Target="../tags/tag11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help.tableau.com/current/pro/desktop/en-us/functions_all_categories.htm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jpe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Data</a:t>
            </a:r>
            <a:r>
              <a:rPr spc="-21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Visualization</a:t>
            </a:r>
            <a:r>
              <a:rPr spc="-19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Process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30072" y="3185287"/>
            <a:ext cx="20262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8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Too</a:t>
            </a:r>
            <a:r>
              <a:rPr sz="3200" b="1" spc="-95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simple?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28288" y="2473451"/>
            <a:ext cx="2048510" cy="2158365"/>
            <a:chOff x="3828288" y="2473451"/>
            <a:chExt cx="2048510" cy="2158365"/>
          </a:xfrm>
        </p:grpSpPr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595008" y="3875531"/>
              <a:ext cx="606298" cy="7558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28288" y="2473451"/>
              <a:ext cx="2048256" cy="1408176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88758" y="3108960"/>
            <a:ext cx="1062147" cy="113690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74457" y="2473451"/>
            <a:ext cx="1692073" cy="225140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102096" y="3482340"/>
            <a:ext cx="765175" cy="304800"/>
            <a:chOff x="6102096" y="3482340"/>
            <a:chExt cx="765175" cy="304800"/>
          </a:xfrm>
        </p:grpSpPr>
        <p:sp>
          <p:nvSpPr>
            <p:cNvPr id="11" name="object 11"/>
            <p:cNvSpPr/>
            <p:nvPr/>
          </p:nvSpPr>
          <p:spPr>
            <a:xfrm>
              <a:off x="6108192" y="3488436"/>
              <a:ext cx="753110" cy="292735"/>
            </a:xfrm>
            <a:custGeom>
              <a:avLst/>
              <a:gdLst/>
              <a:ahLst/>
              <a:cxnLst/>
              <a:rect l="l" t="t" r="r" b="b"/>
              <a:pathLst>
                <a:path w="753109" h="292735">
                  <a:moveTo>
                    <a:pt x="606552" y="0"/>
                  </a:moveTo>
                  <a:lnTo>
                    <a:pt x="606552" y="73151"/>
                  </a:lnTo>
                  <a:lnTo>
                    <a:pt x="0" y="73151"/>
                  </a:lnTo>
                  <a:lnTo>
                    <a:pt x="0" y="219456"/>
                  </a:lnTo>
                  <a:lnTo>
                    <a:pt x="606552" y="219456"/>
                  </a:lnTo>
                  <a:lnTo>
                    <a:pt x="606552" y="292607"/>
                  </a:lnTo>
                  <a:lnTo>
                    <a:pt x="752856" y="146303"/>
                  </a:lnTo>
                  <a:lnTo>
                    <a:pt x="6065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108192" y="3488436"/>
              <a:ext cx="753110" cy="292735"/>
            </a:xfrm>
            <a:custGeom>
              <a:avLst/>
              <a:gdLst/>
              <a:ahLst/>
              <a:cxnLst/>
              <a:rect l="l" t="t" r="r" b="b"/>
              <a:pathLst>
                <a:path w="753109" h="292735">
                  <a:moveTo>
                    <a:pt x="0" y="73151"/>
                  </a:moveTo>
                  <a:lnTo>
                    <a:pt x="606552" y="73151"/>
                  </a:lnTo>
                  <a:lnTo>
                    <a:pt x="606552" y="0"/>
                  </a:lnTo>
                  <a:lnTo>
                    <a:pt x="752856" y="146303"/>
                  </a:lnTo>
                  <a:lnTo>
                    <a:pt x="606552" y="292607"/>
                  </a:lnTo>
                  <a:lnTo>
                    <a:pt x="606552" y="219456"/>
                  </a:lnTo>
                  <a:lnTo>
                    <a:pt x="0" y="219456"/>
                  </a:lnTo>
                  <a:lnTo>
                    <a:pt x="0" y="73151"/>
                  </a:lnTo>
                  <a:close/>
                </a:path>
              </a:pathLst>
            </a:custGeom>
            <a:ln w="12191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8712707" y="3480815"/>
            <a:ext cx="765175" cy="303530"/>
            <a:chOff x="8712707" y="3480815"/>
            <a:chExt cx="765175" cy="303530"/>
          </a:xfrm>
        </p:grpSpPr>
        <p:sp>
          <p:nvSpPr>
            <p:cNvPr id="14" name="object 14"/>
            <p:cNvSpPr/>
            <p:nvPr/>
          </p:nvSpPr>
          <p:spPr>
            <a:xfrm>
              <a:off x="8718803" y="3486911"/>
              <a:ext cx="753110" cy="291465"/>
            </a:xfrm>
            <a:custGeom>
              <a:avLst/>
              <a:gdLst/>
              <a:ahLst/>
              <a:cxnLst/>
              <a:rect l="l" t="t" r="r" b="b"/>
              <a:pathLst>
                <a:path w="753109" h="291464">
                  <a:moveTo>
                    <a:pt x="607314" y="0"/>
                  </a:moveTo>
                  <a:lnTo>
                    <a:pt x="607314" y="72771"/>
                  </a:lnTo>
                  <a:lnTo>
                    <a:pt x="0" y="72771"/>
                  </a:lnTo>
                  <a:lnTo>
                    <a:pt x="0" y="218312"/>
                  </a:lnTo>
                  <a:lnTo>
                    <a:pt x="607314" y="218312"/>
                  </a:lnTo>
                  <a:lnTo>
                    <a:pt x="607314" y="291083"/>
                  </a:lnTo>
                  <a:lnTo>
                    <a:pt x="752855" y="145542"/>
                  </a:lnTo>
                  <a:lnTo>
                    <a:pt x="6073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718803" y="3486911"/>
              <a:ext cx="753110" cy="291465"/>
            </a:xfrm>
            <a:custGeom>
              <a:avLst/>
              <a:gdLst/>
              <a:ahLst/>
              <a:cxnLst/>
              <a:rect l="l" t="t" r="r" b="b"/>
              <a:pathLst>
                <a:path w="753109" h="291464">
                  <a:moveTo>
                    <a:pt x="0" y="72771"/>
                  </a:moveTo>
                  <a:lnTo>
                    <a:pt x="607314" y="72771"/>
                  </a:lnTo>
                  <a:lnTo>
                    <a:pt x="607314" y="0"/>
                  </a:lnTo>
                  <a:lnTo>
                    <a:pt x="752855" y="145542"/>
                  </a:lnTo>
                  <a:lnTo>
                    <a:pt x="607314" y="291083"/>
                  </a:lnTo>
                  <a:lnTo>
                    <a:pt x="607314" y="218312"/>
                  </a:lnTo>
                  <a:lnTo>
                    <a:pt x="0" y="218312"/>
                  </a:lnTo>
                  <a:lnTo>
                    <a:pt x="0" y="72771"/>
                  </a:lnTo>
                  <a:close/>
                </a:path>
              </a:pathLst>
            </a:custGeom>
            <a:ln w="12192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3683508" y="5065776"/>
            <a:ext cx="2420620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Single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file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contains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data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34200" y="5065776"/>
            <a:ext cx="1557655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26365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Create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chart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549383" y="4928615"/>
            <a:ext cx="2049780" cy="64643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00025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Use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snapshot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of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7081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chart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report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Data</a:t>
            </a:r>
            <a:r>
              <a:rPr spc="-21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Visualization</a:t>
            </a:r>
            <a:r>
              <a:rPr spc="-19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Process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47419" y="3185287"/>
            <a:ext cx="1794510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6764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Practical challenges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18888" y="1592580"/>
            <a:ext cx="5523230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377825" indent="-286385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37782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Data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is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multiple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files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18888" y="3799332"/>
            <a:ext cx="5523230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377825" indent="-28638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37782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Ability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to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create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all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popular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charts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18888" y="5269991"/>
            <a:ext cx="5523230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377825" indent="-286385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37782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Ability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to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draw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multiple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charts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and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create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dashboards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18888" y="2328672"/>
            <a:ext cx="5523230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377825" indent="-28638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37782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Data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is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different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types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files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18888" y="3063239"/>
            <a:ext cx="5523230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377825" indent="-286385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37782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Data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is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getting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dynamically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updated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18888" y="4533900"/>
            <a:ext cx="5523230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377825" indent="-286385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37782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Ability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to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customize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charts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as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required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Data</a:t>
            </a:r>
            <a:r>
              <a:rPr spc="-21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Visualization</a:t>
            </a:r>
            <a:r>
              <a:rPr spc="-19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Process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47419" y="3185287"/>
            <a:ext cx="1794510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6764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Practical challenges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825331" y="1754484"/>
            <a:ext cx="673425" cy="46121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610355" y="3842003"/>
            <a:ext cx="2204085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Multiple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data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sources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93535" y="3842003"/>
            <a:ext cx="3023870" cy="1478280"/>
          </a:xfrm>
          <a:custGeom>
            <a:avLst/>
            <a:gdLst/>
            <a:ahLst/>
            <a:cxnLst/>
            <a:rect l="l" t="t" r="r" b="b"/>
            <a:pathLst>
              <a:path w="3023870" h="1478279">
                <a:moveTo>
                  <a:pt x="0" y="1478280"/>
                </a:moveTo>
                <a:lnTo>
                  <a:pt x="3023616" y="1478280"/>
                </a:lnTo>
                <a:lnTo>
                  <a:pt x="3023616" y="0"/>
                </a:lnTo>
                <a:lnTo>
                  <a:pt x="0" y="0"/>
                </a:lnTo>
                <a:lnTo>
                  <a:pt x="0" y="147828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272910" y="3861307"/>
            <a:ext cx="282638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538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 panose="020F0502020204030204"/>
                <a:cs typeface="Calibri" panose="020F0502020204030204"/>
              </a:rPr>
              <a:t>Steps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Connect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with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data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sources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Collate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and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prepare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data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Draw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all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types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charts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Customize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charts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41764" y="3842003"/>
            <a:ext cx="2362200" cy="6477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688340" marR="145415" indent="-535305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Dynamic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&amp;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Interactive dashboard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10" name="object 10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681819" y="3225145"/>
            <a:ext cx="673425" cy="46121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992971" y="2457048"/>
            <a:ext cx="673425" cy="46121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131399" y="2511912"/>
            <a:ext cx="673425" cy="46121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681819" y="1850496"/>
            <a:ext cx="673425" cy="46121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714079" y="3180948"/>
            <a:ext cx="673425" cy="46121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63500" y="1557527"/>
            <a:ext cx="1979396" cy="1974683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6507480" y="1459991"/>
            <a:ext cx="2152015" cy="2152015"/>
            <a:chOff x="6507480" y="1459991"/>
            <a:chExt cx="2152015" cy="215201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64249" y="1888236"/>
              <a:ext cx="2009775" cy="117157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512052" y="1464563"/>
              <a:ext cx="2143125" cy="2143125"/>
            </a:xfrm>
            <a:custGeom>
              <a:avLst/>
              <a:gdLst/>
              <a:ahLst/>
              <a:cxnLst/>
              <a:rect l="l" t="t" r="r" b="b"/>
              <a:pathLst>
                <a:path w="2143125" h="2143125">
                  <a:moveTo>
                    <a:pt x="0" y="2142744"/>
                  </a:moveTo>
                  <a:lnTo>
                    <a:pt x="2142744" y="2142744"/>
                  </a:lnTo>
                  <a:lnTo>
                    <a:pt x="2142744" y="0"/>
                  </a:lnTo>
                  <a:lnTo>
                    <a:pt x="0" y="0"/>
                  </a:lnTo>
                  <a:lnTo>
                    <a:pt x="0" y="2142744"/>
                  </a:lnTo>
                  <a:close/>
                </a:path>
              </a:pathLst>
            </a:custGeom>
            <a:ln w="9144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9541764" y="4637532"/>
            <a:ext cx="2362200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Share,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Embed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&amp;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View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539490" y="4610861"/>
            <a:ext cx="8484235" cy="949960"/>
          </a:xfrm>
          <a:custGeom>
            <a:avLst/>
            <a:gdLst/>
            <a:ahLst/>
            <a:cxnLst/>
            <a:rect l="l" t="t" r="r" b="b"/>
            <a:pathLst>
              <a:path w="8484235" h="949960">
                <a:moveTo>
                  <a:pt x="8484108" y="0"/>
                </a:moveTo>
                <a:lnTo>
                  <a:pt x="8483845" y="77871"/>
                </a:lnTo>
                <a:lnTo>
                  <a:pt x="8483072" y="154009"/>
                </a:lnTo>
                <a:lnTo>
                  <a:pt x="8481807" y="228169"/>
                </a:lnTo>
                <a:lnTo>
                  <a:pt x="8480073" y="300106"/>
                </a:lnTo>
                <a:lnTo>
                  <a:pt x="8477888" y="369575"/>
                </a:lnTo>
                <a:lnTo>
                  <a:pt x="8475274" y="436334"/>
                </a:lnTo>
                <a:lnTo>
                  <a:pt x="8472251" y="500137"/>
                </a:lnTo>
                <a:lnTo>
                  <a:pt x="8468839" y="560740"/>
                </a:lnTo>
                <a:lnTo>
                  <a:pt x="8465059" y="617899"/>
                </a:lnTo>
                <a:lnTo>
                  <a:pt x="8460930" y="671369"/>
                </a:lnTo>
                <a:lnTo>
                  <a:pt x="8456474" y="720907"/>
                </a:lnTo>
                <a:lnTo>
                  <a:pt x="8451710" y="766267"/>
                </a:lnTo>
                <a:lnTo>
                  <a:pt x="8446660" y="807205"/>
                </a:lnTo>
                <a:lnTo>
                  <a:pt x="8435780" y="874841"/>
                </a:lnTo>
                <a:lnTo>
                  <a:pt x="8423997" y="921859"/>
                </a:lnTo>
                <a:lnTo>
                  <a:pt x="8404987" y="949451"/>
                </a:lnTo>
                <a:lnTo>
                  <a:pt x="79121" y="949451"/>
                </a:lnTo>
                <a:lnTo>
                  <a:pt x="54116" y="901049"/>
                </a:lnTo>
                <a:lnTo>
                  <a:pt x="42764" y="843478"/>
                </a:lnTo>
                <a:lnTo>
                  <a:pt x="32397" y="766267"/>
                </a:lnTo>
                <a:lnTo>
                  <a:pt x="27633" y="720907"/>
                </a:lnTo>
                <a:lnTo>
                  <a:pt x="23177" y="671369"/>
                </a:lnTo>
                <a:lnTo>
                  <a:pt x="19048" y="617899"/>
                </a:lnTo>
                <a:lnTo>
                  <a:pt x="15268" y="560740"/>
                </a:lnTo>
                <a:lnTo>
                  <a:pt x="11856" y="500137"/>
                </a:lnTo>
                <a:lnTo>
                  <a:pt x="8833" y="436334"/>
                </a:lnTo>
                <a:lnTo>
                  <a:pt x="6219" y="369575"/>
                </a:lnTo>
                <a:lnTo>
                  <a:pt x="4034" y="300106"/>
                </a:lnTo>
                <a:lnTo>
                  <a:pt x="2300" y="228169"/>
                </a:lnTo>
                <a:lnTo>
                  <a:pt x="1035" y="154009"/>
                </a:lnTo>
                <a:lnTo>
                  <a:pt x="262" y="77871"/>
                </a:lnTo>
                <a:lnTo>
                  <a:pt x="0" y="0"/>
                </a:lnTo>
              </a:path>
            </a:pathLst>
          </a:custGeom>
          <a:ln w="38100">
            <a:solidFill>
              <a:srgbClr val="0E6EC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402323" y="5760720"/>
            <a:ext cx="2364105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648970">
              <a:lnSpc>
                <a:spcPct val="100000"/>
              </a:lnSpc>
              <a:spcBef>
                <a:spcPts val="245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Collaborate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spc="-4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Tableau</a:t>
            </a:r>
            <a:r>
              <a:rPr spc="-19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Products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076315" y="1333626"/>
            <a:ext cx="28194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5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Tableau</a:t>
            </a:r>
            <a:r>
              <a:rPr sz="3200" b="1" spc="-125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Desktop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5175" y="1805939"/>
            <a:ext cx="2844165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654050">
              <a:lnSpc>
                <a:spcPct val="100000"/>
              </a:lnSpc>
              <a:spcBef>
                <a:spcPts val="245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Desktop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5175" y="4962144"/>
            <a:ext cx="2844165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755650">
              <a:lnSpc>
                <a:spcPct val="100000"/>
              </a:lnSpc>
              <a:spcBef>
                <a:spcPts val="245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Public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5175" y="4172711"/>
            <a:ext cx="2844165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730250">
              <a:lnSpc>
                <a:spcPct val="100000"/>
              </a:lnSpc>
              <a:spcBef>
                <a:spcPts val="250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Online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5175" y="3384803"/>
            <a:ext cx="2844165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240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Server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5175" y="2595372"/>
            <a:ext cx="2844165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245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Prep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17975" y="2669285"/>
            <a:ext cx="3467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-25" dirty="0">
                <a:latin typeface="Calibri" panose="020F0502020204030204"/>
                <a:cs typeface="Calibri" panose="020F0502020204030204"/>
              </a:rPr>
              <a:t>1.</a:t>
            </a:r>
            <a:r>
              <a:rPr sz="1800" dirty="0">
                <a:latin typeface="Calibri" panose="020F0502020204030204"/>
                <a:cs typeface="Calibri" panose="020F0502020204030204"/>
              </a:rPr>
              <a:t>	Windows/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Mac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application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for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PC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17975" y="3218179"/>
            <a:ext cx="3825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-25" dirty="0">
                <a:latin typeface="Calibri" panose="020F0502020204030204"/>
                <a:cs typeface="Calibri" panose="020F0502020204030204"/>
              </a:rPr>
              <a:t>2.</a:t>
            </a:r>
            <a:r>
              <a:rPr sz="1800" dirty="0">
                <a:latin typeface="Calibri" panose="020F0502020204030204"/>
                <a:cs typeface="Calibri" panose="020F0502020204030204"/>
              </a:rPr>
              <a:t>	The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mail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visualization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tool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by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Tableau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17975" y="3766820"/>
            <a:ext cx="6948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-25" dirty="0">
                <a:latin typeface="Calibri" panose="020F0502020204030204"/>
                <a:cs typeface="Calibri" panose="020F0502020204030204"/>
              </a:rPr>
              <a:t>3.</a:t>
            </a:r>
            <a:r>
              <a:rPr sz="1800" dirty="0">
                <a:latin typeface="Calibri" panose="020F0502020204030204"/>
                <a:cs typeface="Calibri" panose="020F0502020204030204"/>
              </a:rPr>
              <a:t>	Can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connect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with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Online/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Public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for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collaboration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with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60875" y="4315155"/>
            <a:ext cx="14363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team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members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spc="-4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Tableau</a:t>
            </a:r>
            <a:r>
              <a:rPr spc="-19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Products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382639" y="1333626"/>
            <a:ext cx="22078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5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Tableau</a:t>
            </a:r>
            <a:r>
              <a:rPr sz="3200" b="1" spc="-125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2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Prep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5175" y="1805939"/>
            <a:ext cx="2844165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654050">
              <a:lnSpc>
                <a:spcPct val="100000"/>
              </a:lnSpc>
              <a:spcBef>
                <a:spcPts val="245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Desktop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5175" y="4962144"/>
            <a:ext cx="2844165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755650">
              <a:lnSpc>
                <a:spcPct val="100000"/>
              </a:lnSpc>
              <a:spcBef>
                <a:spcPts val="245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Public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5175" y="4172711"/>
            <a:ext cx="2844165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730250">
              <a:lnSpc>
                <a:spcPct val="100000"/>
              </a:lnSpc>
              <a:spcBef>
                <a:spcPts val="250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Online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5175" y="3384803"/>
            <a:ext cx="2844165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240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Server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5175" y="2595372"/>
            <a:ext cx="2844165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245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Prep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17975" y="2669285"/>
            <a:ext cx="3333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-25" dirty="0">
                <a:latin typeface="Calibri" panose="020F0502020204030204"/>
                <a:cs typeface="Calibri" panose="020F0502020204030204"/>
              </a:rPr>
              <a:t>1.</a:t>
            </a:r>
            <a:r>
              <a:rPr sz="1800" dirty="0">
                <a:latin typeface="Calibri" panose="020F0502020204030204"/>
                <a:cs typeface="Calibri" panose="020F0502020204030204"/>
              </a:rPr>
              <a:t>	Used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for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preprocessing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data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17975" y="3218179"/>
            <a:ext cx="681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-25" dirty="0">
                <a:latin typeface="Calibri" panose="020F0502020204030204"/>
                <a:cs typeface="Calibri" panose="020F0502020204030204"/>
              </a:rPr>
              <a:t>2.</a:t>
            </a:r>
            <a:r>
              <a:rPr sz="1800" dirty="0">
                <a:latin typeface="Calibri" panose="020F0502020204030204"/>
                <a:cs typeface="Calibri" panose="020F0502020204030204"/>
              </a:rPr>
              <a:t>	Does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data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cleaning/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validation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and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integration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using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visual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interface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17975" y="3766820"/>
            <a:ext cx="649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-25" dirty="0">
                <a:latin typeface="Calibri" panose="020F0502020204030204"/>
                <a:cs typeface="Calibri" panose="020F0502020204030204"/>
              </a:rPr>
              <a:t>3.</a:t>
            </a:r>
            <a:r>
              <a:rPr sz="1800" dirty="0">
                <a:latin typeface="Calibri" panose="020F0502020204030204"/>
                <a:cs typeface="Calibri" panose="020F0502020204030204"/>
              </a:rPr>
              <a:t>	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desktop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creator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license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grants</a:t>
            </a:r>
            <a:r>
              <a:rPr sz="18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access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to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Prep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also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spc="-4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Tableau</a:t>
            </a:r>
            <a:r>
              <a:rPr spc="-19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Products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106926" y="1333626"/>
            <a:ext cx="6344285" cy="989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61085">
              <a:lnSpc>
                <a:spcPct val="100000"/>
              </a:lnSpc>
              <a:spcBef>
                <a:spcPts val="105"/>
              </a:spcBef>
            </a:pPr>
            <a:r>
              <a:rPr sz="3200" b="1" spc="-25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Tableau</a:t>
            </a:r>
            <a:r>
              <a:rPr sz="3200" b="1" spc="-1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Server/</a:t>
            </a:r>
            <a:r>
              <a:rPr sz="3200" b="1" spc="-8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2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Tableau</a:t>
            </a:r>
            <a:r>
              <a:rPr sz="3200" b="1" spc="-1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Online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spcBef>
                <a:spcPts val="1580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Used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for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connecting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and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collaborating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with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team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members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5175" y="1805939"/>
            <a:ext cx="2844165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654050">
              <a:lnSpc>
                <a:spcPct val="100000"/>
              </a:lnSpc>
              <a:spcBef>
                <a:spcPts val="245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Desktop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5175" y="4962144"/>
            <a:ext cx="2844165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755650">
              <a:lnSpc>
                <a:spcPct val="100000"/>
              </a:lnSpc>
              <a:spcBef>
                <a:spcPts val="245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Public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5175" y="4172711"/>
            <a:ext cx="2844165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730250">
              <a:lnSpc>
                <a:spcPct val="100000"/>
              </a:lnSpc>
              <a:spcBef>
                <a:spcPts val="250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Online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5175" y="3384803"/>
            <a:ext cx="2844165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240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Server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5175" y="2595372"/>
            <a:ext cx="2844165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245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Prep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668011" y="2742122"/>
            <a:ext cx="3491229" cy="2879725"/>
            <a:chOff x="4668011" y="2742122"/>
            <a:chExt cx="3491229" cy="2879725"/>
          </a:xfrm>
        </p:grpSpPr>
        <p:pic>
          <p:nvPicPr>
            <p:cNvPr id="11" name="object 11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825063" y="4700058"/>
              <a:ext cx="683605" cy="8837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38295" y="4686418"/>
              <a:ext cx="820867" cy="93536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58109" y="2742122"/>
              <a:ext cx="1112404" cy="105259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668012" y="3834891"/>
              <a:ext cx="3096895" cy="836930"/>
            </a:xfrm>
            <a:custGeom>
              <a:avLst/>
              <a:gdLst/>
              <a:ahLst/>
              <a:cxnLst/>
              <a:rect l="l" t="t" r="r" b="b"/>
              <a:pathLst>
                <a:path w="3096895" h="836929">
                  <a:moveTo>
                    <a:pt x="3096895" y="809625"/>
                  </a:moveTo>
                  <a:lnTo>
                    <a:pt x="3079966" y="787654"/>
                  </a:lnTo>
                  <a:lnTo>
                    <a:pt x="3044952" y="742188"/>
                  </a:lnTo>
                  <a:lnTo>
                    <a:pt x="3031096" y="770686"/>
                  </a:lnTo>
                  <a:lnTo>
                    <a:pt x="1499362" y="28536"/>
                  </a:lnTo>
                  <a:lnTo>
                    <a:pt x="1502041" y="22987"/>
                  </a:lnTo>
                  <a:lnTo>
                    <a:pt x="1513205" y="0"/>
                  </a:lnTo>
                  <a:lnTo>
                    <a:pt x="1428242" y="1016"/>
                  </a:lnTo>
                  <a:lnTo>
                    <a:pt x="1427988" y="1016"/>
                  </a:lnTo>
                  <a:lnTo>
                    <a:pt x="1343025" y="3683"/>
                  </a:lnTo>
                  <a:lnTo>
                    <a:pt x="1358176" y="31673"/>
                  </a:lnTo>
                  <a:lnTo>
                    <a:pt x="63944" y="730592"/>
                  </a:lnTo>
                  <a:lnTo>
                    <a:pt x="48895" y="702691"/>
                  </a:lnTo>
                  <a:lnTo>
                    <a:pt x="0" y="772414"/>
                  </a:lnTo>
                  <a:lnTo>
                    <a:pt x="85090" y="769747"/>
                  </a:lnTo>
                  <a:lnTo>
                    <a:pt x="73228" y="747776"/>
                  </a:lnTo>
                  <a:lnTo>
                    <a:pt x="70002" y="741807"/>
                  </a:lnTo>
                  <a:lnTo>
                    <a:pt x="1364234" y="42862"/>
                  </a:lnTo>
                  <a:lnTo>
                    <a:pt x="1379347" y="70739"/>
                  </a:lnTo>
                  <a:lnTo>
                    <a:pt x="1410957" y="25654"/>
                  </a:lnTo>
                  <a:lnTo>
                    <a:pt x="1427645" y="1854"/>
                  </a:lnTo>
                  <a:lnTo>
                    <a:pt x="1396492" y="80137"/>
                  </a:lnTo>
                  <a:lnTo>
                    <a:pt x="1428051" y="77508"/>
                  </a:lnTo>
                  <a:lnTo>
                    <a:pt x="1486001" y="760133"/>
                  </a:lnTo>
                  <a:lnTo>
                    <a:pt x="1486090" y="761212"/>
                  </a:lnTo>
                  <a:lnTo>
                    <a:pt x="1454404" y="763905"/>
                  </a:lnTo>
                  <a:lnTo>
                    <a:pt x="1498854" y="836549"/>
                  </a:lnTo>
                  <a:lnTo>
                    <a:pt x="1523822" y="773811"/>
                  </a:lnTo>
                  <a:lnTo>
                    <a:pt x="1530350" y="757428"/>
                  </a:lnTo>
                  <a:lnTo>
                    <a:pt x="1498663" y="760133"/>
                  </a:lnTo>
                  <a:lnTo>
                    <a:pt x="1440827" y="77508"/>
                  </a:lnTo>
                  <a:lnTo>
                    <a:pt x="1440738" y="76441"/>
                  </a:lnTo>
                  <a:lnTo>
                    <a:pt x="1472438" y="73787"/>
                  </a:lnTo>
                  <a:lnTo>
                    <a:pt x="1466303" y="63754"/>
                  </a:lnTo>
                  <a:lnTo>
                    <a:pt x="1428102" y="1219"/>
                  </a:lnTo>
                  <a:lnTo>
                    <a:pt x="1479931" y="68580"/>
                  </a:lnTo>
                  <a:lnTo>
                    <a:pt x="1493799" y="39979"/>
                  </a:lnTo>
                  <a:lnTo>
                    <a:pt x="3025533" y="782129"/>
                  </a:lnTo>
                  <a:lnTo>
                    <a:pt x="3011678" y="810641"/>
                  </a:lnTo>
                  <a:lnTo>
                    <a:pt x="3096895" y="809625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17617" y="4702572"/>
            <a:ext cx="709950" cy="876533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931152" y="2584704"/>
            <a:ext cx="2844165" cy="64643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117475" marR="109855" indent="298450">
              <a:lnSpc>
                <a:spcPct val="100000"/>
              </a:lnSpc>
              <a:spcBef>
                <a:spcPts val="240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server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will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be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installed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on</a:t>
            </a:r>
            <a:r>
              <a:rPr sz="18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company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server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25256" y="4805171"/>
            <a:ext cx="2844165" cy="64643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114935" marR="107315" indent="205740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Individuals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will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be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using Tableau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Desktop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on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their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PC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23988" y="3720084"/>
            <a:ext cx="3237230" cy="64643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383540" marR="229235" indent="-146685">
              <a:lnSpc>
                <a:spcPct val="100000"/>
              </a:lnSpc>
              <a:spcBef>
                <a:spcPts val="240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Desktop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will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talk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with Tableau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server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via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Intranet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spc="-4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Tableau</a:t>
            </a:r>
            <a:r>
              <a:rPr spc="-19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Products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106926" y="1333626"/>
            <a:ext cx="6344285" cy="989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61085">
              <a:lnSpc>
                <a:spcPct val="100000"/>
              </a:lnSpc>
              <a:spcBef>
                <a:spcPts val="105"/>
              </a:spcBef>
            </a:pPr>
            <a:r>
              <a:rPr sz="3200" b="1" spc="-25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Tableau</a:t>
            </a:r>
            <a:r>
              <a:rPr sz="3200" b="1" spc="-1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Server/</a:t>
            </a:r>
            <a:r>
              <a:rPr sz="3200" b="1" spc="-8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2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Tableau</a:t>
            </a:r>
            <a:r>
              <a:rPr sz="3200" b="1" spc="-1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Online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spcBef>
                <a:spcPts val="1580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Used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for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connecting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and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collaborating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with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team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members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5175" y="1805939"/>
            <a:ext cx="2844165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654050">
              <a:lnSpc>
                <a:spcPct val="100000"/>
              </a:lnSpc>
              <a:spcBef>
                <a:spcPts val="245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Desktop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5175" y="4962144"/>
            <a:ext cx="2844165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755650">
              <a:lnSpc>
                <a:spcPct val="100000"/>
              </a:lnSpc>
              <a:spcBef>
                <a:spcPts val="245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Public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5175" y="4172711"/>
            <a:ext cx="2844165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730250">
              <a:lnSpc>
                <a:spcPct val="100000"/>
              </a:lnSpc>
              <a:spcBef>
                <a:spcPts val="250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Online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5175" y="3384803"/>
            <a:ext cx="2844165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240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Server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5175" y="2595372"/>
            <a:ext cx="2844165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245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Prep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834128" y="4402073"/>
            <a:ext cx="6126480" cy="1701800"/>
            <a:chOff x="4834128" y="4402073"/>
            <a:chExt cx="6126480" cy="1701800"/>
          </a:xfrm>
        </p:grpSpPr>
        <p:pic>
          <p:nvPicPr>
            <p:cNvPr id="11" name="object 11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367351" y="5218261"/>
              <a:ext cx="683605" cy="88515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39407" y="5093326"/>
              <a:ext cx="820867" cy="93536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834128" y="4402073"/>
              <a:ext cx="5732145" cy="789940"/>
            </a:xfrm>
            <a:custGeom>
              <a:avLst/>
              <a:gdLst/>
              <a:ahLst/>
              <a:cxnLst/>
              <a:rect l="l" t="t" r="r" b="b"/>
              <a:pathLst>
                <a:path w="5732145" h="789939">
                  <a:moveTo>
                    <a:pt x="2442972" y="17526"/>
                  </a:moveTo>
                  <a:lnTo>
                    <a:pt x="2359533" y="127"/>
                  </a:lnTo>
                  <a:lnTo>
                    <a:pt x="2367623" y="30822"/>
                  </a:lnTo>
                  <a:lnTo>
                    <a:pt x="72123" y="636206"/>
                  </a:lnTo>
                  <a:lnTo>
                    <a:pt x="64008" y="605409"/>
                  </a:lnTo>
                  <a:lnTo>
                    <a:pt x="0" y="661670"/>
                  </a:lnTo>
                  <a:lnTo>
                    <a:pt x="83439" y="679069"/>
                  </a:lnTo>
                  <a:lnTo>
                    <a:pt x="76200" y="651637"/>
                  </a:lnTo>
                  <a:lnTo>
                    <a:pt x="75336" y="648385"/>
                  </a:lnTo>
                  <a:lnTo>
                    <a:pt x="2370861" y="43116"/>
                  </a:lnTo>
                  <a:lnTo>
                    <a:pt x="2378964" y="73787"/>
                  </a:lnTo>
                  <a:lnTo>
                    <a:pt x="2431554" y="27559"/>
                  </a:lnTo>
                  <a:lnTo>
                    <a:pt x="2442972" y="17526"/>
                  </a:lnTo>
                  <a:close/>
                </a:path>
                <a:path w="5732145" h="789939">
                  <a:moveTo>
                    <a:pt x="2918206" y="537845"/>
                  </a:moveTo>
                  <a:lnTo>
                    <a:pt x="2911894" y="524637"/>
                  </a:lnTo>
                  <a:lnTo>
                    <a:pt x="2911767" y="524383"/>
                  </a:lnTo>
                  <a:lnTo>
                    <a:pt x="2881503" y="461010"/>
                  </a:lnTo>
                  <a:lnTo>
                    <a:pt x="2842006" y="536575"/>
                  </a:lnTo>
                  <a:lnTo>
                    <a:pt x="2873781" y="537108"/>
                  </a:lnTo>
                  <a:lnTo>
                    <a:pt x="2873997" y="524637"/>
                  </a:lnTo>
                  <a:lnTo>
                    <a:pt x="2873794" y="536575"/>
                  </a:lnTo>
                  <a:lnTo>
                    <a:pt x="2873781" y="537108"/>
                  </a:lnTo>
                  <a:lnTo>
                    <a:pt x="2870797" y="712851"/>
                  </a:lnTo>
                  <a:lnTo>
                    <a:pt x="2870797" y="713435"/>
                  </a:lnTo>
                  <a:lnTo>
                    <a:pt x="2838958" y="712851"/>
                  </a:lnTo>
                  <a:lnTo>
                    <a:pt x="2875788" y="789686"/>
                  </a:lnTo>
                  <a:lnTo>
                    <a:pt x="2908858" y="726313"/>
                  </a:lnTo>
                  <a:lnTo>
                    <a:pt x="2915158" y="714248"/>
                  </a:lnTo>
                  <a:lnTo>
                    <a:pt x="2883484" y="713676"/>
                  </a:lnTo>
                  <a:lnTo>
                    <a:pt x="2886481" y="537845"/>
                  </a:lnTo>
                  <a:lnTo>
                    <a:pt x="2886494" y="537324"/>
                  </a:lnTo>
                  <a:lnTo>
                    <a:pt x="2918206" y="537845"/>
                  </a:lnTo>
                  <a:close/>
                </a:path>
                <a:path w="5732145" h="789939">
                  <a:moveTo>
                    <a:pt x="5731891" y="650113"/>
                  </a:moveTo>
                  <a:lnTo>
                    <a:pt x="5720588" y="640207"/>
                  </a:lnTo>
                  <a:lnTo>
                    <a:pt x="5667883" y="593979"/>
                  </a:lnTo>
                  <a:lnTo>
                    <a:pt x="5659831" y="624687"/>
                  </a:lnTo>
                  <a:lnTo>
                    <a:pt x="3394545" y="30657"/>
                  </a:lnTo>
                  <a:lnTo>
                    <a:pt x="3395383" y="27432"/>
                  </a:lnTo>
                  <a:lnTo>
                    <a:pt x="3402584" y="0"/>
                  </a:lnTo>
                  <a:lnTo>
                    <a:pt x="3319272" y="17526"/>
                  </a:lnTo>
                  <a:lnTo>
                    <a:pt x="3383280" y="73660"/>
                  </a:lnTo>
                  <a:lnTo>
                    <a:pt x="3391319" y="42964"/>
                  </a:lnTo>
                  <a:lnTo>
                    <a:pt x="5656605" y="636993"/>
                  </a:lnTo>
                  <a:lnTo>
                    <a:pt x="5648579" y="667639"/>
                  </a:lnTo>
                  <a:lnTo>
                    <a:pt x="5731891" y="650113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83732" y="5158248"/>
            <a:ext cx="709950" cy="87653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982456" y="2471927"/>
            <a:ext cx="2845435" cy="64643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467995" marR="95885" indent="-364490">
              <a:lnSpc>
                <a:spcPct val="100000"/>
              </a:lnSpc>
              <a:spcBef>
                <a:spcPts val="240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online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is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hosted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and </a:t>
            </a:r>
            <a:r>
              <a:rPr sz="1800" dirty="0">
                <a:latin typeface="Calibri" panose="020F0502020204030204"/>
                <a:cs typeface="Calibri" panose="020F0502020204030204"/>
              </a:rPr>
              <a:t>managed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by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Tableau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44483" y="3779520"/>
            <a:ext cx="3237230" cy="6477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356870" marR="228600" indent="-119380">
              <a:lnSpc>
                <a:spcPct val="100000"/>
              </a:lnSpc>
              <a:spcBef>
                <a:spcPts val="250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Desktop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will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talk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with Tableau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Online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via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Internet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304627" y="3584447"/>
            <a:ext cx="821690" cy="1242060"/>
            <a:chOff x="7304627" y="3584447"/>
            <a:chExt cx="821690" cy="1242060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04627" y="3998975"/>
              <a:ext cx="821244" cy="82753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679182" y="3584447"/>
              <a:ext cx="85090" cy="393065"/>
            </a:xfrm>
            <a:custGeom>
              <a:avLst/>
              <a:gdLst/>
              <a:ahLst/>
              <a:cxnLst/>
              <a:rect l="l" t="t" r="r" b="b"/>
              <a:pathLst>
                <a:path w="85090" h="393064">
                  <a:moveTo>
                    <a:pt x="0" y="315340"/>
                  </a:moveTo>
                  <a:lnTo>
                    <a:pt x="35306" y="392810"/>
                  </a:lnTo>
                  <a:lnTo>
                    <a:pt x="69763" y="329691"/>
                  </a:lnTo>
                  <a:lnTo>
                    <a:pt x="43942" y="329691"/>
                  </a:lnTo>
                  <a:lnTo>
                    <a:pt x="31242" y="329183"/>
                  </a:lnTo>
                  <a:lnTo>
                    <a:pt x="31643" y="318134"/>
                  </a:lnTo>
                  <a:lnTo>
                    <a:pt x="31702" y="316505"/>
                  </a:lnTo>
                  <a:lnTo>
                    <a:pt x="0" y="315340"/>
                  </a:lnTo>
                  <a:close/>
                </a:path>
                <a:path w="85090" h="393064">
                  <a:moveTo>
                    <a:pt x="31702" y="316505"/>
                  </a:moveTo>
                  <a:lnTo>
                    <a:pt x="31242" y="329183"/>
                  </a:lnTo>
                  <a:lnTo>
                    <a:pt x="43942" y="329691"/>
                  </a:lnTo>
                  <a:lnTo>
                    <a:pt x="44355" y="318134"/>
                  </a:lnTo>
                  <a:lnTo>
                    <a:pt x="44397" y="316971"/>
                  </a:lnTo>
                  <a:lnTo>
                    <a:pt x="31702" y="316505"/>
                  </a:lnTo>
                  <a:close/>
                </a:path>
                <a:path w="85090" h="393064">
                  <a:moveTo>
                    <a:pt x="44397" y="316971"/>
                  </a:moveTo>
                  <a:lnTo>
                    <a:pt x="43960" y="329183"/>
                  </a:lnTo>
                  <a:lnTo>
                    <a:pt x="43942" y="329691"/>
                  </a:lnTo>
                  <a:lnTo>
                    <a:pt x="69763" y="329691"/>
                  </a:lnTo>
                  <a:lnTo>
                    <a:pt x="76073" y="318134"/>
                  </a:lnTo>
                  <a:lnTo>
                    <a:pt x="44397" y="316971"/>
                  </a:lnTo>
                  <a:close/>
                </a:path>
                <a:path w="85090" h="393064">
                  <a:moveTo>
                    <a:pt x="40434" y="75915"/>
                  </a:moveTo>
                  <a:lnTo>
                    <a:pt x="31744" y="315340"/>
                  </a:lnTo>
                  <a:lnTo>
                    <a:pt x="31702" y="316505"/>
                  </a:lnTo>
                  <a:lnTo>
                    <a:pt x="44397" y="316971"/>
                  </a:lnTo>
                  <a:lnTo>
                    <a:pt x="52971" y="77469"/>
                  </a:lnTo>
                  <a:lnTo>
                    <a:pt x="53011" y="76356"/>
                  </a:lnTo>
                  <a:lnTo>
                    <a:pt x="40434" y="75915"/>
                  </a:lnTo>
                  <a:close/>
                </a:path>
                <a:path w="85090" h="393064">
                  <a:moveTo>
                    <a:pt x="78353" y="63245"/>
                  </a:moveTo>
                  <a:lnTo>
                    <a:pt x="40894" y="63245"/>
                  </a:lnTo>
                  <a:lnTo>
                    <a:pt x="53467" y="63626"/>
                  </a:lnTo>
                  <a:lnTo>
                    <a:pt x="53066" y="74802"/>
                  </a:lnTo>
                  <a:lnTo>
                    <a:pt x="53011" y="76356"/>
                  </a:lnTo>
                  <a:lnTo>
                    <a:pt x="84836" y="77469"/>
                  </a:lnTo>
                  <a:lnTo>
                    <a:pt x="78353" y="63245"/>
                  </a:lnTo>
                  <a:close/>
                </a:path>
                <a:path w="85090" h="393064">
                  <a:moveTo>
                    <a:pt x="40894" y="63245"/>
                  </a:moveTo>
                  <a:lnTo>
                    <a:pt x="40474" y="74802"/>
                  </a:lnTo>
                  <a:lnTo>
                    <a:pt x="40434" y="75915"/>
                  </a:lnTo>
                  <a:lnTo>
                    <a:pt x="53011" y="76356"/>
                  </a:lnTo>
                  <a:lnTo>
                    <a:pt x="53467" y="63626"/>
                  </a:lnTo>
                  <a:lnTo>
                    <a:pt x="40894" y="63245"/>
                  </a:lnTo>
                  <a:close/>
                </a:path>
                <a:path w="85090" h="393064">
                  <a:moveTo>
                    <a:pt x="49529" y="0"/>
                  </a:moveTo>
                  <a:lnTo>
                    <a:pt x="8636" y="74802"/>
                  </a:lnTo>
                  <a:lnTo>
                    <a:pt x="40434" y="75915"/>
                  </a:lnTo>
                  <a:lnTo>
                    <a:pt x="40880" y="63626"/>
                  </a:lnTo>
                  <a:lnTo>
                    <a:pt x="40894" y="63245"/>
                  </a:lnTo>
                  <a:lnTo>
                    <a:pt x="78353" y="63245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16031" y="2488882"/>
            <a:ext cx="1266902" cy="9721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spc="-4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Tableau</a:t>
            </a:r>
            <a:r>
              <a:rPr spc="-19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Products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259195" y="1333626"/>
            <a:ext cx="24498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5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Tableau</a:t>
            </a:r>
            <a:r>
              <a:rPr sz="3200" b="1" spc="-125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Public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5175" y="1805939"/>
            <a:ext cx="2844165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654050">
              <a:lnSpc>
                <a:spcPct val="100000"/>
              </a:lnSpc>
              <a:spcBef>
                <a:spcPts val="245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Desktop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5175" y="4962144"/>
            <a:ext cx="2844165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755650">
              <a:lnSpc>
                <a:spcPct val="100000"/>
              </a:lnSpc>
              <a:spcBef>
                <a:spcPts val="245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Public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5175" y="4172711"/>
            <a:ext cx="2844165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730250">
              <a:lnSpc>
                <a:spcPct val="100000"/>
              </a:lnSpc>
              <a:spcBef>
                <a:spcPts val="250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Online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5175" y="3384803"/>
            <a:ext cx="2844165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240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Server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5175" y="2595372"/>
            <a:ext cx="2844165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245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Prep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17975" y="2669285"/>
            <a:ext cx="3876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-25" dirty="0">
                <a:latin typeface="Calibri" panose="020F0502020204030204"/>
                <a:cs typeface="Calibri" panose="020F0502020204030204"/>
              </a:rPr>
              <a:t>1.</a:t>
            </a:r>
            <a:r>
              <a:rPr sz="1800" dirty="0">
                <a:latin typeface="Calibri" panose="020F0502020204030204"/>
                <a:cs typeface="Calibri" panose="020F0502020204030204"/>
              </a:rPr>
              <a:t>	Hosted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by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Tableau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–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free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for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all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to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use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17975" y="3218179"/>
            <a:ext cx="4158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-25" dirty="0">
                <a:latin typeface="Calibri" panose="020F0502020204030204"/>
                <a:cs typeface="Calibri" panose="020F0502020204030204"/>
              </a:rPr>
              <a:t>2.</a:t>
            </a:r>
            <a:r>
              <a:rPr sz="1800" dirty="0">
                <a:latin typeface="Calibri" panose="020F0502020204030204"/>
                <a:cs typeface="Calibri" panose="020F0502020204030204"/>
              </a:rPr>
              <a:t>	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Your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work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will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be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open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for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anyone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to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see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17975" y="3766820"/>
            <a:ext cx="2480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-25" dirty="0">
                <a:latin typeface="Calibri" panose="020F0502020204030204"/>
                <a:cs typeface="Calibri" panose="020F0502020204030204"/>
              </a:rPr>
              <a:t>3.</a:t>
            </a:r>
            <a:r>
              <a:rPr sz="1800" dirty="0">
                <a:latin typeface="Calibri" panose="020F0502020204030204"/>
                <a:cs typeface="Calibri" panose="020F0502020204030204"/>
              </a:rPr>
              <a:t>	Web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based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application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425195" y="1292352"/>
            <a:ext cx="11503660" cy="3740150"/>
            <a:chOff x="425195" y="1292352"/>
            <a:chExt cx="11503660" cy="3740150"/>
          </a:xfrm>
        </p:grpSpPr>
        <p:pic>
          <p:nvPicPr>
            <p:cNvPr id="7" name="object 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29857" y="1468087"/>
              <a:ext cx="11086586" cy="241919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29767" y="1296924"/>
              <a:ext cx="11494135" cy="3377565"/>
            </a:xfrm>
            <a:custGeom>
              <a:avLst/>
              <a:gdLst/>
              <a:ahLst/>
              <a:cxnLst/>
              <a:rect l="l" t="t" r="r" b="b"/>
              <a:pathLst>
                <a:path w="11494135" h="3377565">
                  <a:moveTo>
                    <a:pt x="0" y="3377183"/>
                  </a:moveTo>
                  <a:lnTo>
                    <a:pt x="11494008" y="3377183"/>
                  </a:lnTo>
                  <a:lnTo>
                    <a:pt x="11494008" y="0"/>
                  </a:lnTo>
                  <a:lnTo>
                    <a:pt x="0" y="0"/>
                  </a:lnTo>
                  <a:lnTo>
                    <a:pt x="0" y="3377183"/>
                  </a:lnTo>
                  <a:close/>
                </a:path>
              </a:pathLst>
            </a:custGeom>
            <a:ln w="9144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73023" y="2246376"/>
              <a:ext cx="11277600" cy="2786380"/>
            </a:xfrm>
            <a:custGeom>
              <a:avLst/>
              <a:gdLst/>
              <a:ahLst/>
              <a:cxnLst/>
              <a:rect l="l" t="t" r="r" b="b"/>
              <a:pathLst>
                <a:path w="11277600" h="2786379">
                  <a:moveTo>
                    <a:pt x="11277600" y="0"/>
                  </a:moveTo>
                  <a:lnTo>
                    <a:pt x="0" y="0"/>
                  </a:lnTo>
                  <a:lnTo>
                    <a:pt x="0" y="2785872"/>
                  </a:lnTo>
                  <a:lnTo>
                    <a:pt x="11277600" y="2785872"/>
                  </a:lnTo>
                  <a:lnTo>
                    <a:pt x="11277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544305" y="1386078"/>
              <a:ext cx="1847214" cy="586740"/>
            </a:xfrm>
            <a:custGeom>
              <a:avLst/>
              <a:gdLst/>
              <a:ahLst/>
              <a:cxnLst/>
              <a:rect l="l" t="t" r="r" b="b"/>
              <a:pathLst>
                <a:path w="1847215" h="586739">
                  <a:moveTo>
                    <a:pt x="0" y="586739"/>
                  </a:moveTo>
                  <a:lnTo>
                    <a:pt x="1847088" y="586739"/>
                  </a:lnTo>
                  <a:lnTo>
                    <a:pt x="1847088" y="0"/>
                  </a:lnTo>
                  <a:lnTo>
                    <a:pt x="0" y="0"/>
                  </a:lnTo>
                  <a:lnTo>
                    <a:pt x="0" y="586739"/>
                  </a:lnTo>
                  <a:close/>
                </a:path>
              </a:pathLst>
            </a:custGeom>
            <a:ln w="28956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0971" y="2484119"/>
              <a:ext cx="1040891" cy="104089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23716" y="2484119"/>
              <a:ext cx="1042415" cy="104089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819143" y="2479548"/>
              <a:ext cx="1051560" cy="1050290"/>
            </a:xfrm>
            <a:custGeom>
              <a:avLst/>
              <a:gdLst/>
              <a:ahLst/>
              <a:cxnLst/>
              <a:rect l="l" t="t" r="r" b="b"/>
              <a:pathLst>
                <a:path w="1051560" h="1050289">
                  <a:moveTo>
                    <a:pt x="0" y="1050036"/>
                  </a:moveTo>
                  <a:lnTo>
                    <a:pt x="1051560" y="1050036"/>
                  </a:lnTo>
                  <a:lnTo>
                    <a:pt x="1051560" y="0"/>
                  </a:lnTo>
                  <a:lnTo>
                    <a:pt x="0" y="0"/>
                  </a:lnTo>
                  <a:lnTo>
                    <a:pt x="0" y="1050036"/>
                  </a:lnTo>
                  <a:close/>
                </a:path>
              </a:pathLst>
            </a:custGeom>
            <a:ln w="9144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721863" y="2967228"/>
              <a:ext cx="1102995" cy="76200"/>
            </a:xfrm>
            <a:custGeom>
              <a:avLst/>
              <a:gdLst/>
              <a:ahLst/>
              <a:cxnLst/>
              <a:rect l="l" t="t" r="r" b="b"/>
              <a:pathLst>
                <a:path w="1102995" h="76200">
                  <a:moveTo>
                    <a:pt x="1026287" y="0"/>
                  </a:moveTo>
                  <a:lnTo>
                    <a:pt x="1026287" y="76200"/>
                  </a:lnTo>
                  <a:lnTo>
                    <a:pt x="1089787" y="44450"/>
                  </a:lnTo>
                  <a:lnTo>
                    <a:pt x="1038987" y="44450"/>
                  </a:lnTo>
                  <a:lnTo>
                    <a:pt x="1038987" y="31750"/>
                  </a:lnTo>
                  <a:lnTo>
                    <a:pt x="1089787" y="31750"/>
                  </a:lnTo>
                  <a:lnTo>
                    <a:pt x="1026287" y="0"/>
                  </a:lnTo>
                  <a:close/>
                </a:path>
                <a:path w="1102995" h="76200">
                  <a:moveTo>
                    <a:pt x="1026287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1026287" y="44450"/>
                  </a:lnTo>
                  <a:lnTo>
                    <a:pt x="1026287" y="31750"/>
                  </a:lnTo>
                  <a:close/>
                </a:path>
                <a:path w="1102995" h="76200">
                  <a:moveTo>
                    <a:pt x="1089787" y="31750"/>
                  </a:moveTo>
                  <a:lnTo>
                    <a:pt x="1038987" y="31750"/>
                  </a:lnTo>
                  <a:lnTo>
                    <a:pt x="1038987" y="44450"/>
                  </a:lnTo>
                  <a:lnTo>
                    <a:pt x="1089787" y="44450"/>
                  </a:lnTo>
                  <a:lnTo>
                    <a:pt x="1102487" y="38100"/>
                  </a:lnTo>
                  <a:lnTo>
                    <a:pt x="1089787" y="3175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79692" y="2476500"/>
              <a:ext cx="1040892" cy="10408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12907" y="2474976"/>
              <a:ext cx="1040892" cy="104089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0308336" y="2470404"/>
              <a:ext cx="1050290" cy="1050290"/>
            </a:xfrm>
            <a:custGeom>
              <a:avLst/>
              <a:gdLst/>
              <a:ahLst/>
              <a:cxnLst/>
              <a:rect l="l" t="t" r="r" b="b"/>
              <a:pathLst>
                <a:path w="1050290" h="1050289">
                  <a:moveTo>
                    <a:pt x="0" y="1050036"/>
                  </a:moveTo>
                  <a:lnTo>
                    <a:pt x="1050035" y="1050036"/>
                  </a:lnTo>
                  <a:lnTo>
                    <a:pt x="1050035" y="0"/>
                  </a:lnTo>
                  <a:lnTo>
                    <a:pt x="0" y="0"/>
                  </a:lnTo>
                  <a:lnTo>
                    <a:pt x="0" y="1050036"/>
                  </a:lnTo>
                  <a:close/>
                </a:path>
              </a:pathLst>
            </a:custGeom>
            <a:ln w="9144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720584" y="2958211"/>
              <a:ext cx="776605" cy="76200"/>
            </a:xfrm>
            <a:custGeom>
              <a:avLst/>
              <a:gdLst/>
              <a:ahLst/>
              <a:cxnLst/>
              <a:rect l="l" t="t" r="r" b="b"/>
              <a:pathLst>
                <a:path w="776604" h="76200">
                  <a:moveTo>
                    <a:pt x="700277" y="0"/>
                  </a:moveTo>
                  <a:lnTo>
                    <a:pt x="700330" y="31763"/>
                  </a:lnTo>
                  <a:lnTo>
                    <a:pt x="700405" y="76200"/>
                  </a:lnTo>
                  <a:lnTo>
                    <a:pt x="763561" y="44463"/>
                  </a:lnTo>
                  <a:lnTo>
                    <a:pt x="712977" y="44463"/>
                  </a:lnTo>
                  <a:lnTo>
                    <a:pt x="712977" y="31763"/>
                  </a:lnTo>
                  <a:lnTo>
                    <a:pt x="764017" y="31763"/>
                  </a:lnTo>
                  <a:lnTo>
                    <a:pt x="700277" y="0"/>
                  </a:lnTo>
                  <a:close/>
                </a:path>
                <a:path w="776604" h="76200">
                  <a:moveTo>
                    <a:pt x="700330" y="31763"/>
                  </a:moveTo>
                  <a:lnTo>
                    <a:pt x="0" y="32512"/>
                  </a:lnTo>
                  <a:lnTo>
                    <a:pt x="0" y="45212"/>
                  </a:lnTo>
                  <a:lnTo>
                    <a:pt x="700352" y="44463"/>
                  </a:lnTo>
                  <a:lnTo>
                    <a:pt x="700330" y="31763"/>
                  </a:lnTo>
                  <a:close/>
                </a:path>
                <a:path w="776604" h="76200">
                  <a:moveTo>
                    <a:pt x="764017" y="31763"/>
                  </a:moveTo>
                  <a:lnTo>
                    <a:pt x="712977" y="31763"/>
                  </a:lnTo>
                  <a:lnTo>
                    <a:pt x="712977" y="44463"/>
                  </a:lnTo>
                  <a:lnTo>
                    <a:pt x="763561" y="44463"/>
                  </a:lnTo>
                  <a:lnTo>
                    <a:pt x="776477" y="37973"/>
                  </a:lnTo>
                  <a:lnTo>
                    <a:pt x="764017" y="31763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97824" y="2476500"/>
              <a:ext cx="1039368" cy="103936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537191" y="2958084"/>
              <a:ext cx="776605" cy="76200"/>
            </a:xfrm>
            <a:custGeom>
              <a:avLst/>
              <a:gdLst/>
              <a:ahLst/>
              <a:cxnLst/>
              <a:rect l="l" t="t" r="r" b="b"/>
              <a:pathLst>
                <a:path w="776604" h="76200">
                  <a:moveTo>
                    <a:pt x="700277" y="0"/>
                  </a:moveTo>
                  <a:lnTo>
                    <a:pt x="700277" y="76200"/>
                  </a:lnTo>
                  <a:lnTo>
                    <a:pt x="763777" y="44450"/>
                  </a:lnTo>
                  <a:lnTo>
                    <a:pt x="712977" y="44450"/>
                  </a:lnTo>
                  <a:lnTo>
                    <a:pt x="712977" y="31750"/>
                  </a:lnTo>
                  <a:lnTo>
                    <a:pt x="763777" y="31750"/>
                  </a:lnTo>
                  <a:lnTo>
                    <a:pt x="700277" y="0"/>
                  </a:lnTo>
                  <a:close/>
                </a:path>
                <a:path w="776604" h="76200">
                  <a:moveTo>
                    <a:pt x="700277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700277" y="44450"/>
                  </a:lnTo>
                  <a:lnTo>
                    <a:pt x="700277" y="31750"/>
                  </a:lnTo>
                  <a:close/>
                </a:path>
                <a:path w="776604" h="76200">
                  <a:moveTo>
                    <a:pt x="763777" y="31750"/>
                  </a:moveTo>
                  <a:lnTo>
                    <a:pt x="712977" y="31750"/>
                  </a:lnTo>
                  <a:lnTo>
                    <a:pt x="712977" y="44450"/>
                  </a:lnTo>
                  <a:lnTo>
                    <a:pt x="763777" y="44450"/>
                  </a:lnTo>
                  <a:lnTo>
                    <a:pt x="776477" y="38100"/>
                  </a:lnTo>
                  <a:lnTo>
                    <a:pt x="763777" y="3175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Live</a:t>
            </a:r>
            <a:r>
              <a:rPr spc="-6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vs</a:t>
            </a:r>
            <a:r>
              <a:rPr spc="-6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Extract</a:t>
            </a:r>
            <a:r>
              <a:rPr spc="-8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Connection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06372" y="4408170"/>
            <a:ext cx="386842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030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Live</a:t>
            </a:r>
            <a:r>
              <a:rPr sz="18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connection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86385" indent="-286385" algn="ctr">
              <a:lnSpc>
                <a:spcPct val="100000"/>
              </a:lnSpc>
              <a:buFont typeface="Arial MT"/>
              <a:buChar char="•"/>
              <a:tabLst>
                <a:tab pos="28638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Whenever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any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change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is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made,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data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is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R="561340" algn="ctr">
              <a:lnSpc>
                <a:spcPct val="100000"/>
              </a:lnSpc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fetched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from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data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source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06372" y="5231383"/>
            <a:ext cx="3879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Visualizations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are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updated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real-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time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99909" y="4408678"/>
            <a:ext cx="386842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8816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 panose="020F0502020204030204"/>
                <a:cs typeface="Calibri" panose="020F0502020204030204"/>
              </a:rPr>
              <a:t>Extract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Whenever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any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change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is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made,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data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is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fetched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from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snapshot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(Extract)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99909" y="5231638"/>
            <a:ext cx="39820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Extracts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need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to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be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are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updated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for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any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Calibri" panose="020F0502020204030204"/>
                <a:cs typeface="Calibri" panose="020F0502020204030204"/>
              </a:rPr>
              <a:t>update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data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46860" y="3628644"/>
            <a:ext cx="1309370" cy="36893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Data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Source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91128" y="3639311"/>
            <a:ext cx="1472565" cy="36893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5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Visualizations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098023" y="3625596"/>
            <a:ext cx="1472565" cy="36893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0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Visualizations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153400" y="3613403"/>
            <a:ext cx="1771014" cy="646430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Snapshot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data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" algn="ctr">
              <a:lnSpc>
                <a:spcPct val="100000"/>
              </a:lnSpc>
            </a:pPr>
            <a:r>
              <a:rPr sz="1800" b="1" spc="-10" dirty="0">
                <a:latin typeface="Calibri" panose="020F0502020204030204"/>
                <a:cs typeface="Calibri" panose="020F0502020204030204"/>
              </a:rPr>
              <a:t>Extract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551676" y="3637788"/>
            <a:ext cx="1308100" cy="370840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Data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Source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285745" y="2014473"/>
            <a:ext cx="1735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Real</a:t>
            </a:r>
            <a:r>
              <a:rPr sz="18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time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updates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804150" y="2014473"/>
            <a:ext cx="1892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Better</a:t>
            </a:r>
            <a:r>
              <a:rPr sz="1800" b="1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performance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Joining</a:t>
            </a:r>
            <a:r>
              <a:rPr spc="-1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data</a:t>
            </a:r>
            <a:r>
              <a:rPr spc="-10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from</a:t>
            </a:r>
            <a:r>
              <a:rPr spc="-12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multiple</a:t>
            </a:r>
            <a:r>
              <a:rPr spc="-10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tables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95122" y="2891408"/>
            <a:ext cx="2612390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3810" algn="ctr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Scenario</a:t>
            </a:r>
            <a:r>
              <a:rPr sz="3200" b="1" spc="-25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1: </a:t>
            </a:r>
            <a:r>
              <a:rPr sz="3200" b="1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Joining</a:t>
            </a:r>
            <a:r>
              <a:rPr sz="3200" b="1" spc="-65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25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two </a:t>
            </a:r>
            <a:r>
              <a:rPr sz="3200" b="1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different</a:t>
            </a:r>
            <a:r>
              <a:rPr sz="3200" b="1" spc="-185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tables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6555" y="1783079"/>
            <a:ext cx="1819910" cy="673735"/>
          </a:xfrm>
          <a:prstGeom prst="rect">
            <a:avLst/>
          </a:prstGeom>
          <a:solidFill>
            <a:srgbClr val="0E6EC5"/>
          </a:solidFill>
        </p:spPr>
        <p:txBody>
          <a:bodyPr vert="horz" wrap="square" lIns="0" tIns="184785" rIns="0" bIns="0" rtlCol="0">
            <a:spAutoFit/>
          </a:bodyPr>
          <a:lstStyle/>
          <a:p>
            <a:pPr marL="389890">
              <a:lnSpc>
                <a:spcPct val="100000"/>
              </a:lnSpc>
              <a:spcBef>
                <a:spcPts val="1455"/>
              </a:spcBef>
            </a:pPr>
            <a:r>
              <a:rPr sz="18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Sales</a:t>
            </a:r>
            <a:r>
              <a:rPr sz="1800" b="1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Table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86555" y="4116323"/>
            <a:ext cx="1819910" cy="675640"/>
          </a:xfrm>
          <a:prstGeom prst="rect">
            <a:avLst/>
          </a:prstGeom>
          <a:solidFill>
            <a:srgbClr val="0E6EC5"/>
          </a:solidFill>
        </p:spPr>
        <p:txBody>
          <a:bodyPr vert="horz" wrap="square" lIns="0" tIns="185420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1460"/>
              </a:spcBef>
            </a:pPr>
            <a:r>
              <a:rPr sz="18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Customer</a:t>
            </a:r>
            <a:r>
              <a:rPr sz="1800" b="1" spc="-9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Table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64879" y="2184653"/>
            <a:ext cx="1581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Sales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values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only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63810" y="4565650"/>
            <a:ext cx="1747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Region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values</a:t>
            </a:r>
            <a:r>
              <a:rPr sz="18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only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679697" y="2619248"/>
          <a:ext cx="8379459" cy="1102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4685"/>
                <a:gridCol w="1003300"/>
                <a:gridCol w="698500"/>
                <a:gridCol w="704214"/>
                <a:gridCol w="751205"/>
                <a:gridCol w="163830"/>
                <a:gridCol w="62229"/>
                <a:gridCol w="811529"/>
                <a:gridCol w="168275"/>
                <a:gridCol w="887095"/>
                <a:gridCol w="609600"/>
                <a:gridCol w="609600"/>
                <a:gridCol w="556895"/>
                <a:gridCol w="609600"/>
              </a:tblGrid>
              <a:tr h="182245"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Order</a:t>
                      </a:r>
                      <a:r>
                        <a:rPr sz="110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0" dirty="0">
                          <a:latin typeface="Calibri" panose="020F0502020204030204"/>
                          <a:cs typeface="Calibri" panose="020F0502020204030204"/>
                        </a:rPr>
                        <a:t>Line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Order</a:t>
                      </a:r>
                      <a:r>
                        <a:rPr sz="110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5" dirty="0">
                          <a:latin typeface="Calibri" panose="020F0502020204030204"/>
                          <a:cs typeface="Calibri" panose="020F0502020204030204"/>
                        </a:rPr>
                        <a:t>ID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Order</a:t>
                      </a:r>
                      <a:r>
                        <a:rPr sz="110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0" dirty="0">
                          <a:latin typeface="Calibri" panose="020F0502020204030204"/>
                          <a:cs typeface="Calibri" panose="020F0502020204030204"/>
                        </a:rPr>
                        <a:t>Date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Ship</a:t>
                      </a:r>
                      <a:r>
                        <a:rPr sz="110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0" dirty="0">
                          <a:latin typeface="Calibri" panose="020F0502020204030204"/>
                          <a:cs typeface="Calibri" panose="020F0502020204030204"/>
                        </a:rPr>
                        <a:t>Date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27635" marR="39370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Ship</a:t>
                      </a:r>
                      <a:r>
                        <a:rPr sz="110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0" dirty="0">
                          <a:latin typeface="Calibri" panose="020F0502020204030204"/>
                          <a:cs typeface="Calibri" panose="020F0502020204030204"/>
                        </a:rPr>
                        <a:t>Mode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ysDash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ysDash"/>
                    </a:lnT>
                    <a:lnB w="6350">
                      <a:solidFill>
                        <a:srgbClr val="085091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R="2857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Customer</a:t>
                      </a:r>
                      <a:r>
                        <a:rPr sz="1100" b="1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5" dirty="0">
                          <a:latin typeface="Calibri" panose="020F0502020204030204"/>
                          <a:cs typeface="Calibri" panose="020F0502020204030204"/>
                        </a:rPr>
                        <a:t>ID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ysDash"/>
                    </a:lnR>
                    <a:lnT w="12700">
                      <a:solidFill>
                        <a:srgbClr val="FF0000"/>
                      </a:solidFill>
                      <a:prstDash val="sysDash"/>
                    </a:lnT>
                    <a:lnB w="6350">
                      <a:solidFill>
                        <a:srgbClr val="085091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01930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Product</a:t>
                      </a:r>
                      <a:r>
                        <a:rPr sz="1100" b="1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5" dirty="0">
                          <a:latin typeface="Calibri" panose="020F0502020204030204"/>
                          <a:cs typeface="Calibri" panose="020F0502020204030204"/>
                        </a:rPr>
                        <a:t>ID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Quantity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Discount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Profit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635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CA-2016-152156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08-11-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2016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11-11-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2016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Second</a:t>
                      </a:r>
                      <a:r>
                        <a:rPr sz="11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Clas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85091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 marR="39370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85091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ysDash"/>
                    </a:lnR>
                    <a:lnT w="6350">
                      <a:solidFill>
                        <a:srgbClr val="085091"/>
                      </a:solidFill>
                      <a:prstDash val="solid"/>
                    </a:lnT>
                    <a:lnB w="6350">
                      <a:solidFill>
                        <a:srgbClr val="085091"/>
                      </a:solidFill>
                      <a:prstDash val="solid"/>
                    </a:lnB>
                    <a:solidFill>
                      <a:srgbClr val="92D050">
                        <a:alpha val="3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85091"/>
                      </a:solidFill>
                      <a:prstDash val="solid"/>
                    </a:lnT>
                    <a:lnB w="6350">
                      <a:solidFill>
                        <a:srgbClr val="085091"/>
                      </a:solidFill>
                      <a:prstDash val="solid"/>
                    </a:lnB>
                    <a:solidFill>
                      <a:srgbClr val="92D050">
                        <a:alpha val="3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26670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CG-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12520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ysDash"/>
                    </a:lnR>
                    <a:lnT w="6350">
                      <a:solidFill>
                        <a:srgbClr val="085091"/>
                      </a:solidFill>
                      <a:prstDash val="solid"/>
                    </a:lnT>
                    <a:lnB w="6350">
                      <a:solidFill>
                        <a:srgbClr val="085091"/>
                      </a:solidFill>
                      <a:prstDash val="solid"/>
                    </a:lnB>
                    <a:solidFill>
                      <a:srgbClr val="92D050">
                        <a:alpha val="3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FU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12700">
                      <a:solidFill>
                        <a:srgbClr val="085091"/>
                      </a:solidFill>
                      <a:prstDash val="solid"/>
                    </a:lnR>
                    <a:lnT w="6350">
                      <a:solidFill>
                        <a:srgbClr val="085091"/>
                      </a:solidFill>
                      <a:prstDash val="solid"/>
                    </a:lnT>
                    <a:lnB w="6350">
                      <a:solidFill>
                        <a:srgbClr val="085091"/>
                      </a:solidFill>
                      <a:prstDash val="solid"/>
                    </a:lnB>
                    <a:solidFill>
                      <a:srgbClr val="92D050">
                        <a:alpha val="3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R-BO-10001798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85091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261.96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41.9136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245">
                <a:tc>
                  <a:txBody>
                    <a:bodyPr/>
                    <a:lstStyle/>
                    <a:p>
                      <a:pPr marL="635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CA-2016-152156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08-11-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2016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11-11-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2016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75565" marR="39370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Second</a:t>
                      </a:r>
                      <a:r>
                        <a:rPr sz="11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Class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85091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670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CG-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12520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ysDash"/>
                    </a:lnR>
                    <a:lnT w="6350">
                      <a:solidFill>
                        <a:srgbClr val="085091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FUR-CH-10000454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731.94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219.582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245">
                <a:tc>
                  <a:txBody>
                    <a:bodyPr/>
                    <a:lstStyle/>
                    <a:p>
                      <a:pPr marL="635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CA-2016-138688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12-06-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2016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16-06-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2016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75565" marR="39370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Second</a:t>
                      </a:r>
                      <a:r>
                        <a:rPr sz="11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Class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670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DV-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13045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OFF-LA-10000240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14.62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6.8714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635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US-2015-108966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11-10-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2015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18-10-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2015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5400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Standard</a:t>
                      </a:r>
                      <a:r>
                        <a:rPr sz="11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Class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670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SO-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20335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FUR-TA-10000577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957.5775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0.45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-383.031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US-2015-108966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11-10-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2015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18-10-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2015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Standard</a:t>
                      </a:r>
                      <a:r>
                        <a:rPr sz="11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Class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R="2667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SO-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20335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ysDash"/>
                    </a:lnB>
                  </a:tcPr>
                </a:tc>
                <a:tc gridSpan="2">
                  <a:txBody>
                    <a:bodyPr/>
                    <a:lstStyle/>
                    <a:p>
                      <a:pPr marL="38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OFF-ST-10000760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22.368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0.2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2.5164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355591" y="4910073"/>
          <a:ext cx="6976109" cy="913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0419"/>
                <a:gridCol w="1067434"/>
                <a:gridCol w="774700"/>
                <a:gridCol w="279400"/>
                <a:gridCol w="812800"/>
                <a:gridCol w="952500"/>
                <a:gridCol w="901700"/>
                <a:gridCol w="736600"/>
                <a:gridCol w="469900"/>
              </a:tblGrid>
              <a:tr h="175260">
                <a:tc>
                  <a:txBody>
                    <a:bodyPr/>
                    <a:lstStyle/>
                    <a:p>
                      <a:pPr marL="9525" algn="ctr">
                        <a:lnSpc>
                          <a:spcPts val="1250"/>
                        </a:lnSpc>
                        <a:spcBef>
                          <a:spcPts val="30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Customer</a:t>
                      </a:r>
                      <a:r>
                        <a:rPr sz="1100" b="1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5" dirty="0">
                          <a:latin typeface="Calibri" panose="020F0502020204030204"/>
                          <a:cs typeface="Calibri" panose="020F0502020204030204"/>
                        </a:rPr>
                        <a:t>ID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38100">
                      <a:solidFill>
                        <a:srgbClr val="FF0000"/>
                      </a:solidFill>
                      <a:prstDash val="sysDash"/>
                    </a:lnR>
                    <a:lnT w="12700">
                      <a:solidFill>
                        <a:srgbClr val="FF0000"/>
                      </a:solidFill>
                      <a:prstDash val="sysDash"/>
                    </a:lnT>
                    <a:lnB w="12700">
                      <a:solidFill>
                        <a:srgbClr val="085091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ts val="1250"/>
                        </a:lnSpc>
                        <a:spcBef>
                          <a:spcPts val="30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Customer</a:t>
                      </a:r>
                      <a:r>
                        <a:rPr sz="1100" b="1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0" dirty="0">
                          <a:latin typeface="Calibri" panose="020F0502020204030204"/>
                          <a:cs typeface="Calibri" panose="020F0502020204030204"/>
                        </a:rPr>
                        <a:t>Name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85091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30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Segment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85091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50"/>
                        </a:lnSpc>
                        <a:spcBef>
                          <a:spcPts val="30"/>
                        </a:spcBef>
                      </a:pPr>
                      <a:r>
                        <a:rPr sz="1100" b="1" spc="-25" dirty="0">
                          <a:latin typeface="Calibri" panose="020F0502020204030204"/>
                          <a:cs typeface="Calibri" panose="020F0502020204030204"/>
                        </a:rPr>
                        <a:t>Age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85091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50"/>
                        </a:lnSpc>
                        <a:spcBef>
                          <a:spcPts val="30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Country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85091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  <a:spcBef>
                          <a:spcPts val="30"/>
                        </a:spcBef>
                      </a:pPr>
                      <a:r>
                        <a:rPr sz="1100" b="1" spc="-20" dirty="0">
                          <a:latin typeface="Calibri" panose="020F0502020204030204"/>
                          <a:cs typeface="Calibri" panose="020F0502020204030204"/>
                        </a:rPr>
                        <a:t>City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85091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50"/>
                        </a:lnSpc>
                        <a:spcBef>
                          <a:spcPts val="30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State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85091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50"/>
                        </a:lnSpc>
                        <a:spcBef>
                          <a:spcPts val="30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Postal</a:t>
                      </a:r>
                      <a:r>
                        <a:rPr sz="110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0" dirty="0">
                          <a:latin typeface="Calibri" panose="020F0502020204030204"/>
                          <a:cs typeface="Calibri" panose="020F0502020204030204"/>
                        </a:rPr>
                        <a:t>Code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85091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50"/>
                        </a:lnSpc>
                        <a:spcBef>
                          <a:spcPts val="30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Region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85091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</a:tr>
              <a:tr h="193040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CG-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12520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430" marB="0">
                    <a:lnL w="83693">
                      <a:solidFill>
                        <a:srgbClr val="FF0000"/>
                      </a:solidFill>
                      <a:prstDash val="sysDash"/>
                    </a:lnL>
                    <a:lnR w="38100">
                      <a:solidFill>
                        <a:srgbClr val="FF0000"/>
                      </a:solidFill>
                      <a:prstDash val="sysDash"/>
                    </a:lnR>
                    <a:lnT w="12700">
                      <a:solidFill>
                        <a:srgbClr val="085091"/>
                      </a:solidFill>
                      <a:prstDash val="solid"/>
                    </a:lnT>
                    <a:lnB w="12700">
                      <a:solidFill>
                        <a:srgbClr val="085091"/>
                      </a:solidFill>
                      <a:prstDash val="solid"/>
                    </a:lnB>
                    <a:solidFill>
                      <a:srgbClr val="92D050">
                        <a:alpha val="3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Claire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Gute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430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85091"/>
                      </a:solidFill>
                      <a:prstDash val="solid"/>
                    </a:lnT>
                    <a:lnB w="12700">
                      <a:solidFill>
                        <a:srgbClr val="085091"/>
                      </a:solidFill>
                      <a:prstDash val="solid"/>
                    </a:lnB>
                    <a:solidFill>
                      <a:srgbClr val="92D050">
                        <a:alpha val="3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Consumer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85091"/>
                      </a:solidFill>
                      <a:prstDash val="solid"/>
                    </a:lnT>
                    <a:lnB w="12700">
                      <a:solidFill>
                        <a:srgbClr val="085091"/>
                      </a:solidFill>
                      <a:prstDash val="solid"/>
                    </a:lnB>
                    <a:solidFill>
                      <a:srgbClr val="92D050">
                        <a:alpha val="3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67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85091"/>
                      </a:solidFill>
                      <a:prstDash val="solid"/>
                    </a:lnT>
                    <a:lnB w="12700">
                      <a:solidFill>
                        <a:srgbClr val="085091"/>
                      </a:solidFill>
                      <a:prstDash val="solid"/>
                    </a:lnB>
                    <a:solidFill>
                      <a:srgbClr val="92D050">
                        <a:alpha val="3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United</a:t>
                      </a:r>
                      <a:r>
                        <a:rPr sz="11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States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85091"/>
                      </a:solidFill>
                      <a:prstDash val="solid"/>
                    </a:lnT>
                    <a:lnB w="12700">
                      <a:solidFill>
                        <a:srgbClr val="085091"/>
                      </a:solidFill>
                      <a:prstDash val="solid"/>
                    </a:lnB>
                    <a:solidFill>
                      <a:srgbClr val="92D050">
                        <a:alpha val="3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Henderson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85091"/>
                      </a:solidFill>
                      <a:prstDash val="solid"/>
                    </a:lnT>
                    <a:lnB w="12700">
                      <a:solidFill>
                        <a:srgbClr val="085091"/>
                      </a:solidFill>
                      <a:prstDash val="solid"/>
                    </a:lnB>
                    <a:solidFill>
                      <a:srgbClr val="92D050">
                        <a:alpha val="3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Kentucky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85091"/>
                      </a:solidFill>
                      <a:prstDash val="solid"/>
                    </a:lnT>
                    <a:lnB w="12700">
                      <a:solidFill>
                        <a:srgbClr val="085091"/>
                      </a:solidFill>
                      <a:prstDash val="solid"/>
                    </a:lnB>
                    <a:solidFill>
                      <a:srgbClr val="92D050">
                        <a:alpha val="3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42420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85091"/>
                      </a:solidFill>
                      <a:prstDash val="solid"/>
                    </a:lnT>
                    <a:lnB w="12700">
                      <a:solidFill>
                        <a:srgbClr val="085091"/>
                      </a:solidFill>
                      <a:prstDash val="solid"/>
                    </a:lnB>
                    <a:solidFill>
                      <a:srgbClr val="92D050">
                        <a:alpha val="3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South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85091"/>
                      </a:solidFill>
                      <a:prstDash val="solid"/>
                    </a:lnR>
                    <a:lnT w="12700">
                      <a:solidFill>
                        <a:srgbClr val="085091"/>
                      </a:solidFill>
                      <a:prstDash val="solid"/>
                    </a:lnT>
                    <a:lnB w="12700">
                      <a:solidFill>
                        <a:srgbClr val="085091"/>
                      </a:solidFill>
                      <a:prstDash val="solid"/>
                    </a:lnB>
                    <a:solidFill>
                      <a:srgbClr val="92D050">
                        <a:alpha val="30195"/>
                      </a:srgbClr>
                    </a:solidFill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marL="11430" algn="ctr">
                        <a:lnSpc>
                          <a:spcPts val="1310"/>
                        </a:lnSpc>
                        <a:spcBef>
                          <a:spcPts val="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DV-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13045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38100">
                      <a:solidFill>
                        <a:srgbClr val="FF0000"/>
                      </a:solidFill>
                      <a:prstDash val="sysDash"/>
                    </a:lnR>
                    <a:lnT w="12700">
                      <a:solidFill>
                        <a:srgbClr val="085091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ts val="1310"/>
                        </a:lnSpc>
                        <a:spcBef>
                          <a:spcPts val="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Darrin</a:t>
                      </a:r>
                      <a:r>
                        <a:rPr sz="11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Van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Huff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85091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0"/>
                        </a:lnSpc>
                        <a:spcBef>
                          <a:spcPts val="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Corporate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85091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5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31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85091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United</a:t>
                      </a:r>
                      <a:r>
                        <a:rPr sz="11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States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85091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Los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Angeles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85091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0"/>
                        </a:lnSpc>
                        <a:spcBef>
                          <a:spcPts val="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California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85091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310"/>
                        </a:lnSpc>
                        <a:spcBef>
                          <a:spcPts val="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90036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85091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0"/>
                        </a:lnSpc>
                        <a:spcBef>
                          <a:spcPts val="5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West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85091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245">
                <a:tc>
                  <a:txBody>
                    <a:bodyPr/>
                    <a:lstStyle/>
                    <a:p>
                      <a:pPr marL="1143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SO-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20335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38100">
                      <a:solidFill>
                        <a:srgbClr val="FF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Sean</a:t>
                      </a:r>
                      <a:r>
                        <a:rPr sz="11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O'Donnell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Consumer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65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United</a:t>
                      </a:r>
                      <a:r>
                        <a:rPr sz="11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States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Fort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Lauderdale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Florida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33311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South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1143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BH-11710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38100">
                      <a:solidFill>
                        <a:srgbClr val="FF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Brosina</a:t>
                      </a:r>
                      <a:r>
                        <a:rPr sz="11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Hoffman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38100">
                      <a:solidFill>
                        <a:srgbClr val="FF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Consumer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United</a:t>
                      </a:r>
                      <a:r>
                        <a:rPr sz="11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States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Los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Angeles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California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90032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West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3</a:t>
            </a:r>
            <a:r>
              <a:rPr spc="-9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ways</a:t>
            </a:r>
            <a:r>
              <a:rPr spc="-114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of</a:t>
            </a:r>
            <a:r>
              <a:rPr spc="-8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joining</a:t>
            </a:r>
            <a:r>
              <a:rPr spc="-9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data</a:t>
            </a:r>
            <a:r>
              <a:rPr spc="-9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in</a:t>
            </a:r>
            <a:r>
              <a:rPr spc="-9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tableau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933444" y="6356603"/>
            <a:ext cx="8258809" cy="358140"/>
          </a:xfrm>
          <a:custGeom>
            <a:avLst/>
            <a:gdLst/>
            <a:ahLst/>
            <a:cxnLst/>
            <a:rect l="l" t="t" r="r" b="b"/>
            <a:pathLst>
              <a:path w="8258809" h="358140">
                <a:moveTo>
                  <a:pt x="8258556" y="0"/>
                </a:moveTo>
                <a:lnTo>
                  <a:pt x="0" y="0"/>
                </a:lnTo>
                <a:lnTo>
                  <a:pt x="0" y="358140"/>
                </a:lnTo>
                <a:lnTo>
                  <a:pt x="8258556" y="358140"/>
                </a:lnTo>
                <a:lnTo>
                  <a:pt x="8258556" y="0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322577" y="2294889"/>
            <a:ext cx="2677160" cy="837565"/>
            <a:chOff x="1322577" y="2294889"/>
            <a:chExt cx="2677160" cy="837565"/>
          </a:xfrm>
        </p:grpSpPr>
        <p:sp>
          <p:nvSpPr>
            <p:cNvPr id="5" name="object 5"/>
            <p:cNvSpPr/>
            <p:nvPr/>
          </p:nvSpPr>
          <p:spPr>
            <a:xfrm>
              <a:off x="1328927" y="2301239"/>
              <a:ext cx="2664460" cy="824865"/>
            </a:xfrm>
            <a:custGeom>
              <a:avLst/>
              <a:gdLst/>
              <a:ahLst/>
              <a:cxnLst/>
              <a:rect l="l" t="t" r="r" b="b"/>
              <a:pathLst>
                <a:path w="2664460" h="824864">
                  <a:moveTo>
                    <a:pt x="2663952" y="0"/>
                  </a:moveTo>
                  <a:lnTo>
                    <a:pt x="0" y="0"/>
                  </a:lnTo>
                  <a:lnTo>
                    <a:pt x="0" y="824484"/>
                  </a:lnTo>
                  <a:lnTo>
                    <a:pt x="2663952" y="824484"/>
                  </a:lnTo>
                  <a:lnTo>
                    <a:pt x="2663952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28927" y="2301239"/>
              <a:ext cx="2664460" cy="824865"/>
            </a:xfrm>
            <a:custGeom>
              <a:avLst/>
              <a:gdLst/>
              <a:ahLst/>
              <a:cxnLst/>
              <a:rect l="l" t="t" r="r" b="b"/>
              <a:pathLst>
                <a:path w="2664460" h="824864">
                  <a:moveTo>
                    <a:pt x="0" y="824484"/>
                  </a:moveTo>
                  <a:lnTo>
                    <a:pt x="2663952" y="824484"/>
                  </a:lnTo>
                  <a:lnTo>
                    <a:pt x="2663952" y="0"/>
                  </a:lnTo>
                  <a:lnTo>
                    <a:pt x="0" y="0"/>
                  </a:lnTo>
                  <a:lnTo>
                    <a:pt x="0" y="824484"/>
                  </a:lnTo>
                  <a:close/>
                </a:path>
              </a:pathLst>
            </a:custGeom>
            <a:ln w="12192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2148077" y="2464130"/>
            <a:ext cx="10280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Joining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41164" y="2310383"/>
            <a:ext cx="2664460" cy="822960"/>
          </a:xfrm>
          <a:prstGeom prst="rect">
            <a:avLst/>
          </a:prstGeom>
          <a:solidFill>
            <a:srgbClr val="0E6EC5"/>
          </a:solidFill>
          <a:ln w="12192">
            <a:solidFill>
              <a:srgbClr val="085091"/>
            </a:solidFill>
          </a:ln>
        </p:spPr>
        <p:txBody>
          <a:bodyPr vert="horz" wrap="square" lIns="0" tIns="175260" rIns="0" bIns="0" rtlCol="0">
            <a:spAutoFit/>
          </a:bodyPr>
          <a:lstStyle/>
          <a:p>
            <a:pPr marL="702945">
              <a:lnSpc>
                <a:spcPct val="100000"/>
              </a:lnSpc>
              <a:spcBef>
                <a:spcPts val="1380"/>
              </a:spcBef>
            </a:pPr>
            <a:r>
              <a:rPr sz="28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Blending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145526" y="2320798"/>
            <a:ext cx="2677160" cy="837565"/>
            <a:chOff x="8145526" y="2320798"/>
            <a:chExt cx="2677160" cy="837565"/>
          </a:xfrm>
        </p:grpSpPr>
        <p:sp>
          <p:nvSpPr>
            <p:cNvPr id="10" name="object 10"/>
            <p:cNvSpPr/>
            <p:nvPr/>
          </p:nvSpPr>
          <p:spPr>
            <a:xfrm>
              <a:off x="8151876" y="2327148"/>
              <a:ext cx="2664460" cy="824865"/>
            </a:xfrm>
            <a:custGeom>
              <a:avLst/>
              <a:gdLst/>
              <a:ahLst/>
              <a:cxnLst/>
              <a:rect l="l" t="t" r="r" b="b"/>
              <a:pathLst>
                <a:path w="2664459" h="824864">
                  <a:moveTo>
                    <a:pt x="2663952" y="0"/>
                  </a:moveTo>
                  <a:lnTo>
                    <a:pt x="0" y="0"/>
                  </a:lnTo>
                  <a:lnTo>
                    <a:pt x="0" y="824484"/>
                  </a:lnTo>
                  <a:lnTo>
                    <a:pt x="2663952" y="824484"/>
                  </a:lnTo>
                  <a:lnTo>
                    <a:pt x="2663952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151876" y="2327148"/>
              <a:ext cx="2664460" cy="824865"/>
            </a:xfrm>
            <a:custGeom>
              <a:avLst/>
              <a:gdLst/>
              <a:ahLst/>
              <a:cxnLst/>
              <a:rect l="l" t="t" r="r" b="b"/>
              <a:pathLst>
                <a:path w="2664459" h="824864">
                  <a:moveTo>
                    <a:pt x="0" y="824484"/>
                  </a:moveTo>
                  <a:lnTo>
                    <a:pt x="2663952" y="824484"/>
                  </a:lnTo>
                  <a:lnTo>
                    <a:pt x="2663952" y="0"/>
                  </a:lnTo>
                  <a:lnTo>
                    <a:pt x="0" y="0"/>
                  </a:lnTo>
                  <a:lnTo>
                    <a:pt x="0" y="824484"/>
                  </a:lnTo>
                  <a:close/>
                </a:path>
              </a:pathLst>
            </a:custGeom>
            <a:ln w="12192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8514333" y="2490977"/>
            <a:ext cx="19399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Relationships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51876" y="3313176"/>
            <a:ext cx="2664460" cy="646430"/>
          </a:xfrm>
          <a:prstGeom prst="rect">
            <a:avLst/>
          </a:prstGeom>
          <a:ln w="9144">
            <a:solidFill>
              <a:srgbClr val="7E7E7E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New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way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joining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data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in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Tableau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06775" y="1907896"/>
            <a:ext cx="654685" cy="461009"/>
          </a:xfrm>
          <a:custGeom>
            <a:avLst/>
            <a:gdLst/>
            <a:ahLst/>
            <a:cxnLst/>
            <a:rect l="l" t="t" r="r" b="b"/>
            <a:pathLst>
              <a:path w="654685" h="461010">
                <a:moveTo>
                  <a:pt x="596741" y="0"/>
                </a:moveTo>
                <a:lnTo>
                  <a:pt x="234307" y="343558"/>
                </a:lnTo>
                <a:lnTo>
                  <a:pt x="60169" y="164680"/>
                </a:lnTo>
                <a:lnTo>
                  <a:pt x="0" y="222177"/>
                </a:lnTo>
                <a:lnTo>
                  <a:pt x="231476" y="460680"/>
                </a:lnTo>
                <a:lnTo>
                  <a:pt x="292353" y="403894"/>
                </a:lnTo>
                <a:lnTo>
                  <a:pt x="654079" y="59625"/>
                </a:lnTo>
                <a:lnTo>
                  <a:pt x="596741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0313899" y="2012788"/>
            <a:ext cx="654685" cy="459740"/>
          </a:xfrm>
          <a:custGeom>
            <a:avLst/>
            <a:gdLst/>
            <a:ahLst/>
            <a:cxnLst/>
            <a:rect l="l" t="t" r="r" b="b"/>
            <a:pathLst>
              <a:path w="654684" h="459739">
                <a:moveTo>
                  <a:pt x="596741" y="0"/>
                </a:moveTo>
                <a:lnTo>
                  <a:pt x="234307" y="342801"/>
                </a:lnTo>
                <a:lnTo>
                  <a:pt x="60169" y="164318"/>
                </a:lnTo>
                <a:lnTo>
                  <a:pt x="0" y="221687"/>
                </a:lnTo>
                <a:lnTo>
                  <a:pt x="231476" y="459665"/>
                </a:lnTo>
                <a:lnTo>
                  <a:pt x="292353" y="403004"/>
                </a:lnTo>
                <a:lnTo>
                  <a:pt x="654079" y="59494"/>
                </a:lnTo>
                <a:lnTo>
                  <a:pt x="596741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609588" y="1908048"/>
            <a:ext cx="795655" cy="370840"/>
          </a:xfrm>
          <a:custGeom>
            <a:avLst/>
            <a:gdLst/>
            <a:ahLst/>
            <a:cxnLst/>
            <a:rect l="l" t="t" r="r" b="b"/>
            <a:pathLst>
              <a:path w="795654" h="370839">
                <a:moveTo>
                  <a:pt x="0" y="370332"/>
                </a:moveTo>
                <a:lnTo>
                  <a:pt x="795527" y="370332"/>
                </a:lnTo>
                <a:lnTo>
                  <a:pt x="795527" y="0"/>
                </a:lnTo>
                <a:lnTo>
                  <a:pt x="0" y="0"/>
                </a:lnTo>
                <a:lnTo>
                  <a:pt x="0" y="370332"/>
                </a:lnTo>
                <a:close/>
              </a:path>
            </a:pathLst>
          </a:custGeom>
          <a:ln w="9144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614159" y="1926463"/>
            <a:ext cx="786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11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Later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Merging</a:t>
            </a:r>
            <a:r>
              <a:rPr spc="-114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data</a:t>
            </a:r>
            <a:r>
              <a:rPr spc="-9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from</a:t>
            </a:r>
            <a:r>
              <a:rPr spc="-1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multiple</a:t>
            </a:r>
            <a:r>
              <a:rPr spc="-9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tables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10972" y="3022473"/>
            <a:ext cx="2658110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3810" algn="ctr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Scenario</a:t>
            </a:r>
            <a:r>
              <a:rPr sz="3200" b="1" spc="-25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2: </a:t>
            </a:r>
            <a:r>
              <a:rPr sz="3200" b="1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Merging</a:t>
            </a:r>
            <a:r>
              <a:rPr sz="3200" b="1" spc="-95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similar tables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37101" y="1446657"/>
            <a:ext cx="6750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Combining</a:t>
            </a:r>
            <a:r>
              <a:rPr sz="1800"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similar</a:t>
            </a:r>
            <a:r>
              <a:rPr sz="18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data</a:t>
            </a:r>
            <a:r>
              <a:rPr sz="18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using</a:t>
            </a:r>
            <a:r>
              <a:rPr sz="18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operators</a:t>
            </a:r>
            <a:r>
              <a:rPr sz="18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like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Union,</a:t>
            </a:r>
            <a:r>
              <a:rPr sz="18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Intersect</a:t>
            </a:r>
            <a:r>
              <a:rPr sz="18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and</a:t>
            </a:r>
            <a:r>
              <a:rPr sz="18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Except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965194" y="1995297"/>
          <a:ext cx="8094980" cy="920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/>
                <a:gridCol w="1092200"/>
                <a:gridCol w="774700"/>
                <a:gridCol w="279400"/>
                <a:gridCol w="812800"/>
                <a:gridCol w="952500"/>
                <a:gridCol w="901700"/>
                <a:gridCol w="736600"/>
                <a:gridCol w="469900"/>
                <a:gridCol w="1223645"/>
              </a:tblGrid>
              <a:tr h="182245"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Customer</a:t>
                      </a:r>
                      <a:r>
                        <a:rPr sz="1100" b="1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5" dirty="0">
                          <a:latin typeface="Calibri" panose="020F0502020204030204"/>
                          <a:cs typeface="Calibri" panose="020F0502020204030204"/>
                        </a:rPr>
                        <a:t>ID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Customer</a:t>
                      </a:r>
                      <a:r>
                        <a:rPr sz="1100" b="1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0" dirty="0">
                          <a:latin typeface="Calibri" panose="020F0502020204030204"/>
                          <a:cs typeface="Calibri" panose="020F0502020204030204"/>
                        </a:rPr>
                        <a:t>Name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Segment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spc="-25" dirty="0">
                          <a:latin typeface="Calibri" panose="020F0502020204030204"/>
                          <a:cs typeface="Calibri" panose="020F0502020204030204"/>
                        </a:rPr>
                        <a:t>Age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Country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spc="-20" dirty="0">
                          <a:latin typeface="Calibri" panose="020F0502020204030204"/>
                          <a:cs typeface="Calibri" panose="020F0502020204030204"/>
                        </a:rPr>
                        <a:t>City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State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Postal</a:t>
                      </a:r>
                      <a:r>
                        <a:rPr sz="110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0" dirty="0">
                          <a:latin typeface="Calibri" panose="020F0502020204030204"/>
                          <a:cs typeface="Calibri" panose="020F0502020204030204"/>
                        </a:rPr>
                        <a:t>Code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Region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85091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127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EB-13870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Emily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Burns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Consumer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34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United</a:t>
                      </a:r>
                      <a:r>
                        <a:rPr sz="11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States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Orem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Utah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84057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West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85091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209550" marR="153670" indent="15494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Online 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customers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85091"/>
                      </a:solidFill>
                      <a:prstDash val="solid"/>
                    </a:lnL>
                    <a:lnR w="12700">
                      <a:solidFill>
                        <a:srgbClr val="085091"/>
                      </a:solidFill>
                      <a:prstDash val="solid"/>
                    </a:lnR>
                    <a:lnT w="12700">
                      <a:solidFill>
                        <a:srgbClr val="085091"/>
                      </a:solidFill>
                      <a:prstDash val="solid"/>
                    </a:lnT>
                    <a:lnB w="12700">
                      <a:solidFill>
                        <a:srgbClr val="085091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</a:tr>
              <a:tr h="182245"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EH-13945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Eric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Hoffmann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Consumer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United</a:t>
                      </a:r>
                      <a:r>
                        <a:rPr sz="11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States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Los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Angeles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California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90049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West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85091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21590" marB="0">
                    <a:lnL w="12700">
                      <a:solidFill>
                        <a:srgbClr val="085091"/>
                      </a:solidFill>
                      <a:prstDash val="solid"/>
                    </a:lnL>
                    <a:lnR w="12700">
                      <a:solidFill>
                        <a:srgbClr val="085091"/>
                      </a:solidFill>
                      <a:prstDash val="solid"/>
                    </a:lnR>
                    <a:lnT w="12700">
                      <a:solidFill>
                        <a:srgbClr val="085091"/>
                      </a:solidFill>
                      <a:prstDash val="solid"/>
                    </a:lnT>
                    <a:lnB w="12700">
                      <a:solidFill>
                        <a:srgbClr val="085091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</a:tr>
              <a:tr h="182245">
                <a:tc>
                  <a:txBody>
                    <a:bodyPr/>
                    <a:lstStyle/>
                    <a:p>
                      <a:pPr marL="127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TB-21520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Tracy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Blumstein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Consumer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48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United</a:t>
                      </a:r>
                      <a:r>
                        <a:rPr sz="11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States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Philadelphia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Pennsylvania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19140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East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85091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21590" marB="0">
                    <a:lnL w="12700">
                      <a:solidFill>
                        <a:srgbClr val="085091"/>
                      </a:solidFill>
                      <a:prstDash val="solid"/>
                    </a:lnL>
                    <a:lnR w="12700">
                      <a:solidFill>
                        <a:srgbClr val="085091"/>
                      </a:solidFill>
                      <a:prstDash val="solid"/>
                    </a:lnR>
                    <a:lnT w="12700">
                      <a:solidFill>
                        <a:srgbClr val="085091"/>
                      </a:solidFill>
                      <a:prstDash val="solid"/>
                    </a:lnT>
                    <a:lnB w="12700">
                      <a:solidFill>
                        <a:srgbClr val="085091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MA-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17560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Matt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Abelman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Home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Office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19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United</a:t>
                      </a:r>
                      <a:r>
                        <a:rPr sz="11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States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Houston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Texas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77095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Central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85091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965194" y="3333241"/>
          <a:ext cx="8094980" cy="738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/>
                <a:gridCol w="1092200"/>
                <a:gridCol w="774700"/>
                <a:gridCol w="279400"/>
                <a:gridCol w="812800"/>
                <a:gridCol w="952500"/>
                <a:gridCol w="901700"/>
                <a:gridCol w="736600"/>
                <a:gridCol w="492759"/>
                <a:gridCol w="1201420"/>
              </a:tblGrid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Customer</a:t>
                      </a:r>
                      <a:r>
                        <a:rPr sz="1100" b="1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5" dirty="0">
                          <a:latin typeface="Calibri" panose="020F0502020204030204"/>
                          <a:cs typeface="Calibri" panose="020F0502020204030204"/>
                        </a:rPr>
                        <a:t>ID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Customer</a:t>
                      </a:r>
                      <a:r>
                        <a:rPr sz="1100" b="1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0" dirty="0">
                          <a:latin typeface="Calibri" panose="020F0502020204030204"/>
                          <a:cs typeface="Calibri" panose="020F0502020204030204"/>
                        </a:rPr>
                        <a:t>Name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Segment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spc="-25" dirty="0">
                          <a:latin typeface="Calibri" panose="020F0502020204030204"/>
                          <a:cs typeface="Calibri" panose="020F0502020204030204"/>
                        </a:rPr>
                        <a:t>Age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Country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spc="-20" dirty="0">
                          <a:latin typeface="Calibri" panose="020F0502020204030204"/>
                          <a:cs typeface="Calibri" panose="020F0502020204030204"/>
                        </a:rPr>
                        <a:t>City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State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Postal</a:t>
                      </a:r>
                      <a:r>
                        <a:rPr sz="110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0" dirty="0">
                          <a:latin typeface="Calibri" panose="020F0502020204030204"/>
                          <a:cs typeface="Calibri" panose="020F0502020204030204"/>
                        </a:rPr>
                        <a:t>Code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Region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85091"/>
                      </a:solidFill>
                      <a:prstDash val="solid"/>
                    </a:lnB>
                  </a:tcPr>
                </a:tc>
              </a:tr>
              <a:tr h="182245"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  <a:spcBef>
                          <a:spcPts val="5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ON-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18715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Odella</a:t>
                      </a:r>
                      <a:r>
                        <a:rPr sz="11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Nelson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80"/>
                        </a:lnSpc>
                        <a:spcBef>
                          <a:spcPts val="5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Corporate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  <a:spcBef>
                          <a:spcPts val="55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27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United</a:t>
                      </a:r>
                      <a:r>
                        <a:rPr sz="11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States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80"/>
                        </a:lnSpc>
                        <a:spcBef>
                          <a:spcPts val="5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Eagan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80"/>
                        </a:lnSpc>
                        <a:spcBef>
                          <a:spcPts val="5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Minnesota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280"/>
                        </a:lnSpc>
                        <a:spcBef>
                          <a:spcPts val="5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55122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ts val="1280"/>
                        </a:lnSpc>
                        <a:spcBef>
                          <a:spcPts val="5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Central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85091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86690" marR="153670" indent="146050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Offline 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customers</a:t>
                      </a:r>
                      <a:endParaRPr sz="16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85091"/>
                      </a:solidFill>
                      <a:prstDash val="solid"/>
                    </a:lnL>
                    <a:lnR w="12700">
                      <a:solidFill>
                        <a:srgbClr val="085091"/>
                      </a:solidFill>
                      <a:prstDash val="solid"/>
                    </a:lnR>
                    <a:lnT w="12700">
                      <a:solidFill>
                        <a:srgbClr val="085091"/>
                      </a:solidFill>
                      <a:prstDash val="solid"/>
                    </a:lnT>
                    <a:lnB w="3175">
                      <a:solidFill>
                        <a:srgbClr val="085091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1270" algn="ctr">
                        <a:lnSpc>
                          <a:spcPts val="1280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PO-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18865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80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Patrick</a:t>
                      </a:r>
                      <a:r>
                        <a:rPr sz="11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O'Donnell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80"/>
                        </a:lnSpc>
                        <a:spcBef>
                          <a:spcPts val="5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Consumer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  <a:spcBef>
                          <a:spcPts val="55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64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United</a:t>
                      </a:r>
                      <a:r>
                        <a:rPr sz="11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States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80"/>
                        </a:lnSpc>
                        <a:spcBef>
                          <a:spcPts val="5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Westland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80"/>
                        </a:lnSpc>
                        <a:spcBef>
                          <a:spcPts val="5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Michigan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280"/>
                        </a:lnSpc>
                        <a:spcBef>
                          <a:spcPts val="5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48185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ts val="1280"/>
                        </a:lnSpc>
                        <a:spcBef>
                          <a:spcPts val="5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Central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85091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29209" marB="0">
                    <a:lnL w="12700">
                      <a:solidFill>
                        <a:srgbClr val="085091"/>
                      </a:solidFill>
                      <a:prstDash val="solid"/>
                    </a:lnL>
                    <a:lnR w="12700">
                      <a:solidFill>
                        <a:srgbClr val="085091"/>
                      </a:solidFill>
                      <a:prstDash val="solid"/>
                    </a:lnR>
                    <a:lnT w="12700">
                      <a:solidFill>
                        <a:srgbClr val="085091"/>
                      </a:solidFill>
                      <a:prstDash val="solid"/>
                    </a:lnT>
                    <a:lnB w="3175">
                      <a:solidFill>
                        <a:srgbClr val="085091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  <a:spcBef>
                          <a:spcPts val="11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LH-16900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80"/>
                        </a:lnSpc>
                        <a:spcBef>
                          <a:spcPts val="11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Lena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Hernandez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80"/>
                        </a:lnSpc>
                        <a:spcBef>
                          <a:spcPts val="11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Consumer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  <a:spcBef>
                          <a:spcPts val="115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66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  <a:spcBef>
                          <a:spcPts val="11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United</a:t>
                      </a:r>
                      <a:r>
                        <a:rPr sz="11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States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80"/>
                        </a:lnSpc>
                        <a:spcBef>
                          <a:spcPts val="115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Dover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  <a:spcBef>
                          <a:spcPts val="11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Delaware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280"/>
                        </a:lnSpc>
                        <a:spcBef>
                          <a:spcPts val="11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19901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280"/>
                        </a:lnSpc>
                        <a:spcBef>
                          <a:spcPts val="115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East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85091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29209" marB="0">
                    <a:lnL w="12700">
                      <a:solidFill>
                        <a:srgbClr val="085091"/>
                      </a:solidFill>
                      <a:prstDash val="solid"/>
                    </a:lnL>
                    <a:lnR w="12700">
                      <a:solidFill>
                        <a:srgbClr val="085091"/>
                      </a:solidFill>
                      <a:prstDash val="solid"/>
                    </a:lnR>
                    <a:lnT w="12700">
                      <a:solidFill>
                        <a:srgbClr val="085091"/>
                      </a:solidFill>
                      <a:prstDash val="solid"/>
                    </a:lnT>
                    <a:lnB w="3175">
                      <a:solidFill>
                        <a:srgbClr val="085091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965194" y="4520184"/>
          <a:ext cx="6870700" cy="1470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/>
                <a:gridCol w="1092200"/>
                <a:gridCol w="774700"/>
                <a:gridCol w="279400"/>
                <a:gridCol w="812800"/>
                <a:gridCol w="952500"/>
                <a:gridCol w="901700"/>
                <a:gridCol w="736600"/>
                <a:gridCol w="469900"/>
              </a:tblGrid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Customer</a:t>
                      </a:r>
                      <a:r>
                        <a:rPr sz="1100" b="1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5" dirty="0">
                          <a:latin typeface="Calibri" panose="020F0502020204030204"/>
                          <a:cs typeface="Calibri" panose="020F0502020204030204"/>
                        </a:rPr>
                        <a:t>ID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Customer</a:t>
                      </a:r>
                      <a:r>
                        <a:rPr sz="1100" b="1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0" dirty="0">
                          <a:latin typeface="Calibri" panose="020F0502020204030204"/>
                          <a:cs typeface="Calibri" panose="020F0502020204030204"/>
                        </a:rPr>
                        <a:t>Name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Segment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b="1" spc="-25" dirty="0">
                          <a:latin typeface="Calibri" panose="020F0502020204030204"/>
                          <a:cs typeface="Calibri" panose="020F0502020204030204"/>
                        </a:rPr>
                        <a:t>Age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Country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b="1" spc="-20" dirty="0">
                          <a:latin typeface="Calibri" panose="020F0502020204030204"/>
                          <a:cs typeface="Calibri" panose="020F0502020204030204"/>
                        </a:rPr>
                        <a:t>City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State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Postal</a:t>
                      </a:r>
                      <a:r>
                        <a:rPr sz="110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0" dirty="0">
                          <a:latin typeface="Calibri" panose="020F0502020204030204"/>
                          <a:cs typeface="Calibri" panose="020F0502020204030204"/>
                        </a:rPr>
                        <a:t>Code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Region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127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EB-13870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Emily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Burns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Consumer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34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United</a:t>
                      </a:r>
                      <a:r>
                        <a:rPr sz="11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States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Orem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Utah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84057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West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EH-13945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Eric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 Hoffmann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Consumer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United</a:t>
                      </a:r>
                      <a:r>
                        <a:rPr sz="11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States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Los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Angeles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California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90049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West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245">
                <a:tc>
                  <a:txBody>
                    <a:bodyPr/>
                    <a:lstStyle/>
                    <a:p>
                      <a:pPr marL="127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TB-21520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Tracy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Blumstein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Consumer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48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United</a:t>
                      </a:r>
                      <a:r>
                        <a:rPr sz="11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States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Philadelphia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Pennsylvania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19140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East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MA-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17560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Matt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Abelman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Home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Office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19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United</a:t>
                      </a:r>
                      <a:r>
                        <a:rPr sz="11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States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Houston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Texas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77095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Central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  <a:spcBef>
                          <a:spcPts val="6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ON-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18715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  <a:spcBef>
                          <a:spcPts val="6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Odella</a:t>
                      </a:r>
                      <a:r>
                        <a:rPr sz="11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Nelson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80"/>
                        </a:lnSpc>
                        <a:spcBef>
                          <a:spcPts val="6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Corporate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  <a:spcBef>
                          <a:spcPts val="6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27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  <a:spcBef>
                          <a:spcPts val="6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United</a:t>
                      </a:r>
                      <a:r>
                        <a:rPr sz="11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States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80"/>
                        </a:lnSpc>
                        <a:spcBef>
                          <a:spcPts val="6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Eagan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80"/>
                        </a:lnSpc>
                        <a:spcBef>
                          <a:spcPts val="6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Minnesota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280"/>
                        </a:lnSpc>
                        <a:spcBef>
                          <a:spcPts val="6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55122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80"/>
                        </a:lnSpc>
                        <a:spcBef>
                          <a:spcPts val="6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Central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1270" algn="ctr">
                        <a:lnSpc>
                          <a:spcPts val="1280"/>
                        </a:lnSpc>
                        <a:spcBef>
                          <a:spcPts val="6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PO-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18865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80"/>
                        </a:lnSpc>
                        <a:spcBef>
                          <a:spcPts val="6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Patrick</a:t>
                      </a:r>
                      <a:r>
                        <a:rPr sz="11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O'Donnell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80"/>
                        </a:lnSpc>
                        <a:spcBef>
                          <a:spcPts val="6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Consumer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  <a:spcBef>
                          <a:spcPts val="6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64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  <a:spcBef>
                          <a:spcPts val="6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United</a:t>
                      </a:r>
                      <a:r>
                        <a:rPr sz="11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States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80"/>
                        </a:lnSpc>
                        <a:spcBef>
                          <a:spcPts val="6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Westland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80"/>
                        </a:lnSpc>
                        <a:spcBef>
                          <a:spcPts val="6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Michigan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280"/>
                        </a:lnSpc>
                        <a:spcBef>
                          <a:spcPts val="6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48185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280"/>
                        </a:lnSpc>
                        <a:spcBef>
                          <a:spcPts val="6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Central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  <a:spcBef>
                          <a:spcPts val="12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LH-16900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80"/>
                        </a:lnSpc>
                        <a:spcBef>
                          <a:spcPts val="12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Lena</a:t>
                      </a:r>
                      <a:r>
                        <a:rPr sz="11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Hernandez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80"/>
                        </a:lnSpc>
                        <a:spcBef>
                          <a:spcPts val="12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Consumer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  <a:spcBef>
                          <a:spcPts val="12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66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  <a:spcBef>
                          <a:spcPts val="12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United</a:t>
                      </a:r>
                      <a:r>
                        <a:rPr sz="11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States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80"/>
                        </a:lnSpc>
                        <a:spcBef>
                          <a:spcPts val="12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Dover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  <a:spcBef>
                          <a:spcPts val="12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Delaware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280"/>
                        </a:lnSpc>
                        <a:spcBef>
                          <a:spcPts val="12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19901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280"/>
                        </a:lnSpc>
                        <a:spcBef>
                          <a:spcPts val="12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East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7466076" y="3014979"/>
            <a:ext cx="243840" cy="238760"/>
          </a:xfrm>
          <a:custGeom>
            <a:avLst/>
            <a:gdLst/>
            <a:ahLst/>
            <a:cxnLst/>
            <a:rect l="l" t="t" r="r" b="b"/>
            <a:pathLst>
              <a:path w="243840" h="238760">
                <a:moveTo>
                  <a:pt x="243840" y="95250"/>
                </a:moveTo>
                <a:lnTo>
                  <a:pt x="148717" y="95250"/>
                </a:lnTo>
                <a:lnTo>
                  <a:pt x="148717" y="0"/>
                </a:lnTo>
                <a:lnTo>
                  <a:pt x="95123" y="0"/>
                </a:lnTo>
                <a:lnTo>
                  <a:pt x="95123" y="95250"/>
                </a:lnTo>
                <a:lnTo>
                  <a:pt x="0" y="95250"/>
                </a:lnTo>
                <a:lnTo>
                  <a:pt x="0" y="143510"/>
                </a:lnTo>
                <a:lnTo>
                  <a:pt x="95123" y="143510"/>
                </a:lnTo>
                <a:lnTo>
                  <a:pt x="95123" y="238760"/>
                </a:lnTo>
                <a:lnTo>
                  <a:pt x="148717" y="238760"/>
                </a:lnTo>
                <a:lnTo>
                  <a:pt x="148717" y="143510"/>
                </a:lnTo>
                <a:lnTo>
                  <a:pt x="243840" y="143510"/>
                </a:lnTo>
                <a:lnTo>
                  <a:pt x="243840" y="95250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443216" y="4154423"/>
            <a:ext cx="259079" cy="302260"/>
          </a:xfrm>
          <a:custGeom>
            <a:avLst/>
            <a:gdLst/>
            <a:ahLst/>
            <a:cxnLst/>
            <a:rect l="l" t="t" r="r" b="b"/>
            <a:pathLst>
              <a:path w="259079" h="302260">
                <a:moveTo>
                  <a:pt x="194309" y="0"/>
                </a:moveTo>
                <a:lnTo>
                  <a:pt x="64769" y="0"/>
                </a:lnTo>
                <a:lnTo>
                  <a:pt x="64769" y="172212"/>
                </a:lnTo>
                <a:lnTo>
                  <a:pt x="0" y="172212"/>
                </a:lnTo>
                <a:lnTo>
                  <a:pt x="129539" y="301751"/>
                </a:lnTo>
                <a:lnTo>
                  <a:pt x="259079" y="172212"/>
                </a:lnTo>
                <a:lnTo>
                  <a:pt x="194309" y="172212"/>
                </a:lnTo>
                <a:lnTo>
                  <a:pt x="194309" y="0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pc="0">
                <a:latin typeface="+mj-lt"/>
              </a:rPr>
              <a:t>Merging data from multiple tables</a:t>
            </a:r>
            <a:endParaRPr lang="en-US" spc="0">
              <a:latin typeface="+mj-lt"/>
            </a:endParaRPr>
          </a:p>
        </p:txBody>
      </p:sp>
      <p:graphicFrame>
        <p:nvGraphicFramePr>
          <p:cNvPr id="43" name="表格 42"/>
          <p:cNvGraphicFramePr/>
          <p:nvPr>
            <p:custDataLst>
              <p:tags r:id="rId2"/>
            </p:custDataLst>
          </p:nvPr>
        </p:nvGraphicFramePr>
        <p:xfrm>
          <a:off x="695960" y="3872865"/>
          <a:ext cx="10801350" cy="2305050"/>
        </p:xfrm>
        <a:graphic>
          <a:graphicData uri="http://schemas.openxmlformats.org/drawingml/2006/table">
            <a:tbl>
              <a:tblPr firstRow="1" lastCol="1" bandRow="1">
                <a:tableStyleId>{5C22544A-7EE6-4342-B048-85BDC9FD1C3A}</a:tableStyleId>
              </a:tblPr>
              <a:tblGrid>
                <a:gridCol w="2160270"/>
                <a:gridCol w="2160270"/>
                <a:gridCol w="2160270"/>
                <a:gridCol w="2160270"/>
                <a:gridCol w="2160270"/>
              </a:tblGrid>
              <a:tr h="461010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sz="1600" spc="0" baseline="0" dirty="0">
                          <a:latin typeface="+mn-lt"/>
                          <a:sym typeface="Arial" panose="020B0604020202020204" pitchFamily="34" charset="0"/>
                        </a:rPr>
                        <a:t>Number</a:t>
                      </a:r>
                      <a:endParaRPr lang="en-US" sz="1600" spc="0" baseline="0" dirty="0">
                        <a:latin typeface="+mn-lt"/>
                        <a:sym typeface="Arial" panose="020B0604020202020204" pitchFamily="34" charset="0"/>
                      </a:endParaRPr>
                    </a:p>
                  </a:txBody>
                  <a:tcPr marL="95759" marR="95759" marT="47880" marB="4788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600" spc="0" baseline="0" dirty="0">
                          <a:latin typeface="+mn-lt"/>
                          <a:sym typeface="Arial" panose="020B0604020202020204" pitchFamily="34" charset="0"/>
                        </a:rPr>
                        <a:t>Product</a:t>
                      </a:r>
                      <a:endParaRPr lang="en-US" sz="1600" spc="0" baseline="0" dirty="0">
                        <a:latin typeface="+mn-lt"/>
                        <a:sym typeface="Arial" panose="020B0604020202020204" pitchFamily="34" charset="0"/>
                      </a:endParaRPr>
                    </a:p>
                  </a:txBody>
                  <a:tcPr marL="95759" marR="95759" marT="47880" marB="4788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600" spc="0" baseline="0" dirty="0">
                          <a:latin typeface="+mn-lt"/>
                          <a:sym typeface="Arial" panose="020B0604020202020204" pitchFamily="34" charset="0"/>
                        </a:rPr>
                        <a:t>Quantity</a:t>
                      </a:r>
                      <a:endParaRPr lang="en-US" sz="1600" spc="0" baseline="0" dirty="0">
                        <a:latin typeface="+mn-lt"/>
                        <a:sym typeface="Arial" panose="020B0604020202020204" pitchFamily="34" charset="0"/>
                      </a:endParaRPr>
                    </a:p>
                  </a:txBody>
                  <a:tcPr marL="95759" marR="95759" marT="47880" marB="4788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600" spc="0" baseline="0" dirty="0">
                          <a:latin typeface="+mn-lt"/>
                          <a:sym typeface="Arial" panose="020B0604020202020204" pitchFamily="34" charset="0"/>
                        </a:rPr>
                        <a:t>Unit cost</a:t>
                      </a:r>
                      <a:endParaRPr lang="en-US" sz="1600" spc="0" baseline="0" dirty="0">
                        <a:latin typeface="+mn-lt"/>
                        <a:sym typeface="Arial" panose="020B0604020202020204" pitchFamily="34" charset="0"/>
                      </a:endParaRPr>
                    </a:p>
                  </a:txBody>
                  <a:tcPr marL="95759" marR="95759" marT="47880" marB="4788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600" spc="0" baseline="0" dirty="0">
                          <a:latin typeface="+mn-lt"/>
                          <a:sym typeface="Arial" panose="020B0604020202020204" pitchFamily="34" charset="0"/>
                        </a:rPr>
                        <a:t>Total cost</a:t>
                      </a:r>
                      <a:endParaRPr lang="en-US" sz="1600" spc="0" baseline="0" dirty="0">
                        <a:latin typeface="+mn-lt"/>
                        <a:sym typeface="Arial" panose="020B0604020202020204" pitchFamily="34" charset="0"/>
                      </a:endParaRPr>
                    </a:p>
                  </a:txBody>
                  <a:tcPr marL="95759" marR="95759" marT="47880" marB="47880" anchor="ctr"/>
                </a:tc>
              </a:tr>
              <a:tr h="46101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400" spc="0" baseline="0" dirty="0">
                          <a:solidFill>
                            <a:srgbClr val="1C1A0E"/>
                          </a:solidFill>
                          <a:latin typeface="+mn-lt"/>
                          <a:sym typeface="Arial" panose="020B0604020202020204" pitchFamily="34" charset="0"/>
                        </a:rPr>
                        <a:t>01</a:t>
                      </a:r>
                      <a:endParaRPr lang="en-US" sz="1400" spc="0" baseline="0" dirty="0">
                        <a:solidFill>
                          <a:srgbClr val="1C1A0E"/>
                        </a:solidFill>
                        <a:latin typeface="+mn-lt"/>
                        <a:sym typeface="Arial" panose="020B0604020202020204" pitchFamily="34" charset="0"/>
                      </a:endParaRPr>
                    </a:p>
                  </a:txBody>
                  <a:tcPr marL="95759" marR="95759" marT="47880" marB="4788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400" spc="0" baseline="0" dirty="0">
                          <a:solidFill>
                            <a:srgbClr val="1C1A0E"/>
                          </a:solidFill>
                          <a:latin typeface="+mn-lt"/>
                          <a:sym typeface="Arial" panose="020B0604020202020204" pitchFamily="34" charset="0"/>
                        </a:rPr>
                        <a:t>Product 1</a:t>
                      </a:r>
                      <a:endParaRPr lang="en-US" sz="1400" spc="0" baseline="0" dirty="0">
                        <a:solidFill>
                          <a:srgbClr val="1C1A0E"/>
                        </a:solidFill>
                        <a:latin typeface="+mn-lt"/>
                        <a:sym typeface="Arial" panose="020B0604020202020204" pitchFamily="34" charset="0"/>
                      </a:endParaRPr>
                    </a:p>
                  </a:txBody>
                  <a:tcPr marL="95759" marR="95759" marT="47880" marB="478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spc="0" baseline="0" dirty="0">
                          <a:solidFill>
                            <a:srgbClr val="1C1A0E"/>
                          </a:solidFill>
                          <a:latin typeface="+mn-lt"/>
                          <a:sym typeface="Arial" panose="020B0604020202020204" pitchFamily="34" charset="0"/>
                        </a:rPr>
                        <a:t>156</a:t>
                      </a:r>
                      <a:endParaRPr lang="en-US" sz="1400" spc="0" baseline="0" dirty="0">
                        <a:solidFill>
                          <a:srgbClr val="1C1A0E"/>
                        </a:solidFill>
                        <a:latin typeface="+mn-lt"/>
                        <a:sym typeface="Arial" panose="020B0604020202020204" pitchFamily="34" charset="0"/>
                      </a:endParaRPr>
                    </a:p>
                  </a:txBody>
                  <a:tcPr marL="95759" marR="95759" marT="47880" marB="478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spc="0" baseline="0" dirty="0">
                          <a:solidFill>
                            <a:srgbClr val="1C1A0E"/>
                          </a:solidFill>
                          <a:latin typeface="+mn-lt"/>
                          <a:sym typeface="Arial" panose="020B0604020202020204" pitchFamily="34" charset="0"/>
                        </a:rPr>
                        <a:t>piece</a:t>
                      </a:r>
                      <a:endParaRPr lang="en-US" sz="1400" spc="0" baseline="0" dirty="0">
                        <a:solidFill>
                          <a:srgbClr val="1C1A0E"/>
                        </a:solidFill>
                        <a:latin typeface="+mn-lt"/>
                        <a:sym typeface="Arial" panose="020B0604020202020204" pitchFamily="34" charset="0"/>
                      </a:endParaRPr>
                    </a:p>
                  </a:txBody>
                  <a:tcPr marL="95759" marR="95759" marT="47880" marB="478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spc="0" baseline="0" dirty="0">
                          <a:solidFill>
                            <a:srgbClr val="FFFFFF"/>
                          </a:solidFill>
                          <a:latin typeface="+mn-lt"/>
                          <a:sym typeface="Arial" panose="020B0604020202020204" pitchFamily="34" charset="0"/>
                        </a:rPr>
                        <a:t>1000</a:t>
                      </a:r>
                      <a:endParaRPr lang="en-US" sz="1600" spc="0" baseline="0" dirty="0">
                        <a:solidFill>
                          <a:srgbClr val="FFFFFF"/>
                        </a:solidFill>
                        <a:latin typeface="+mn-lt"/>
                        <a:sym typeface="Arial" panose="020B0604020202020204" pitchFamily="34" charset="0"/>
                      </a:endParaRPr>
                    </a:p>
                  </a:txBody>
                  <a:tcPr marL="95759" marR="95759" marT="47880" marB="47880" anchor="ctr"/>
                </a:tc>
              </a:tr>
              <a:tr h="46101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400" spc="0" baseline="0" dirty="0">
                          <a:solidFill>
                            <a:srgbClr val="1C1A0E"/>
                          </a:solidFill>
                          <a:latin typeface="+mn-lt"/>
                          <a:sym typeface="Arial" panose="020B0604020202020204" pitchFamily="34" charset="0"/>
                        </a:rPr>
                        <a:t>02</a:t>
                      </a:r>
                      <a:endParaRPr lang="en-US" sz="1400" spc="0" baseline="0" dirty="0">
                        <a:solidFill>
                          <a:srgbClr val="1C1A0E"/>
                        </a:solidFill>
                        <a:latin typeface="+mn-lt"/>
                        <a:sym typeface="Arial" panose="020B0604020202020204" pitchFamily="34" charset="0"/>
                      </a:endParaRPr>
                    </a:p>
                  </a:txBody>
                  <a:tcPr marL="95759" marR="95759" marT="47880" marB="4788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400" spc="0" baseline="0" dirty="0">
                          <a:solidFill>
                            <a:srgbClr val="1C1A0E"/>
                          </a:solidFill>
                          <a:latin typeface="+mn-lt"/>
                          <a:sym typeface="Arial" panose="020B0604020202020204" pitchFamily="34" charset="0"/>
                        </a:rPr>
                        <a:t>Product 2</a:t>
                      </a:r>
                      <a:endParaRPr lang="en-US" sz="1400" spc="0" baseline="0" dirty="0">
                        <a:solidFill>
                          <a:srgbClr val="1C1A0E"/>
                        </a:solidFill>
                        <a:latin typeface="+mn-lt"/>
                        <a:sym typeface="Arial" panose="020B0604020202020204" pitchFamily="34" charset="0"/>
                      </a:endParaRPr>
                    </a:p>
                  </a:txBody>
                  <a:tcPr marL="95759" marR="95759" marT="47880" marB="478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spc="0" baseline="0" dirty="0">
                          <a:solidFill>
                            <a:srgbClr val="1C1A0E"/>
                          </a:solidFill>
                          <a:latin typeface="+mn-lt"/>
                          <a:sym typeface="Arial" panose="020B0604020202020204" pitchFamily="34" charset="0"/>
                        </a:rPr>
                        <a:t>345</a:t>
                      </a:r>
                      <a:endParaRPr lang="en-US" sz="1400" spc="0" baseline="0" dirty="0">
                        <a:solidFill>
                          <a:srgbClr val="1C1A0E"/>
                        </a:solidFill>
                        <a:latin typeface="+mn-lt"/>
                        <a:sym typeface="Arial" panose="020B0604020202020204" pitchFamily="34" charset="0"/>
                      </a:endParaRPr>
                    </a:p>
                  </a:txBody>
                  <a:tcPr marL="95759" marR="95759" marT="47880" marB="478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spc="0" baseline="0" dirty="0">
                          <a:solidFill>
                            <a:srgbClr val="1C1A0E"/>
                          </a:solidFill>
                          <a:latin typeface="+mn-lt"/>
                          <a:sym typeface="Arial" panose="020B0604020202020204" pitchFamily="34" charset="0"/>
                        </a:rPr>
                        <a:t>piece</a:t>
                      </a:r>
                      <a:endParaRPr lang="en-US" sz="1400" spc="0" baseline="0" dirty="0">
                        <a:solidFill>
                          <a:srgbClr val="1C1A0E"/>
                        </a:solidFill>
                        <a:latin typeface="+mn-lt"/>
                        <a:sym typeface="Arial" panose="020B0604020202020204" pitchFamily="34" charset="0"/>
                      </a:endParaRPr>
                    </a:p>
                  </a:txBody>
                  <a:tcPr marL="95759" marR="95759" marT="47880" marB="478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spc="0" baseline="0" dirty="0">
                          <a:solidFill>
                            <a:srgbClr val="FFFFFF"/>
                          </a:solidFill>
                          <a:latin typeface="+mn-lt"/>
                          <a:sym typeface="Arial" panose="020B0604020202020204" pitchFamily="34" charset="0"/>
                        </a:rPr>
                        <a:t>2000</a:t>
                      </a:r>
                      <a:endParaRPr lang="en-US" sz="1600" spc="0" baseline="0" dirty="0">
                        <a:solidFill>
                          <a:srgbClr val="FFFFFF"/>
                        </a:solidFill>
                        <a:latin typeface="+mn-lt"/>
                        <a:sym typeface="Arial" panose="020B0604020202020204" pitchFamily="34" charset="0"/>
                      </a:endParaRPr>
                    </a:p>
                  </a:txBody>
                  <a:tcPr marL="95759" marR="95759" marT="47880" marB="47880" anchor="ctr"/>
                </a:tc>
              </a:tr>
              <a:tr h="46101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400" spc="0" baseline="0" dirty="0">
                          <a:solidFill>
                            <a:srgbClr val="1C1A0E"/>
                          </a:solidFill>
                          <a:latin typeface="+mn-lt"/>
                          <a:sym typeface="Arial" panose="020B0604020202020204" pitchFamily="34" charset="0"/>
                        </a:rPr>
                        <a:t>03</a:t>
                      </a:r>
                      <a:endParaRPr lang="en-US" sz="1400" spc="0" baseline="0" dirty="0">
                        <a:solidFill>
                          <a:srgbClr val="1C1A0E"/>
                        </a:solidFill>
                        <a:latin typeface="+mn-lt"/>
                        <a:sym typeface="Arial" panose="020B0604020202020204" pitchFamily="34" charset="0"/>
                      </a:endParaRPr>
                    </a:p>
                  </a:txBody>
                  <a:tcPr marL="95759" marR="95759" marT="47880" marB="4788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400" spc="0" baseline="0" dirty="0">
                          <a:solidFill>
                            <a:srgbClr val="1C1A0E"/>
                          </a:solidFill>
                          <a:latin typeface="+mn-lt"/>
                          <a:sym typeface="Arial" panose="020B0604020202020204" pitchFamily="34" charset="0"/>
                        </a:rPr>
                        <a:t>Product 3</a:t>
                      </a:r>
                      <a:endParaRPr lang="en-US" sz="1400" spc="0" baseline="0" dirty="0">
                        <a:solidFill>
                          <a:srgbClr val="1C1A0E"/>
                        </a:solidFill>
                        <a:latin typeface="+mn-lt"/>
                        <a:sym typeface="Arial" panose="020B0604020202020204" pitchFamily="34" charset="0"/>
                      </a:endParaRPr>
                    </a:p>
                  </a:txBody>
                  <a:tcPr marL="95759" marR="95759" marT="47880" marB="478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spc="0" baseline="0" dirty="0">
                          <a:solidFill>
                            <a:srgbClr val="1C1A0E"/>
                          </a:solidFill>
                          <a:latin typeface="+mn-lt"/>
                          <a:sym typeface="Arial" panose="020B0604020202020204" pitchFamily="34" charset="0"/>
                        </a:rPr>
                        <a:t>554</a:t>
                      </a:r>
                      <a:endParaRPr lang="en-US" sz="1400" spc="0" baseline="0" dirty="0">
                        <a:solidFill>
                          <a:srgbClr val="1C1A0E"/>
                        </a:solidFill>
                        <a:latin typeface="+mn-lt"/>
                        <a:sym typeface="Arial" panose="020B0604020202020204" pitchFamily="34" charset="0"/>
                      </a:endParaRPr>
                    </a:p>
                  </a:txBody>
                  <a:tcPr marL="95759" marR="95759" marT="47880" marB="478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spc="0" baseline="0" dirty="0">
                          <a:solidFill>
                            <a:srgbClr val="1C1A0E"/>
                          </a:solidFill>
                          <a:latin typeface="+mn-lt"/>
                          <a:sym typeface="Arial" panose="020B0604020202020204" pitchFamily="34" charset="0"/>
                        </a:rPr>
                        <a:t>piece</a:t>
                      </a:r>
                      <a:endParaRPr lang="en-US" sz="1400" spc="0" baseline="0" dirty="0">
                        <a:solidFill>
                          <a:srgbClr val="1C1A0E"/>
                        </a:solidFill>
                        <a:latin typeface="+mn-lt"/>
                        <a:sym typeface="Arial" panose="020B0604020202020204" pitchFamily="34" charset="0"/>
                      </a:endParaRPr>
                    </a:p>
                  </a:txBody>
                  <a:tcPr marL="95759" marR="95759" marT="47880" marB="478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spc="0" baseline="0" dirty="0">
                          <a:solidFill>
                            <a:srgbClr val="FFFFFF"/>
                          </a:solidFill>
                          <a:latin typeface="+mn-lt"/>
                          <a:sym typeface="Arial" panose="020B0604020202020204" pitchFamily="34" charset="0"/>
                        </a:rPr>
                        <a:t>5000</a:t>
                      </a:r>
                      <a:endParaRPr lang="en-US" sz="1600" spc="0" baseline="0" dirty="0">
                        <a:solidFill>
                          <a:srgbClr val="FFFFFF"/>
                        </a:solidFill>
                        <a:latin typeface="+mn-lt"/>
                        <a:sym typeface="Arial" panose="020B0604020202020204" pitchFamily="34" charset="0"/>
                      </a:endParaRPr>
                    </a:p>
                  </a:txBody>
                  <a:tcPr marL="95759" marR="95759" marT="47880" marB="47880" anchor="ctr"/>
                </a:tc>
              </a:tr>
              <a:tr h="4610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spc="0" baseline="0" dirty="0">
                          <a:solidFill>
                            <a:srgbClr val="1C1A0E"/>
                          </a:solidFill>
                          <a:latin typeface="+mn-lt"/>
                          <a:sym typeface="Arial" panose="020B0604020202020204" pitchFamily="34" charset="0"/>
                        </a:rPr>
                        <a:t>04</a:t>
                      </a:r>
                      <a:endParaRPr lang="en-US" sz="1400" spc="0" baseline="0" dirty="0">
                        <a:solidFill>
                          <a:srgbClr val="1C1A0E"/>
                        </a:solidFill>
                        <a:latin typeface="+mn-lt"/>
                        <a:sym typeface="Arial" panose="020B0604020202020204" pitchFamily="34" charset="0"/>
                      </a:endParaRPr>
                    </a:p>
                  </a:txBody>
                  <a:tcPr marL="13300" marR="13300" marT="13300" marB="4788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spc="0" baseline="0" dirty="0">
                          <a:solidFill>
                            <a:srgbClr val="1C1A0E"/>
                          </a:solidFill>
                          <a:latin typeface="+mn-lt"/>
                          <a:sym typeface="Arial" panose="020B0604020202020204" pitchFamily="34" charset="0"/>
                        </a:rPr>
                        <a:t>Product 4</a:t>
                      </a:r>
                      <a:endParaRPr lang="en-US" sz="1400" spc="0" baseline="0" dirty="0">
                        <a:solidFill>
                          <a:srgbClr val="1C1A0E"/>
                        </a:solidFill>
                        <a:latin typeface="+mn-lt"/>
                        <a:sym typeface="Arial" panose="020B0604020202020204" pitchFamily="34" charset="0"/>
                      </a:endParaRPr>
                    </a:p>
                  </a:txBody>
                  <a:tcPr marL="13300" marR="13300" marT="13300" marB="4788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400" spc="0" baseline="0" dirty="0">
                          <a:solidFill>
                            <a:srgbClr val="1C1A0E"/>
                          </a:solidFill>
                          <a:latin typeface="+mn-lt"/>
                          <a:sym typeface="Arial" panose="020B0604020202020204" pitchFamily="34" charset="0"/>
                        </a:rPr>
                        <a:t>888</a:t>
                      </a:r>
                      <a:endParaRPr lang="en-US" sz="1400" spc="0" baseline="0" dirty="0">
                        <a:solidFill>
                          <a:srgbClr val="1C1A0E"/>
                        </a:solidFill>
                        <a:latin typeface="+mn-lt"/>
                        <a:sym typeface="Arial" panose="020B0604020202020204" pitchFamily="34" charset="0"/>
                      </a:endParaRPr>
                    </a:p>
                  </a:txBody>
                  <a:tcPr marL="13300" marR="13300" marT="13300" marB="4788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400" spc="0" baseline="0" dirty="0">
                          <a:solidFill>
                            <a:srgbClr val="1C1A0E"/>
                          </a:solidFill>
                          <a:latin typeface="+mn-lt"/>
                          <a:sym typeface="Arial" panose="020B0604020202020204" pitchFamily="34" charset="0"/>
                        </a:rPr>
                        <a:t>piece</a:t>
                      </a:r>
                      <a:endParaRPr lang="en-US" sz="1400" spc="0" baseline="0" dirty="0">
                        <a:solidFill>
                          <a:srgbClr val="1C1A0E"/>
                        </a:solidFill>
                        <a:latin typeface="+mn-lt"/>
                        <a:sym typeface="Arial" panose="020B0604020202020204" pitchFamily="34" charset="0"/>
                      </a:endParaRPr>
                    </a:p>
                  </a:txBody>
                  <a:tcPr marL="13300" marR="13300" marT="13300" marB="4788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spc="0" baseline="0" dirty="0">
                          <a:solidFill>
                            <a:srgbClr val="FFFFFF"/>
                          </a:solidFill>
                          <a:latin typeface="+mn-lt"/>
                          <a:sym typeface="Arial" panose="020B0604020202020204" pitchFamily="34" charset="0"/>
                        </a:rPr>
                        <a:t>6000</a:t>
                      </a:r>
                      <a:endParaRPr lang="en-US" sz="1600" spc="0" baseline="0" dirty="0">
                        <a:solidFill>
                          <a:srgbClr val="FFFFFF"/>
                        </a:solidFill>
                        <a:latin typeface="+mn-lt"/>
                        <a:sym typeface="Arial" panose="020B0604020202020204" pitchFamily="34" charset="0"/>
                      </a:endParaRPr>
                    </a:p>
                  </a:txBody>
                  <a:tcPr marL="13300" marR="13300" marT="13300" marB="47880" anchor="ctr"/>
                </a:tc>
              </a:tr>
            </a:tbl>
          </a:graphicData>
        </a:graphic>
      </p:graphicFrame>
      <p:sp>
        <p:nvSpPr>
          <p:cNvPr id="44" name="矩形: 圆角 14"/>
          <p:cNvSpPr/>
          <p:nvPr>
            <p:custDataLst>
              <p:tags r:id="rId3"/>
            </p:custDataLst>
          </p:nvPr>
        </p:nvSpPr>
        <p:spPr>
          <a:xfrm>
            <a:off x="667385" y="1523365"/>
            <a:ext cx="10829925" cy="2303145"/>
          </a:xfrm>
          <a:prstGeom prst="roundRect">
            <a:avLst>
              <a:gd name="adj" fmla="val 9236"/>
            </a:avLst>
          </a:prstGeom>
          <a:solidFill>
            <a:srgbClr val="F9FBFA"/>
          </a:solidFill>
          <a:effectLst>
            <a:outerShdw blurRad="508000" dist="76200" dir="5399999" algn="bl" rotWithShape="0">
              <a:schemeClr val="accent1">
                <a:alpha val="20000"/>
              </a:schemeClr>
            </a:outerShdw>
          </a:effectLst>
        </p:spPr>
        <p:txBody>
          <a:bodyPr rtlCol="0" anchor="ctr"/>
          <a:lstStyle/>
          <a:p>
            <a:pPr algn="ctr"/>
            <a:endParaRPr kumimoji="1" lang="en-US" sz="3200">
              <a:latin typeface="+mj-lt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1460500" y="2427288"/>
            <a:ext cx="9472930" cy="121856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000000"/>
                </a:solidFill>
                <a:latin typeface="+mn-lt"/>
                <a:sym typeface="+mn-ea"/>
              </a:rPr>
              <a:t>Presentations are communication tools that can be used as demonstrations, lectures, speeches, reports, and more. It serves a variety of purposes, making presentations powerful tools for convincing and teaching.</a:t>
            </a:r>
            <a:endParaRPr lang="en-US" sz="1600" dirty="0">
              <a:solidFill>
                <a:srgbClr val="000000"/>
              </a:solidFill>
              <a:latin typeface="+mn-lt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1460500" y="1967548"/>
            <a:ext cx="9474200" cy="3492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+mj-lt"/>
                <a:sym typeface="+mn-ea"/>
              </a:rPr>
              <a:t>Combining similar data using operators like Union, Intersect and Except</a:t>
            </a:r>
            <a:endParaRPr lang="en-US" sz="2000" b="1" dirty="0">
              <a:solidFill>
                <a:srgbClr val="000000"/>
              </a:solidFill>
              <a:latin typeface="+mj-lt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Joins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20420" y="3437001"/>
            <a:ext cx="25628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What’s</a:t>
            </a:r>
            <a:r>
              <a:rPr sz="3200" b="1" spc="-17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needed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17541" y="1610690"/>
            <a:ext cx="548513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latin typeface="Calibri" panose="020F0502020204030204"/>
                <a:cs typeface="Calibri" panose="020F0502020204030204"/>
              </a:rPr>
              <a:t>To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join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tables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we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must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know: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spcBef>
                <a:spcPts val="2165"/>
              </a:spcBef>
              <a:buAutoNum type="arabicPeriod"/>
              <a:tabLst>
                <a:tab pos="35496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names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tables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to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be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joined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common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column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based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on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which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we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will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join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them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list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columns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from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each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table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79697" y="3455034"/>
          <a:ext cx="8278495" cy="1104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4685"/>
                <a:gridCol w="1003300"/>
                <a:gridCol w="698500"/>
                <a:gridCol w="704214"/>
                <a:gridCol w="876300"/>
                <a:gridCol w="774700"/>
                <a:gridCol w="1092200"/>
                <a:gridCol w="609600"/>
                <a:gridCol w="609600"/>
                <a:gridCol w="556895"/>
                <a:gridCol w="609600"/>
              </a:tblGrid>
              <a:tr h="182245"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Order</a:t>
                      </a:r>
                      <a:r>
                        <a:rPr sz="110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0" dirty="0">
                          <a:latin typeface="Calibri" panose="020F0502020204030204"/>
                          <a:cs typeface="Calibri" panose="020F0502020204030204"/>
                        </a:rPr>
                        <a:t>Line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Order</a:t>
                      </a:r>
                      <a:r>
                        <a:rPr sz="110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5" dirty="0">
                          <a:latin typeface="Calibri" panose="020F0502020204030204"/>
                          <a:cs typeface="Calibri" panose="020F0502020204030204"/>
                        </a:rPr>
                        <a:t>ID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Order</a:t>
                      </a:r>
                      <a:r>
                        <a:rPr sz="110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0" dirty="0">
                          <a:latin typeface="Calibri" panose="020F0502020204030204"/>
                          <a:cs typeface="Calibri" panose="020F0502020204030204"/>
                        </a:rPr>
                        <a:t>Date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Ship</a:t>
                      </a:r>
                      <a:r>
                        <a:rPr sz="110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0" dirty="0">
                          <a:latin typeface="Calibri" panose="020F0502020204030204"/>
                          <a:cs typeface="Calibri" panose="020F0502020204030204"/>
                        </a:rPr>
                        <a:t>Date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Ship</a:t>
                      </a:r>
                      <a:r>
                        <a:rPr sz="110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0" dirty="0">
                          <a:latin typeface="Calibri" panose="020F0502020204030204"/>
                          <a:cs typeface="Calibri" panose="020F0502020204030204"/>
                        </a:rPr>
                        <a:t>Mode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Customer</a:t>
                      </a:r>
                      <a:r>
                        <a:rPr sz="1100" b="1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5" dirty="0">
                          <a:latin typeface="Calibri" panose="020F0502020204030204"/>
                          <a:cs typeface="Calibri" panose="020F0502020204030204"/>
                        </a:rPr>
                        <a:t>ID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Product</a:t>
                      </a:r>
                      <a:r>
                        <a:rPr sz="1100" b="1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5" dirty="0">
                          <a:latin typeface="Calibri" panose="020F0502020204030204"/>
                          <a:cs typeface="Calibri" panose="020F0502020204030204"/>
                        </a:rPr>
                        <a:t>ID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Quantity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Discount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Profit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63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CA-2016-152156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08-11-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2016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11-11-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2016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Second</a:t>
                      </a:r>
                      <a:r>
                        <a:rPr sz="11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Class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CG-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12520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FUR-BO-10001798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261.96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41.9136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63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CA-2016-152156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08-11-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2016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11-11-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2016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Second</a:t>
                      </a:r>
                      <a:r>
                        <a:rPr sz="11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Class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CG-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12520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FUR-CH-10000454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731.94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219.582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63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CA-2016-138688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12-06-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2016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16-06-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2016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Second</a:t>
                      </a:r>
                      <a:r>
                        <a:rPr sz="11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Class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DV-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13045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OFF-LA-10000240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14.62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6.8714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63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US-2015-108966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11-10-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2015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18-10-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2015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Standard</a:t>
                      </a:r>
                      <a:r>
                        <a:rPr sz="11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Class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SO-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20335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FUR-TA-10000577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957.5775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0.45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5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-383.031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US-2015-108966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11-10-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2015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18-10-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2015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Standard</a:t>
                      </a:r>
                      <a:r>
                        <a:rPr sz="11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Class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SO-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20335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OFF-ST-10000760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22.368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0.2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2.5164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631690" y="4846954"/>
          <a:ext cx="6870700" cy="913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/>
                <a:gridCol w="1092200"/>
                <a:gridCol w="774700"/>
                <a:gridCol w="279400"/>
                <a:gridCol w="812800"/>
                <a:gridCol w="952500"/>
                <a:gridCol w="901700"/>
                <a:gridCol w="736600"/>
                <a:gridCol w="469900"/>
              </a:tblGrid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Customer</a:t>
                      </a:r>
                      <a:r>
                        <a:rPr sz="1100" b="1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5" dirty="0">
                          <a:latin typeface="Calibri" panose="020F0502020204030204"/>
                          <a:cs typeface="Calibri" panose="020F0502020204030204"/>
                        </a:rPr>
                        <a:t>ID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Customer</a:t>
                      </a:r>
                      <a:r>
                        <a:rPr sz="1100" b="1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0" dirty="0">
                          <a:latin typeface="Calibri" panose="020F0502020204030204"/>
                          <a:cs typeface="Calibri" panose="020F0502020204030204"/>
                        </a:rPr>
                        <a:t>Name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Segment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b="1" spc="-25" dirty="0">
                          <a:latin typeface="Calibri" panose="020F0502020204030204"/>
                          <a:cs typeface="Calibri" panose="020F0502020204030204"/>
                        </a:rPr>
                        <a:t>Age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Country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b="1" spc="-20" dirty="0">
                          <a:latin typeface="Calibri" panose="020F0502020204030204"/>
                          <a:cs typeface="Calibri" panose="020F0502020204030204"/>
                        </a:rPr>
                        <a:t>City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State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Postal</a:t>
                      </a:r>
                      <a:r>
                        <a:rPr sz="110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0" dirty="0">
                          <a:latin typeface="Calibri" panose="020F0502020204030204"/>
                          <a:cs typeface="Calibri" panose="020F0502020204030204"/>
                        </a:rPr>
                        <a:t>Code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Region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</a:tr>
              <a:tr h="182245">
                <a:tc>
                  <a:txBody>
                    <a:bodyPr/>
                    <a:lstStyle/>
                    <a:p>
                      <a:pPr marL="1905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CG-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12520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Claire</a:t>
                      </a: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Gute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Consumer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67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United</a:t>
                      </a:r>
                      <a:r>
                        <a:rPr sz="11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States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Henderson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Kentucky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42420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South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1905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DV-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13045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Darrin</a:t>
                      </a:r>
                      <a:r>
                        <a:rPr sz="11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Van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Huff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Corporate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31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United</a:t>
                      </a:r>
                      <a:r>
                        <a:rPr sz="11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States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Los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Angeles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California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90036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West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1905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SO-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20335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Sean</a:t>
                      </a:r>
                      <a:r>
                        <a:rPr sz="11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O'Donnell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Consumer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65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United</a:t>
                      </a:r>
                      <a:r>
                        <a:rPr sz="11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States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Fort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Lauderdale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Florida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33311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South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245">
                <a:tc>
                  <a:txBody>
                    <a:bodyPr/>
                    <a:lstStyle/>
                    <a:p>
                      <a:pPr marL="1905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BH-11710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Brosina</a:t>
                      </a:r>
                      <a:r>
                        <a:rPr sz="11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Hoffman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Consumer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United</a:t>
                      </a:r>
                      <a:r>
                        <a:rPr sz="11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States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 panose="020F0502020204030204"/>
                          <a:cs typeface="Calibri" panose="020F0502020204030204"/>
                        </a:rPr>
                        <a:t>Los</a:t>
                      </a: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Angeles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California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90032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0"/>
                        </a:lnSpc>
                        <a:spcBef>
                          <a:spcPts val="3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West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Relationship</a:t>
            </a:r>
            <a:r>
              <a:rPr spc="-13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–</a:t>
            </a:r>
            <a:r>
              <a:rPr spc="-12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performance</a:t>
            </a:r>
            <a:r>
              <a:rPr spc="-15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options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158996" y="3494532"/>
            <a:ext cx="2421890" cy="64643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0805" marR="243840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Are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postal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code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values </a:t>
            </a:r>
            <a:r>
              <a:rPr sz="1800" dirty="0">
                <a:latin typeface="Calibri" panose="020F0502020204030204"/>
                <a:cs typeface="Calibri" panose="020F0502020204030204"/>
              </a:rPr>
              <a:t>unique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this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table?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8547" y="3437001"/>
            <a:ext cx="18542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Cardinality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152010" y="1904619"/>
          <a:ext cx="2512060" cy="1323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6180"/>
                <a:gridCol w="1236345"/>
              </a:tblGrid>
              <a:tr h="2622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Customer</a:t>
                      </a:r>
                      <a:r>
                        <a:rPr sz="1400" b="1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25" dirty="0">
                          <a:latin typeface="Calibri" panose="020F0502020204030204"/>
                          <a:cs typeface="Calibri" panose="020F0502020204030204"/>
                        </a:rPr>
                        <a:t>ID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Postal</a:t>
                      </a:r>
                      <a:r>
                        <a:rPr sz="1400" b="1" spc="-8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20" dirty="0">
                          <a:latin typeface="Calibri" panose="020F0502020204030204"/>
                          <a:cs typeface="Calibri" panose="020F0502020204030204"/>
                        </a:rPr>
                        <a:t>code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CG-12520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42420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DV-13045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90036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SO-20335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33311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BH-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11710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90036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47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808214" y="1904619"/>
          <a:ext cx="3553460" cy="1904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7100"/>
                <a:gridCol w="1186180"/>
                <a:gridCol w="722630"/>
                <a:gridCol w="627379"/>
              </a:tblGrid>
              <a:tr h="23685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Postal</a:t>
                      </a:r>
                      <a:r>
                        <a:rPr sz="1400" b="1" spc="-8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20" dirty="0">
                          <a:latin typeface="Calibri" panose="020F0502020204030204"/>
                          <a:cs typeface="Calibri" panose="020F0502020204030204"/>
                        </a:rPr>
                        <a:t>code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b="1" spc="-20" dirty="0">
                          <a:latin typeface="Calibri" panose="020F0502020204030204"/>
                          <a:cs typeface="Calibri" panose="020F0502020204030204"/>
                        </a:rPr>
                        <a:t>City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State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Region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</a:tr>
              <a:tr h="23685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32303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Tallahassee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Florida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South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685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32725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Deltona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Florida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South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685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32935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Melbourne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Florida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South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37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33012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Hialeah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Florida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South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685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33311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Fort</a:t>
                      </a:r>
                      <a:r>
                        <a:rPr sz="14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Lauderdale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Florida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South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6854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.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.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.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.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6854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.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.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.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.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4158996" y="1345691"/>
            <a:ext cx="2421890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499745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Customer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table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15071" y="1345691"/>
            <a:ext cx="3464560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592455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Postal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code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master</a:t>
            </a:r>
            <a:r>
              <a:rPr sz="18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table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37735" y="5719673"/>
            <a:ext cx="722693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dirty="0">
                <a:latin typeface="Calibri" panose="020F0502020204030204"/>
                <a:cs typeface="Calibri" panose="020F0502020204030204"/>
              </a:rPr>
              <a:t>We</a:t>
            </a:r>
            <a:r>
              <a:rPr sz="1600" i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are</a:t>
            </a:r>
            <a:r>
              <a:rPr sz="1600" i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joining</a:t>
            </a:r>
            <a:r>
              <a:rPr sz="1600" i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customer</a:t>
            </a:r>
            <a:r>
              <a:rPr sz="1600" i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table</a:t>
            </a:r>
            <a:r>
              <a:rPr sz="1600" i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with</a:t>
            </a:r>
            <a:r>
              <a:rPr sz="1600" i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postal</a:t>
            </a:r>
            <a:r>
              <a:rPr sz="1600" i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code</a:t>
            </a:r>
            <a:r>
              <a:rPr sz="1600" i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master</a:t>
            </a:r>
            <a:r>
              <a:rPr sz="1600" i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-</a:t>
            </a:r>
            <a:r>
              <a:rPr sz="1600" i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postal</a:t>
            </a:r>
            <a:r>
              <a:rPr sz="1600" i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code</a:t>
            </a:r>
            <a:r>
              <a:rPr sz="1600" i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is</a:t>
            </a:r>
            <a:r>
              <a:rPr sz="1600" i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i="1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matching</a:t>
            </a:r>
            <a:r>
              <a:rPr sz="1600" i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spc="-25" dirty="0">
                <a:latin typeface="Calibri" panose="020F0502020204030204"/>
                <a:cs typeface="Calibri" panose="020F0502020204030204"/>
              </a:rPr>
              <a:t>key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58996" y="4261103"/>
            <a:ext cx="2421890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210185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Not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unique</a:t>
            </a:r>
            <a:r>
              <a:rPr sz="1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-&gt;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‘Many’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15071" y="3959352"/>
            <a:ext cx="3464560" cy="64643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2075" marR="360680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Are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postal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code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values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unique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in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this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table?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16468" y="4725923"/>
            <a:ext cx="2423160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476885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Unique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-&gt;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‘One’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28359" y="5230367"/>
            <a:ext cx="2423160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533400">
              <a:lnSpc>
                <a:spcPct val="100000"/>
              </a:lnSpc>
              <a:spcBef>
                <a:spcPts val="250"/>
              </a:spcBef>
            </a:pPr>
            <a:r>
              <a:rPr sz="18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‘Many</a:t>
            </a:r>
            <a:r>
              <a:rPr sz="1800" b="1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1800" b="1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One’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Relationship</a:t>
            </a:r>
            <a:r>
              <a:rPr spc="-13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–</a:t>
            </a:r>
            <a:r>
              <a:rPr spc="-12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performance</a:t>
            </a:r>
            <a:r>
              <a:rPr spc="-15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options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158996" y="3494532"/>
            <a:ext cx="2421890" cy="64643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0805" marR="299085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Is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customer </a:t>
            </a:r>
            <a:r>
              <a:rPr sz="1800" dirty="0">
                <a:latin typeface="Calibri" panose="020F0502020204030204"/>
                <a:cs typeface="Calibri" panose="020F0502020204030204"/>
              </a:rPr>
              <a:t>ID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unique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this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table?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8547" y="3437001"/>
            <a:ext cx="18542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Cardinality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152010" y="1904619"/>
          <a:ext cx="2512060" cy="1323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6180"/>
                <a:gridCol w="1236345"/>
              </a:tblGrid>
              <a:tr h="2622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Customer</a:t>
                      </a:r>
                      <a:r>
                        <a:rPr sz="1400" b="1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25" dirty="0">
                          <a:latin typeface="Calibri" panose="020F0502020204030204"/>
                          <a:cs typeface="Calibri" panose="020F0502020204030204"/>
                        </a:rPr>
                        <a:t>ID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Postal</a:t>
                      </a:r>
                      <a:r>
                        <a:rPr sz="1400" b="1" spc="-8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20" dirty="0">
                          <a:latin typeface="Calibri" panose="020F0502020204030204"/>
                          <a:cs typeface="Calibri" panose="020F0502020204030204"/>
                        </a:rPr>
                        <a:t>code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CG-12520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42420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DV-13045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90036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SO-20335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33311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BH-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11710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90036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47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4158996" y="1345691"/>
            <a:ext cx="2421890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499745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Customer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table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15071" y="1345691"/>
            <a:ext cx="3464560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1003935">
              <a:lnSpc>
                <a:spcPct val="100000"/>
              </a:lnSpc>
              <a:spcBef>
                <a:spcPts val="240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Reference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table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37735" y="5719673"/>
            <a:ext cx="69932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dirty="0">
                <a:latin typeface="Calibri" panose="020F0502020204030204"/>
                <a:cs typeface="Calibri" panose="020F0502020204030204"/>
              </a:rPr>
              <a:t>We</a:t>
            </a:r>
            <a:r>
              <a:rPr sz="1600" i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are</a:t>
            </a:r>
            <a:r>
              <a:rPr sz="1600" i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joining</a:t>
            </a:r>
            <a:r>
              <a:rPr sz="1600" i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customer</a:t>
            </a:r>
            <a:r>
              <a:rPr sz="1600" i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table</a:t>
            </a:r>
            <a:r>
              <a:rPr sz="1600" i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with</a:t>
            </a:r>
            <a:r>
              <a:rPr sz="1600" i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spc="-10" dirty="0">
                <a:latin typeface="Calibri" panose="020F0502020204030204"/>
                <a:cs typeface="Calibri" panose="020F0502020204030204"/>
              </a:rPr>
              <a:t>reference</a:t>
            </a:r>
            <a:r>
              <a:rPr sz="1600" i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table –</a:t>
            </a:r>
            <a:r>
              <a:rPr sz="1600" i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spc="-10" dirty="0">
                <a:latin typeface="Calibri" panose="020F0502020204030204"/>
                <a:cs typeface="Calibri" panose="020F0502020204030204"/>
              </a:rPr>
              <a:t>customer</a:t>
            </a:r>
            <a:r>
              <a:rPr sz="1600" i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ID</a:t>
            </a:r>
            <a:r>
              <a:rPr sz="1600" i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is</a:t>
            </a:r>
            <a:r>
              <a:rPr sz="1600" i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i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matching</a:t>
            </a:r>
            <a:r>
              <a:rPr sz="1600" i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spc="-25" dirty="0">
                <a:latin typeface="Calibri" panose="020F0502020204030204"/>
                <a:cs typeface="Calibri" panose="020F0502020204030204"/>
              </a:rPr>
              <a:t>key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58996" y="4261103"/>
            <a:ext cx="2421890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474980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Unique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-&gt;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‘One’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15071" y="3959352"/>
            <a:ext cx="3464560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Is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customer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ID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unique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this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table?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34756" y="4442459"/>
            <a:ext cx="2423160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211455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Not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unique</a:t>
            </a:r>
            <a:r>
              <a:rPr sz="1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-&gt;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‘Many’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28359" y="5230367"/>
            <a:ext cx="2423160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531495">
              <a:lnSpc>
                <a:spcPct val="100000"/>
              </a:lnSpc>
              <a:spcBef>
                <a:spcPts val="250"/>
              </a:spcBef>
            </a:pPr>
            <a:r>
              <a:rPr sz="18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‘One</a:t>
            </a:r>
            <a:r>
              <a:rPr sz="1800" b="1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1800" b="1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Many’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7808214" y="1903729"/>
          <a:ext cx="3553460" cy="1797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770"/>
                <a:gridCol w="1382395"/>
                <a:gridCol w="1001394"/>
              </a:tblGrid>
              <a:tr h="25527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Customer</a:t>
                      </a:r>
                      <a:r>
                        <a:rPr sz="1400" b="1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25" dirty="0">
                          <a:latin typeface="Calibri" panose="020F0502020204030204"/>
                          <a:cs typeface="Calibri" panose="020F0502020204030204"/>
                        </a:rPr>
                        <a:t>ID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Ref</a:t>
                      </a:r>
                      <a:r>
                        <a:rPr sz="1400" b="1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20" dirty="0">
                          <a:latin typeface="Calibri" panose="020F0502020204030204"/>
                          <a:cs typeface="Calibri" panose="020F0502020204030204"/>
                        </a:rPr>
                        <a:t>Name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Ref</a:t>
                      </a:r>
                      <a:r>
                        <a:rPr sz="1400" b="1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Contact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CG-12520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Cindy</a:t>
                      </a:r>
                      <a:r>
                        <a:rPr sz="14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Stewart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10897310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CM-11935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Dan</a:t>
                      </a:r>
                      <a:r>
                        <a:rPr sz="14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Campbell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16589278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CM-12385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Darren</a:t>
                      </a:r>
                      <a:r>
                        <a:rPr sz="14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Koutras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95721837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CG-12520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Denny</a:t>
                      </a:r>
                      <a:r>
                        <a:rPr sz="14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Ordway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16507437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CS-12355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Evan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Bailliet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76772276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CS-12460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Erica</a:t>
                      </a:r>
                      <a:r>
                        <a:rPr sz="14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Hackney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69524187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Relationship</a:t>
            </a:r>
            <a:r>
              <a:rPr spc="-13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–</a:t>
            </a:r>
            <a:r>
              <a:rPr spc="-12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performance</a:t>
            </a:r>
            <a:r>
              <a:rPr spc="-15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options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28547" y="3437001"/>
            <a:ext cx="18542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Cardinality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58867" y="1967483"/>
            <a:ext cx="5628640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586740">
              <a:lnSpc>
                <a:spcPct val="100000"/>
              </a:lnSpc>
              <a:spcBef>
                <a:spcPts val="235"/>
              </a:spcBef>
            </a:pPr>
            <a:r>
              <a:rPr sz="18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‘Many</a:t>
            </a:r>
            <a:r>
              <a:rPr sz="1800" b="1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1800" b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Many’</a:t>
            </a:r>
            <a:r>
              <a:rPr sz="1800" b="1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is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default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setting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Tableau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58867" y="2749295"/>
            <a:ext cx="5628640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It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will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not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give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wrong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visualizations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91000" y="3531108"/>
            <a:ext cx="6913245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We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can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improve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performance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slightly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if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we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specify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exact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cardinality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58867" y="4312920"/>
            <a:ext cx="5628640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Change</a:t>
            </a:r>
            <a:r>
              <a:rPr sz="18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only</a:t>
            </a:r>
            <a:r>
              <a:rPr sz="18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if</a:t>
            </a:r>
            <a:r>
              <a:rPr sz="18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you</a:t>
            </a:r>
            <a:r>
              <a:rPr sz="18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know</a:t>
            </a:r>
            <a:r>
              <a:rPr sz="18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what</a:t>
            </a:r>
            <a:r>
              <a:rPr sz="18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you</a:t>
            </a:r>
            <a:r>
              <a:rPr sz="18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are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doing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Relationship</a:t>
            </a:r>
            <a:r>
              <a:rPr spc="-13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–</a:t>
            </a:r>
            <a:r>
              <a:rPr spc="-12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performance</a:t>
            </a:r>
            <a:r>
              <a:rPr spc="-15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options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968496" y="3621023"/>
            <a:ext cx="2971800" cy="92392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0805" marR="288925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Are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all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customer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IDs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in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customer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table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also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present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reference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table?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9371" y="3259963"/>
            <a:ext cx="1875789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9710" marR="5080" indent="-207645">
              <a:lnSpc>
                <a:spcPct val="100000"/>
              </a:lnSpc>
              <a:spcBef>
                <a:spcPts val="105"/>
              </a:spcBef>
            </a:pPr>
            <a:r>
              <a:rPr sz="3200" b="1" spc="-3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Referential </a:t>
            </a: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Integrity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152010" y="1904619"/>
          <a:ext cx="2512060" cy="1323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6180"/>
                <a:gridCol w="1236345"/>
              </a:tblGrid>
              <a:tr h="2622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Customer</a:t>
                      </a:r>
                      <a:r>
                        <a:rPr sz="1400" b="1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25" dirty="0">
                          <a:latin typeface="Calibri" panose="020F0502020204030204"/>
                          <a:cs typeface="Calibri" panose="020F0502020204030204"/>
                        </a:rPr>
                        <a:t>ID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Postal</a:t>
                      </a:r>
                      <a:r>
                        <a:rPr sz="1400" b="1" spc="-8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20" dirty="0">
                          <a:latin typeface="Calibri" panose="020F0502020204030204"/>
                          <a:cs typeface="Calibri" panose="020F0502020204030204"/>
                        </a:rPr>
                        <a:t>code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CG-12520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42420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DV-13045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90036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SO-20335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33311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BH-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11710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90036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47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4158996" y="1345691"/>
            <a:ext cx="2421890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499745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Customer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table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15071" y="1345691"/>
            <a:ext cx="3464560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1003935">
              <a:lnSpc>
                <a:spcPct val="100000"/>
              </a:lnSpc>
              <a:spcBef>
                <a:spcPts val="240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Reference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table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37735" y="5719673"/>
            <a:ext cx="69932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dirty="0">
                <a:latin typeface="Calibri" panose="020F0502020204030204"/>
                <a:cs typeface="Calibri" panose="020F0502020204030204"/>
              </a:rPr>
              <a:t>We</a:t>
            </a:r>
            <a:r>
              <a:rPr sz="1600" i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are</a:t>
            </a:r>
            <a:r>
              <a:rPr sz="1600" i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joining</a:t>
            </a:r>
            <a:r>
              <a:rPr sz="1600" i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customer</a:t>
            </a:r>
            <a:r>
              <a:rPr sz="1600" i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table</a:t>
            </a:r>
            <a:r>
              <a:rPr sz="1600" i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with</a:t>
            </a:r>
            <a:r>
              <a:rPr sz="1600" i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spc="-10" dirty="0">
                <a:latin typeface="Calibri" panose="020F0502020204030204"/>
                <a:cs typeface="Calibri" panose="020F0502020204030204"/>
              </a:rPr>
              <a:t>reference</a:t>
            </a:r>
            <a:r>
              <a:rPr sz="1600" i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table –</a:t>
            </a:r>
            <a:r>
              <a:rPr sz="1600" i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spc="-10" dirty="0">
                <a:latin typeface="Calibri" panose="020F0502020204030204"/>
                <a:cs typeface="Calibri" panose="020F0502020204030204"/>
              </a:rPr>
              <a:t>customer</a:t>
            </a:r>
            <a:r>
              <a:rPr sz="1600" i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ID</a:t>
            </a:r>
            <a:r>
              <a:rPr sz="1600" i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is</a:t>
            </a:r>
            <a:r>
              <a:rPr sz="1600" i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i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dirty="0">
                <a:latin typeface="Calibri" panose="020F0502020204030204"/>
                <a:cs typeface="Calibri" panose="020F0502020204030204"/>
              </a:rPr>
              <a:t>matching</a:t>
            </a:r>
            <a:r>
              <a:rPr sz="1600" i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i="1" spc="-25" dirty="0">
                <a:latin typeface="Calibri" panose="020F0502020204030204"/>
                <a:cs typeface="Calibri" panose="020F0502020204030204"/>
              </a:rPr>
              <a:t>key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68496" y="4745735"/>
            <a:ext cx="2971800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No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-&gt;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‘Some</a:t>
            </a:r>
            <a:r>
              <a:rPr sz="1800" b="1" spc="-5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records</a:t>
            </a:r>
            <a:r>
              <a:rPr sz="1800" b="1" spc="-5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match’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52588" y="3887723"/>
            <a:ext cx="3778250" cy="64643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2075" marR="134620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Are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all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customer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IDs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reference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table </a:t>
            </a:r>
            <a:r>
              <a:rPr sz="1800" dirty="0">
                <a:latin typeface="Calibri" panose="020F0502020204030204"/>
                <a:cs typeface="Calibri" panose="020F0502020204030204"/>
              </a:rPr>
              <a:t>also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present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customer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table?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52588" y="4745735"/>
            <a:ext cx="3778250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721995">
              <a:lnSpc>
                <a:spcPct val="100000"/>
              </a:lnSpc>
              <a:spcBef>
                <a:spcPts val="250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Yes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-&gt;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‘All</a:t>
            </a:r>
            <a:r>
              <a:rPr sz="1800" b="1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records</a:t>
            </a:r>
            <a:r>
              <a:rPr sz="1800" b="1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match’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7808214" y="1903729"/>
          <a:ext cx="3553460" cy="1797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770"/>
                <a:gridCol w="1382395"/>
                <a:gridCol w="1001394"/>
              </a:tblGrid>
              <a:tr h="25527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Customer</a:t>
                      </a:r>
                      <a:r>
                        <a:rPr sz="1400" b="1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25" dirty="0">
                          <a:latin typeface="Calibri" panose="020F0502020204030204"/>
                          <a:cs typeface="Calibri" panose="020F0502020204030204"/>
                        </a:rPr>
                        <a:t>ID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Ref</a:t>
                      </a:r>
                      <a:r>
                        <a:rPr sz="1400" b="1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20" dirty="0">
                          <a:latin typeface="Calibri" panose="020F0502020204030204"/>
                          <a:cs typeface="Calibri" panose="020F0502020204030204"/>
                        </a:rPr>
                        <a:t>Name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Ref</a:t>
                      </a:r>
                      <a:r>
                        <a:rPr sz="1400" b="1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Contact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CG-12520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Cindy</a:t>
                      </a:r>
                      <a:r>
                        <a:rPr sz="14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Stewart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10897310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CM-11935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Dan</a:t>
                      </a:r>
                      <a:r>
                        <a:rPr sz="14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Campbell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16589278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CM-12385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Darren</a:t>
                      </a:r>
                      <a:r>
                        <a:rPr sz="14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Koutras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95721837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CG-12520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Denny</a:t>
                      </a:r>
                      <a:r>
                        <a:rPr sz="14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Ordway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16507437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CS-12355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Evan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Bailliet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76772276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CS-12460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Erica</a:t>
                      </a:r>
                      <a:r>
                        <a:rPr sz="14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Hackney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69524187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Relationship</a:t>
            </a:r>
            <a:r>
              <a:rPr spc="-13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–</a:t>
            </a:r>
            <a:r>
              <a:rPr spc="-12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performance</a:t>
            </a:r>
            <a:r>
              <a:rPr spc="-15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options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658867" y="1967483"/>
            <a:ext cx="5628640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18135">
              <a:lnSpc>
                <a:spcPct val="100000"/>
              </a:lnSpc>
              <a:spcBef>
                <a:spcPts val="235"/>
              </a:spcBef>
            </a:pPr>
            <a:r>
              <a:rPr sz="18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‘Some</a:t>
            </a:r>
            <a:r>
              <a:rPr sz="1800" b="1" spc="-5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records</a:t>
            </a:r>
            <a:r>
              <a:rPr sz="1800" b="1" spc="-6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match’</a:t>
            </a:r>
            <a:r>
              <a:rPr sz="1800" b="1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is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default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setting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Tableau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58867" y="2749295"/>
            <a:ext cx="5628640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It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will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not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give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wrong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visualizations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91000" y="3531108"/>
            <a:ext cx="6913245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We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can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improve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performance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if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we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specify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exact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referential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integrity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9371" y="3259963"/>
            <a:ext cx="1875789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9710" marR="5080" indent="-207645">
              <a:lnSpc>
                <a:spcPct val="100000"/>
              </a:lnSpc>
              <a:spcBef>
                <a:spcPts val="105"/>
              </a:spcBef>
            </a:pPr>
            <a:r>
              <a:rPr sz="3200" b="1" spc="-3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Referential </a:t>
            </a: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Integrity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58867" y="4312920"/>
            <a:ext cx="5628640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Change</a:t>
            </a:r>
            <a:r>
              <a:rPr sz="18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only</a:t>
            </a:r>
            <a:r>
              <a:rPr sz="18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if</a:t>
            </a:r>
            <a:r>
              <a:rPr sz="18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you</a:t>
            </a:r>
            <a:r>
              <a:rPr sz="18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know</a:t>
            </a:r>
            <a:r>
              <a:rPr sz="18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what</a:t>
            </a:r>
            <a:r>
              <a:rPr sz="18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you</a:t>
            </a:r>
            <a:r>
              <a:rPr sz="18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are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doing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Physical</a:t>
            </a:r>
            <a:r>
              <a:rPr spc="-150" dirty="0"/>
              <a:t> </a:t>
            </a:r>
            <a:r>
              <a:rPr dirty="0"/>
              <a:t>vs</a:t>
            </a:r>
            <a:r>
              <a:rPr spc="-145" dirty="0"/>
              <a:t> </a:t>
            </a:r>
            <a:r>
              <a:rPr dirty="0"/>
              <a:t>Logical</a:t>
            </a:r>
            <a:r>
              <a:rPr spc="-145" dirty="0"/>
              <a:t> </a:t>
            </a:r>
            <a:r>
              <a:rPr spc="-10" dirty="0"/>
              <a:t>layer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6145529" y="2394966"/>
            <a:ext cx="0" cy="3596640"/>
          </a:xfrm>
          <a:custGeom>
            <a:avLst/>
            <a:gdLst/>
            <a:ahLst/>
            <a:cxnLst/>
            <a:rect l="l" t="t" r="r" b="b"/>
            <a:pathLst>
              <a:path h="3596640">
                <a:moveTo>
                  <a:pt x="0" y="0"/>
                </a:moveTo>
                <a:lnTo>
                  <a:pt x="0" y="359658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967732" y="1283334"/>
            <a:ext cx="22574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Observations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2044" y="2413253"/>
            <a:ext cx="374015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237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 panose="020F0502020204030204"/>
                <a:cs typeface="Calibri" panose="020F0502020204030204"/>
              </a:rPr>
              <a:t>Physical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20" dirty="0">
                <a:latin typeface="Calibri" panose="020F0502020204030204"/>
                <a:cs typeface="Calibri" panose="020F0502020204030204"/>
              </a:rPr>
              <a:t>Layer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99085" indent="-286385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We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can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do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Join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and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Union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here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99085" marR="5080" indent="-28702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Result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joining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and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union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is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single table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46214" y="2413253"/>
            <a:ext cx="4015104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Logical</a:t>
            </a:r>
            <a:r>
              <a:rPr sz="18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20" dirty="0">
                <a:latin typeface="Calibri" panose="020F0502020204030204"/>
                <a:cs typeface="Calibri" panose="020F0502020204030204"/>
              </a:rPr>
              <a:t>Layer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99085" indent="-286385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Single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logical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table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can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have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multiple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Calibri" panose="020F0502020204030204"/>
                <a:cs typeface="Calibri" panose="020F0502020204030204"/>
              </a:rPr>
              <a:t>joined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and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Union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tables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99085" indent="-286385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Relationships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can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be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defined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–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‘Noodles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99085" indent="-286385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Related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tables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remain</a:t>
            </a:r>
            <a:r>
              <a:rPr sz="18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individual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tables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Physical</a:t>
            </a:r>
            <a:r>
              <a:rPr spc="-15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vs</a:t>
            </a:r>
            <a:r>
              <a:rPr spc="-14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Logical</a:t>
            </a:r>
            <a:r>
              <a:rPr spc="-14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layer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8786" y="1226312"/>
            <a:ext cx="374522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Data</a:t>
            </a:r>
            <a:r>
              <a:rPr sz="3200" b="1" spc="-5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Model</a:t>
            </a:r>
            <a:r>
              <a:rPr sz="3200" b="1" spc="-4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3200" b="1" spc="-25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Example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72611" y="4062984"/>
            <a:ext cx="1333500" cy="46481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88592" y="4082796"/>
            <a:ext cx="1684020" cy="390525"/>
          </a:xfrm>
          <a:prstGeom prst="rect">
            <a:avLst/>
          </a:prstGeom>
          <a:solidFill>
            <a:srgbClr val="7EB5C8">
              <a:alpha val="19999"/>
            </a:srgbClr>
          </a:solidFill>
          <a:ln w="12192">
            <a:solidFill>
              <a:srgbClr val="085091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336550">
              <a:lnSpc>
                <a:spcPct val="100000"/>
              </a:lnSpc>
              <a:spcBef>
                <a:spcPts val="340"/>
              </a:spcBef>
            </a:pP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Sales</a:t>
            </a:r>
            <a:r>
              <a:rPr sz="180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Table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06111" y="4082796"/>
            <a:ext cx="1685925" cy="390525"/>
          </a:xfrm>
          <a:prstGeom prst="rect">
            <a:avLst/>
          </a:prstGeom>
          <a:solidFill>
            <a:srgbClr val="7EB5C8">
              <a:alpha val="19999"/>
            </a:srgbClr>
          </a:solidFill>
          <a:ln w="12192">
            <a:solidFill>
              <a:srgbClr val="085091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340"/>
              </a:spcBef>
            </a:pPr>
            <a:r>
              <a:rPr sz="18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Customer</a:t>
            </a:r>
            <a:r>
              <a:rPr sz="1800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Table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53400" y="3986784"/>
            <a:ext cx="2447925" cy="388620"/>
          </a:xfrm>
          <a:prstGeom prst="rect">
            <a:avLst/>
          </a:prstGeom>
          <a:solidFill>
            <a:srgbClr val="7EB5C8">
              <a:alpha val="19999"/>
            </a:srgbClr>
          </a:solidFill>
          <a:ln w="12192">
            <a:solidFill>
              <a:srgbClr val="085091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330"/>
              </a:spcBef>
            </a:pP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Online</a:t>
            </a:r>
            <a:r>
              <a:rPr sz="180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Products</a:t>
            </a:r>
            <a:r>
              <a:rPr sz="18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Table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53400" y="5442203"/>
            <a:ext cx="2447925" cy="388620"/>
          </a:xfrm>
          <a:prstGeom prst="rect">
            <a:avLst/>
          </a:prstGeom>
          <a:solidFill>
            <a:srgbClr val="7EB5C8">
              <a:alpha val="19999"/>
            </a:srgbClr>
          </a:solidFill>
          <a:ln w="12192">
            <a:solidFill>
              <a:srgbClr val="085091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335"/>
              </a:spcBef>
            </a:pPr>
            <a:r>
              <a:rPr sz="18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Archived</a:t>
            </a:r>
            <a:r>
              <a:rPr sz="1800" spc="-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Products</a:t>
            </a:r>
            <a:r>
              <a:rPr sz="1800" spc="-6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Table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53400" y="4707635"/>
            <a:ext cx="2447925" cy="388620"/>
          </a:xfrm>
          <a:prstGeom prst="rect">
            <a:avLst/>
          </a:prstGeom>
          <a:solidFill>
            <a:srgbClr val="7EB5C8">
              <a:alpha val="19999"/>
            </a:srgbClr>
          </a:solidFill>
          <a:ln w="12192">
            <a:solidFill>
              <a:srgbClr val="085091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335"/>
              </a:spcBef>
            </a:pP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Offline</a:t>
            </a:r>
            <a:r>
              <a:rPr sz="1800" spc="-7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Products</a:t>
            </a:r>
            <a:r>
              <a:rPr sz="1800" spc="-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Table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248483" y="4420539"/>
            <a:ext cx="260350" cy="260985"/>
          </a:xfrm>
          <a:custGeom>
            <a:avLst/>
            <a:gdLst/>
            <a:ahLst/>
            <a:cxnLst/>
            <a:rect l="l" t="t" r="r" b="b"/>
            <a:pathLst>
              <a:path w="260350" h="260985">
                <a:moveTo>
                  <a:pt x="259930" y="110528"/>
                </a:moveTo>
                <a:lnTo>
                  <a:pt x="149453" y="110528"/>
                </a:lnTo>
                <a:lnTo>
                  <a:pt x="149453" y="0"/>
                </a:lnTo>
                <a:lnTo>
                  <a:pt x="110464" y="0"/>
                </a:lnTo>
                <a:lnTo>
                  <a:pt x="110464" y="110528"/>
                </a:lnTo>
                <a:lnTo>
                  <a:pt x="0" y="110528"/>
                </a:lnTo>
                <a:lnTo>
                  <a:pt x="0" y="149910"/>
                </a:lnTo>
                <a:lnTo>
                  <a:pt x="110464" y="149910"/>
                </a:lnTo>
                <a:lnTo>
                  <a:pt x="110464" y="260426"/>
                </a:lnTo>
                <a:lnTo>
                  <a:pt x="149453" y="260426"/>
                </a:lnTo>
                <a:lnTo>
                  <a:pt x="149453" y="149910"/>
                </a:lnTo>
                <a:lnTo>
                  <a:pt x="259930" y="149910"/>
                </a:lnTo>
                <a:lnTo>
                  <a:pt x="259930" y="110528"/>
                </a:lnTo>
                <a:close/>
              </a:path>
            </a:pathLst>
          </a:custGeom>
          <a:solidFill>
            <a:srgbClr val="7EB5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248483" y="5141391"/>
            <a:ext cx="260350" cy="260985"/>
          </a:xfrm>
          <a:custGeom>
            <a:avLst/>
            <a:gdLst/>
            <a:ahLst/>
            <a:cxnLst/>
            <a:rect l="l" t="t" r="r" b="b"/>
            <a:pathLst>
              <a:path w="260350" h="260985">
                <a:moveTo>
                  <a:pt x="259930" y="110528"/>
                </a:moveTo>
                <a:lnTo>
                  <a:pt x="149453" y="110528"/>
                </a:lnTo>
                <a:lnTo>
                  <a:pt x="149453" y="0"/>
                </a:lnTo>
                <a:lnTo>
                  <a:pt x="110464" y="0"/>
                </a:lnTo>
                <a:lnTo>
                  <a:pt x="110464" y="110528"/>
                </a:lnTo>
                <a:lnTo>
                  <a:pt x="0" y="110528"/>
                </a:lnTo>
                <a:lnTo>
                  <a:pt x="0" y="149910"/>
                </a:lnTo>
                <a:lnTo>
                  <a:pt x="110464" y="149910"/>
                </a:lnTo>
                <a:lnTo>
                  <a:pt x="110464" y="260426"/>
                </a:lnTo>
                <a:lnTo>
                  <a:pt x="149453" y="260426"/>
                </a:lnTo>
                <a:lnTo>
                  <a:pt x="149453" y="149910"/>
                </a:lnTo>
                <a:lnTo>
                  <a:pt x="259930" y="149910"/>
                </a:lnTo>
                <a:lnTo>
                  <a:pt x="259930" y="110528"/>
                </a:lnTo>
                <a:close/>
              </a:path>
            </a:pathLst>
          </a:custGeom>
          <a:solidFill>
            <a:srgbClr val="7EB5C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/>
          <p:cNvGrpSpPr/>
          <p:nvPr/>
        </p:nvGrpSpPr>
        <p:grpSpPr>
          <a:xfrm>
            <a:off x="1283208" y="1905000"/>
            <a:ext cx="9685020" cy="2101850"/>
            <a:chOff x="1283208" y="1905000"/>
            <a:chExt cx="9685020" cy="2101850"/>
          </a:xfrm>
        </p:grpSpPr>
        <p:sp>
          <p:nvSpPr>
            <p:cNvPr id="13" name="object 13"/>
            <p:cNvSpPr/>
            <p:nvPr/>
          </p:nvSpPr>
          <p:spPr>
            <a:xfrm>
              <a:off x="1689354" y="2943605"/>
              <a:ext cx="8913495" cy="1043940"/>
            </a:xfrm>
            <a:custGeom>
              <a:avLst/>
              <a:gdLst/>
              <a:ahLst/>
              <a:cxnLst/>
              <a:rect l="l" t="t" r="r" b="b"/>
              <a:pathLst>
                <a:path w="8913495" h="1043939">
                  <a:moveTo>
                    <a:pt x="2119248" y="56388"/>
                  </a:moveTo>
                  <a:lnTo>
                    <a:pt x="0" y="1043686"/>
                  </a:lnTo>
                </a:path>
                <a:path w="8913495" h="1043939">
                  <a:moveTo>
                    <a:pt x="2612135" y="56388"/>
                  </a:moveTo>
                  <a:lnTo>
                    <a:pt x="4702175" y="1043686"/>
                  </a:lnTo>
                </a:path>
                <a:path w="8913495" h="1043939">
                  <a:moveTo>
                    <a:pt x="7407021" y="0"/>
                  </a:moveTo>
                  <a:lnTo>
                    <a:pt x="6464808" y="1023239"/>
                  </a:lnTo>
                </a:path>
                <a:path w="8913495" h="1043939">
                  <a:moveTo>
                    <a:pt x="7965948" y="16764"/>
                  </a:moveTo>
                  <a:lnTo>
                    <a:pt x="8912987" y="981075"/>
                  </a:lnTo>
                </a:path>
              </a:pathLst>
            </a:custGeom>
            <a:ln w="38100">
              <a:solidFill>
                <a:srgbClr val="7EB5C8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289304" y="1911095"/>
              <a:ext cx="9672955" cy="1270000"/>
            </a:xfrm>
            <a:custGeom>
              <a:avLst/>
              <a:gdLst/>
              <a:ahLst/>
              <a:cxnLst/>
              <a:rect l="l" t="t" r="r" b="b"/>
              <a:pathLst>
                <a:path w="9672955" h="1270000">
                  <a:moveTo>
                    <a:pt x="9672828" y="0"/>
                  </a:moveTo>
                  <a:lnTo>
                    <a:pt x="0" y="0"/>
                  </a:lnTo>
                  <a:lnTo>
                    <a:pt x="0" y="1269491"/>
                  </a:lnTo>
                  <a:lnTo>
                    <a:pt x="9672828" y="1269491"/>
                  </a:lnTo>
                  <a:lnTo>
                    <a:pt x="9672828" y="0"/>
                  </a:lnTo>
                  <a:close/>
                </a:path>
              </a:pathLst>
            </a:custGeom>
            <a:solidFill>
              <a:srgbClr val="0E6EC5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289304" y="1911095"/>
              <a:ext cx="9672955" cy="1270000"/>
            </a:xfrm>
            <a:custGeom>
              <a:avLst/>
              <a:gdLst/>
              <a:ahLst/>
              <a:cxnLst/>
              <a:rect l="l" t="t" r="r" b="b"/>
              <a:pathLst>
                <a:path w="9672955" h="1270000">
                  <a:moveTo>
                    <a:pt x="0" y="1269491"/>
                  </a:moveTo>
                  <a:lnTo>
                    <a:pt x="9672828" y="1269491"/>
                  </a:lnTo>
                  <a:lnTo>
                    <a:pt x="9672828" y="0"/>
                  </a:lnTo>
                  <a:lnTo>
                    <a:pt x="0" y="0"/>
                  </a:lnTo>
                  <a:lnTo>
                    <a:pt x="0" y="1269491"/>
                  </a:lnTo>
                  <a:close/>
                </a:path>
              </a:pathLst>
            </a:custGeom>
            <a:ln w="12192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810255" y="2188464"/>
          <a:ext cx="7873365" cy="706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47290"/>
                <a:gridCol w="2889250"/>
                <a:gridCol w="2447290"/>
              </a:tblGrid>
              <a:tr h="353060">
                <a:tc rowSpan="2">
                  <a:txBody>
                    <a:bodyPr/>
                    <a:lstStyle/>
                    <a:p>
                      <a:pPr marL="700405" marR="304165" indent="-390525">
                        <a:lnSpc>
                          <a:spcPct val="100000"/>
                        </a:lnSpc>
                        <a:spcBef>
                          <a:spcPts val="51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Sales</a:t>
                      </a:r>
                      <a:r>
                        <a:rPr sz="1800" spc="-3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800" spc="-3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Customer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joined</a:t>
                      </a:r>
                      <a:r>
                        <a:rPr sz="1800" spc="-6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data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85091"/>
                      </a:solidFill>
                      <a:prstDash val="solid"/>
                    </a:lnL>
                    <a:lnR w="12700">
                      <a:solidFill>
                        <a:srgbClr val="085091"/>
                      </a:solidFill>
                      <a:prstDash val="solid"/>
                    </a:lnR>
                    <a:lnT w="12700">
                      <a:solidFill>
                        <a:srgbClr val="085091"/>
                      </a:solidFill>
                      <a:prstDash val="solid"/>
                    </a:lnT>
                    <a:lnB w="12700">
                      <a:solidFill>
                        <a:srgbClr val="085091"/>
                      </a:solidFill>
                      <a:prstDash val="solid"/>
                    </a:lnB>
                    <a:solidFill>
                      <a:srgbClr val="0E6EC5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883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Relationship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85091"/>
                      </a:solidFill>
                      <a:prstDash val="solid"/>
                    </a:lnL>
                    <a:lnR w="12700">
                      <a:solidFill>
                        <a:srgbClr val="085091"/>
                      </a:solidFill>
                      <a:prstDash val="solid"/>
                    </a:lnR>
                    <a:lnB w="6350">
                      <a:solidFill>
                        <a:srgbClr val="0E6EC5"/>
                      </a:solidFill>
                      <a:prstDash val="solid"/>
                    </a:lnB>
                    <a:solidFill>
                      <a:srgbClr val="0E6EC5">
                        <a:alpha val="19999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97180" marR="106045" indent="-181610">
                        <a:lnSpc>
                          <a:spcPct val="100000"/>
                        </a:lnSpc>
                        <a:spcBef>
                          <a:spcPts val="51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Product</a:t>
                      </a:r>
                      <a:r>
                        <a:rPr sz="1800" spc="-5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Master</a:t>
                      </a:r>
                      <a:r>
                        <a:rPr sz="1800" spc="-4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–</a:t>
                      </a:r>
                      <a:r>
                        <a:rPr sz="1800" spc="-6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Union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800" spc="-4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all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product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tables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85091"/>
                      </a:solidFill>
                      <a:prstDash val="solid"/>
                    </a:lnL>
                    <a:lnR w="12700">
                      <a:solidFill>
                        <a:srgbClr val="085091"/>
                      </a:solidFill>
                      <a:prstDash val="solid"/>
                    </a:lnR>
                    <a:lnT w="12700">
                      <a:solidFill>
                        <a:srgbClr val="085091"/>
                      </a:solidFill>
                      <a:prstDash val="solid"/>
                    </a:lnT>
                    <a:lnB w="12700">
                      <a:solidFill>
                        <a:srgbClr val="085091"/>
                      </a:solidFill>
                      <a:prstDash val="solid"/>
                    </a:lnB>
                    <a:solidFill>
                      <a:srgbClr val="0E6EC5">
                        <a:alpha val="19999"/>
                      </a:srgbClr>
                    </a:solidFill>
                  </a:tcPr>
                </a:tc>
              </a:tr>
              <a:tr h="353060">
                <a:tc vMerge="1">
                  <a:tcPr marL="0" marR="0" marT="64769" marB="0">
                    <a:lnL w="12700">
                      <a:solidFill>
                        <a:srgbClr val="085091"/>
                      </a:solidFill>
                      <a:prstDash val="solid"/>
                    </a:lnL>
                    <a:lnR w="12700">
                      <a:solidFill>
                        <a:srgbClr val="085091"/>
                      </a:solidFill>
                      <a:prstDash val="solid"/>
                    </a:lnR>
                    <a:lnT w="12700">
                      <a:solidFill>
                        <a:srgbClr val="085091"/>
                      </a:solidFill>
                      <a:prstDash val="solid"/>
                    </a:lnT>
                    <a:lnB w="12700">
                      <a:solidFill>
                        <a:srgbClr val="085091"/>
                      </a:solidFill>
                      <a:prstDash val="solid"/>
                    </a:lnB>
                    <a:solidFill>
                      <a:srgbClr val="0E6EC5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85091"/>
                      </a:solidFill>
                      <a:prstDash val="solid"/>
                    </a:lnL>
                    <a:lnR w="12700">
                      <a:solidFill>
                        <a:srgbClr val="085091"/>
                      </a:solidFill>
                      <a:prstDash val="solid"/>
                    </a:lnR>
                    <a:lnT w="6350">
                      <a:solidFill>
                        <a:srgbClr val="0E6EC5"/>
                      </a:solidFill>
                      <a:prstDash val="solid"/>
                    </a:lnT>
                    <a:solidFill>
                      <a:srgbClr val="0E6EC5">
                        <a:alpha val="19999"/>
                      </a:srgbClr>
                    </a:solidFill>
                  </a:tcPr>
                </a:tc>
                <a:tc vMerge="1">
                  <a:tcPr marL="0" marR="0" marT="64769" marB="0">
                    <a:lnL w="12700">
                      <a:solidFill>
                        <a:srgbClr val="085091"/>
                      </a:solidFill>
                      <a:prstDash val="solid"/>
                    </a:lnL>
                    <a:lnR w="12700">
                      <a:solidFill>
                        <a:srgbClr val="085091"/>
                      </a:solidFill>
                      <a:prstDash val="solid"/>
                    </a:lnR>
                    <a:lnT w="12700">
                      <a:solidFill>
                        <a:srgbClr val="085091"/>
                      </a:solidFill>
                      <a:prstDash val="solid"/>
                    </a:lnT>
                    <a:lnB w="12700">
                      <a:solidFill>
                        <a:srgbClr val="085091"/>
                      </a:solidFill>
                      <a:prstDash val="solid"/>
                    </a:lnB>
                    <a:solidFill>
                      <a:srgbClr val="0E6EC5">
                        <a:alpha val="1999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1289303" y="3776471"/>
            <a:ext cx="9672955" cy="2192020"/>
          </a:xfrm>
          <a:prstGeom prst="rect">
            <a:avLst/>
          </a:prstGeom>
          <a:solidFill>
            <a:srgbClr val="7EB5C8">
              <a:alpha val="19999"/>
            </a:srgbClr>
          </a:solidFill>
          <a:ln w="12192">
            <a:solidFill>
              <a:srgbClr val="08509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8350885">
              <a:lnSpc>
                <a:spcPts val="2000"/>
              </a:lnSpc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Union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546985">
              <a:lnSpc>
                <a:spcPts val="2000"/>
              </a:lnSpc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Join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8338185">
              <a:lnSpc>
                <a:spcPct val="100000"/>
              </a:lnSpc>
              <a:spcBef>
                <a:spcPts val="1655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Union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5861" y="4572127"/>
            <a:ext cx="7594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Physical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Layer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7372" y="2273300"/>
            <a:ext cx="6591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Logical Layer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3208" y="4157471"/>
            <a:ext cx="9685020" cy="1816735"/>
            <a:chOff x="1283208" y="4157471"/>
            <a:chExt cx="9685020" cy="1816735"/>
          </a:xfrm>
        </p:grpSpPr>
        <p:sp>
          <p:nvSpPr>
            <p:cNvPr id="3" name="object 3"/>
            <p:cNvSpPr/>
            <p:nvPr/>
          </p:nvSpPr>
          <p:spPr>
            <a:xfrm>
              <a:off x="1289304" y="4163567"/>
              <a:ext cx="9672955" cy="1804670"/>
            </a:xfrm>
            <a:custGeom>
              <a:avLst/>
              <a:gdLst/>
              <a:ahLst/>
              <a:cxnLst/>
              <a:rect l="l" t="t" r="r" b="b"/>
              <a:pathLst>
                <a:path w="9672955" h="1804670">
                  <a:moveTo>
                    <a:pt x="9672828" y="0"/>
                  </a:moveTo>
                  <a:lnTo>
                    <a:pt x="0" y="0"/>
                  </a:lnTo>
                  <a:lnTo>
                    <a:pt x="0" y="1804416"/>
                  </a:lnTo>
                  <a:lnTo>
                    <a:pt x="9672828" y="1804416"/>
                  </a:lnTo>
                  <a:lnTo>
                    <a:pt x="9672828" y="0"/>
                  </a:lnTo>
                  <a:close/>
                </a:path>
              </a:pathLst>
            </a:custGeom>
            <a:solidFill>
              <a:srgbClr val="7EB5C8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89304" y="4163567"/>
              <a:ext cx="9672955" cy="1804670"/>
            </a:xfrm>
            <a:custGeom>
              <a:avLst/>
              <a:gdLst/>
              <a:ahLst/>
              <a:cxnLst/>
              <a:rect l="l" t="t" r="r" b="b"/>
              <a:pathLst>
                <a:path w="9672955" h="1804670">
                  <a:moveTo>
                    <a:pt x="0" y="1804416"/>
                  </a:moveTo>
                  <a:lnTo>
                    <a:pt x="9672828" y="1804416"/>
                  </a:lnTo>
                  <a:lnTo>
                    <a:pt x="9672828" y="0"/>
                  </a:lnTo>
                  <a:lnTo>
                    <a:pt x="0" y="0"/>
                  </a:lnTo>
                  <a:lnTo>
                    <a:pt x="0" y="1804416"/>
                  </a:lnTo>
                  <a:close/>
                </a:path>
              </a:pathLst>
            </a:custGeom>
            <a:ln w="12191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1282953" y="1904745"/>
            <a:ext cx="9685655" cy="1817370"/>
            <a:chOff x="1282953" y="1904745"/>
            <a:chExt cx="9685655" cy="1817370"/>
          </a:xfrm>
        </p:grpSpPr>
        <p:sp>
          <p:nvSpPr>
            <p:cNvPr id="6" name="object 6"/>
            <p:cNvSpPr/>
            <p:nvPr/>
          </p:nvSpPr>
          <p:spPr>
            <a:xfrm>
              <a:off x="1289303" y="1911095"/>
              <a:ext cx="9672955" cy="1804670"/>
            </a:xfrm>
            <a:custGeom>
              <a:avLst/>
              <a:gdLst/>
              <a:ahLst/>
              <a:cxnLst/>
              <a:rect l="l" t="t" r="r" b="b"/>
              <a:pathLst>
                <a:path w="9672955" h="1804670">
                  <a:moveTo>
                    <a:pt x="9672828" y="0"/>
                  </a:moveTo>
                  <a:lnTo>
                    <a:pt x="0" y="0"/>
                  </a:lnTo>
                  <a:lnTo>
                    <a:pt x="0" y="1804415"/>
                  </a:lnTo>
                  <a:lnTo>
                    <a:pt x="9672828" y="1804415"/>
                  </a:lnTo>
                  <a:lnTo>
                    <a:pt x="9672828" y="0"/>
                  </a:lnTo>
                  <a:close/>
                </a:path>
              </a:pathLst>
            </a:custGeom>
            <a:solidFill>
              <a:srgbClr val="0E6EC5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289303" y="1911095"/>
              <a:ext cx="9672955" cy="1804670"/>
            </a:xfrm>
            <a:custGeom>
              <a:avLst/>
              <a:gdLst/>
              <a:ahLst/>
              <a:cxnLst/>
              <a:rect l="l" t="t" r="r" b="b"/>
              <a:pathLst>
                <a:path w="9672955" h="1804670">
                  <a:moveTo>
                    <a:pt x="0" y="1804415"/>
                  </a:moveTo>
                  <a:lnTo>
                    <a:pt x="9672828" y="1804415"/>
                  </a:lnTo>
                  <a:lnTo>
                    <a:pt x="9672828" y="0"/>
                  </a:lnTo>
                  <a:lnTo>
                    <a:pt x="0" y="0"/>
                  </a:lnTo>
                  <a:lnTo>
                    <a:pt x="0" y="1804415"/>
                  </a:lnTo>
                  <a:close/>
                </a:path>
              </a:pathLst>
            </a:custGeom>
            <a:ln w="12191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Physical</a:t>
            </a:r>
            <a:r>
              <a:rPr spc="-15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vs</a:t>
            </a:r>
            <a:r>
              <a:rPr spc="-14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Logical</a:t>
            </a:r>
            <a:r>
              <a:rPr spc="-14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layer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90515" y="1226312"/>
            <a:ext cx="20053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Data</a:t>
            </a:r>
            <a:r>
              <a:rPr sz="3200" b="1" spc="-10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Model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46703" y="5248655"/>
            <a:ext cx="1684020" cy="388620"/>
          </a:xfrm>
          <a:prstGeom prst="rect">
            <a:avLst/>
          </a:prstGeom>
          <a:solidFill>
            <a:srgbClr val="3D7C93"/>
          </a:solidFill>
          <a:ln w="12192">
            <a:solidFill>
              <a:srgbClr val="085091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140970">
              <a:lnSpc>
                <a:spcPct val="100000"/>
              </a:lnSpc>
              <a:spcBef>
                <a:spcPts val="335"/>
              </a:spcBef>
            </a:pP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Bug</a:t>
            </a:r>
            <a:r>
              <a:rPr sz="18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sales</a:t>
            </a:r>
            <a:r>
              <a:rPr sz="18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Table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46703" y="4462271"/>
            <a:ext cx="1684020" cy="388620"/>
          </a:xfrm>
          <a:prstGeom prst="rect">
            <a:avLst/>
          </a:prstGeom>
          <a:solidFill>
            <a:srgbClr val="3D7C93"/>
          </a:solidFill>
          <a:ln w="12192">
            <a:solidFill>
              <a:srgbClr val="085091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335280">
              <a:lnSpc>
                <a:spcPct val="100000"/>
              </a:lnSpc>
              <a:spcBef>
                <a:spcPts val="340"/>
              </a:spcBef>
            </a:pP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Sales</a:t>
            </a:r>
            <a:r>
              <a:rPr sz="180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Table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980015" y="4931079"/>
            <a:ext cx="260350" cy="260985"/>
          </a:xfrm>
          <a:custGeom>
            <a:avLst/>
            <a:gdLst/>
            <a:ahLst/>
            <a:cxnLst/>
            <a:rect l="l" t="t" r="r" b="b"/>
            <a:pathLst>
              <a:path w="260350" h="260985">
                <a:moveTo>
                  <a:pt x="259930" y="110528"/>
                </a:moveTo>
                <a:lnTo>
                  <a:pt x="149453" y="110528"/>
                </a:lnTo>
                <a:lnTo>
                  <a:pt x="149453" y="0"/>
                </a:lnTo>
                <a:lnTo>
                  <a:pt x="110464" y="0"/>
                </a:lnTo>
                <a:lnTo>
                  <a:pt x="110464" y="110528"/>
                </a:lnTo>
                <a:lnTo>
                  <a:pt x="0" y="110528"/>
                </a:lnTo>
                <a:lnTo>
                  <a:pt x="0" y="149910"/>
                </a:lnTo>
                <a:lnTo>
                  <a:pt x="110464" y="149910"/>
                </a:lnTo>
                <a:lnTo>
                  <a:pt x="110464" y="260426"/>
                </a:lnTo>
                <a:lnTo>
                  <a:pt x="149453" y="260426"/>
                </a:lnTo>
                <a:lnTo>
                  <a:pt x="149453" y="149910"/>
                </a:lnTo>
                <a:lnTo>
                  <a:pt x="259930" y="149910"/>
                </a:lnTo>
                <a:lnTo>
                  <a:pt x="259930" y="110528"/>
                </a:lnTo>
                <a:close/>
              </a:path>
            </a:pathLst>
          </a:custGeom>
          <a:solidFill>
            <a:srgbClr val="7EB5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886455" y="2435351"/>
            <a:ext cx="2447925" cy="707390"/>
          </a:xfrm>
          <a:prstGeom prst="rect">
            <a:avLst/>
          </a:prstGeom>
          <a:solidFill>
            <a:srgbClr val="006FC0"/>
          </a:solidFill>
          <a:ln w="12192">
            <a:solidFill>
              <a:srgbClr val="085091"/>
            </a:solidFill>
          </a:ln>
        </p:spPr>
        <p:txBody>
          <a:bodyPr vert="horz" wrap="square" lIns="0" tIns="202565" rIns="0" bIns="0" rtlCol="0">
            <a:spAutoFit/>
          </a:bodyPr>
          <a:lstStyle/>
          <a:p>
            <a:pPr marL="755650">
              <a:lnSpc>
                <a:spcPct val="100000"/>
              </a:lnSpc>
              <a:spcBef>
                <a:spcPts val="1595"/>
              </a:spcBef>
            </a:pP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Sales</a:t>
            </a:r>
            <a:r>
              <a:rPr sz="180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data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53400" y="2194560"/>
            <a:ext cx="2447925" cy="515620"/>
          </a:xfrm>
          <a:prstGeom prst="rect">
            <a:avLst/>
          </a:prstGeom>
          <a:solidFill>
            <a:srgbClr val="006FC0"/>
          </a:solidFill>
          <a:ln w="12192">
            <a:solidFill>
              <a:srgbClr val="085091"/>
            </a:solidFill>
          </a:ln>
        </p:spPr>
        <p:txBody>
          <a:bodyPr vert="horz" wrap="square" lIns="0" tIns="105410" rIns="0" bIns="0" rtlCol="0">
            <a:spAutoFit/>
          </a:bodyPr>
          <a:lstStyle/>
          <a:p>
            <a:pPr marL="598805">
              <a:lnSpc>
                <a:spcPct val="100000"/>
              </a:lnSpc>
              <a:spcBef>
                <a:spcPts val="830"/>
              </a:spcBef>
            </a:pP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Product</a:t>
            </a:r>
            <a:r>
              <a:rPr sz="1800" spc="-8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table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328415" y="2448941"/>
            <a:ext cx="4828540" cy="2027555"/>
            <a:chOff x="3328415" y="2448941"/>
            <a:chExt cx="4828540" cy="2027555"/>
          </a:xfrm>
        </p:grpSpPr>
        <p:sp>
          <p:nvSpPr>
            <p:cNvPr id="16" name="object 16"/>
            <p:cNvSpPr/>
            <p:nvPr/>
          </p:nvSpPr>
          <p:spPr>
            <a:xfrm>
              <a:off x="3347465" y="3207258"/>
              <a:ext cx="1685289" cy="1250315"/>
            </a:xfrm>
            <a:custGeom>
              <a:avLst/>
              <a:gdLst/>
              <a:ahLst/>
              <a:cxnLst/>
              <a:rect l="l" t="t" r="r" b="b"/>
              <a:pathLst>
                <a:path w="1685289" h="1250314">
                  <a:moveTo>
                    <a:pt x="322453" y="0"/>
                  </a:moveTo>
                  <a:lnTo>
                    <a:pt x="0" y="1205991"/>
                  </a:lnTo>
                </a:path>
                <a:path w="1685289" h="1250314">
                  <a:moveTo>
                    <a:pt x="1347216" y="48767"/>
                  </a:moveTo>
                  <a:lnTo>
                    <a:pt x="1684782" y="1250187"/>
                  </a:lnTo>
                </a:path>
              </a:pathLst>
            </a:custGeom>
            <a:ln w="38100">
              <a:solidFill>
                <a:srgbClr val="7EB5C8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333999" y="2452116"/>
              <a:ext cx="2820035" cy="337820"/>
            </a:xfrm>
            <a:custGeom>
              <a:avLst/>
              <a:gdLst/>
              <a:ahLst/>
              <a:cxnLst/>
              <a:rect l="l" t="t" r="r" b="b"/>
              <a:pathLst>
                <a:path w="2820034" h="337819">
                  <a:moveTo>
                    <a:pt x="0" y="337312"/>
                  </a:moveTo>
                  <a:lnTo>
                    <a:pt x="2819654" y="0"/>
                  </a:lnTo>
                </a:path>
              </a:pathLst>
            </a:custGeom>
            <a:ln w="6096">
              <a:solidFill>
                <a:srgbClr val="0E6EC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139688" y="2206878"/>
            <a:ext cx="1257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Relationships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59402" y="4876545"/>
            <a:ext cx="584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Union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5861" y="4572127"/>
            <a:ext cx="7594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Physical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Layer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7372" y="2273300"/>
            <a:ext cx="6591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Logical Layer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53400" y="2921507"/>
            <a:ext cx="2447925" cy="513715"/>
          </a:xfrm>
          <a:prstGeom prst="rect">
            <a:avLst/>
          </a:prstGeom>
          <a:solidFill>
            <a:srgbClr val="006FC0"/>
          </a:solidFill>
          <a:ln w="12192">
            <a:solidFill>
              <a:srgbClr val="085091"/>
            </a:solidFill>
          </a:ln>
        </p:spPr>
        <p:txBody>
          <a:bodyPr vert="horz" wrap="square" lIns="0" tIns="104775" rIns="0" bIns="0" rtlCol="0">
            <a:spAutoFit/>
          </a:bodyPr>
          <a:lstStyle/>
          <a:p>
            <a:pPr marL="513715">
              <a:lnSpc>
                <a:spcPct val="100000"/>
              </a:lnSpc>
              <a:spcBef>
                <a:spcPts val="825"/>
              </a:spcBef>
            </a:pPr>
            <a:r>
              <a:rPr sz="18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Customer</a:t>
            </a:r>
            <a:r>
              <a:rPr sz="1800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table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334000" y="2788920"/>
            <a:ext cx="2820035" cy="389255"/>
          </a:xfrm>
          <a:custGeom>
            <a:avLst/>
            <a:gdLst/>
            <a:ahLst/>
            <a:cxnLst/>
            <a:rect l="l" t="t" r="r" b="b"/>
            <a:pathLst>
              <a:path w="2820034" h="389255">
                <a:moveTo>
                  <a:pt x="0" y="0"/>
                </a:moveTo>
                <a:lnTo>
                  <a:pt x="2819654" y="389000"/>
                </a:lnTo>
              </a:path>
            </a:pathLst>
          </a:custGeom>
          <a:ln w="6096">
            <a:solidFill>
              <a:srgbClr val="0E6EC5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Types</a:t>
            </a:r>
            <a:r>
              <a:rPr spc="-12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of</a:t>
            </a:r>
            <a:r>
              <a:rPr spc="-114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Data</a:t>
            </a:r>
            <a:r>
              <a:rPr spc="-114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in</a:t>
            </a:r>
            <a:r>
              <a:rPr spc="-114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Tableau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94097" y="1285494"/>
            <a:ext cx="0" cy="4802505"/>
          </a:xfrm>
          <a:custGeom>
            <a:avLst/>
            <a:gdLst/>
            <a:ahLst/>
            <a:cxnLst/>
            <a:rect l="l" t="t" r="r" b="b"/>
            <a:pathLst>
              <a:path h="4802505">
                <a:moveTo>
                  <a:pt x="0" y="0"/>
                </a:moveTo>
                <a:lnTo>
                  <a:pt x="0" y="4802238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21944" y="2411729"/>
            <a:ext cx="360108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945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Dimensions</a:t>
            </a:r>
            <a:r>
              <a:rPr sz="1800" b="1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vs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measures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99085" marR="5080" indent="-28702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Dimensions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are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columns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containing categories/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segments</a:t>
            </a:r>
            <a:r>
              <a:rPr sz="18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based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on </a:t>
            </a:r>
            <a:r>
              <a:rPr sz="1800" dirty="0">
                <a:latin typeface="Calibri" panose="020F0502020204030204"/>
                <a:cs typeface="Calibri" panose="020F0502020204030204"/>
              </a:rPr>
              <a:t>which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aggregation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will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be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done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99085" marR="5715" indent="-287020" algn="just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Measures</a:t>
            </a:r>
            <a:r>
              <a:rPr sz="18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are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numeric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columns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for </a:t>
            </a:r>
            <a:r>
              <a:rPr sz="1800" dirty="0">
                <a:latin typeface="Calibri" panose="020F0502020204030204"/>
                <a:cs typeface="Calibri" panose="020F0502020204030204"/>
              </a:rPr>
              <a:t>which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we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wish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to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get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aggregate values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251450" y="1496441"/>
          <a:ext cx="5880100" cy="2644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5200"/>
                <a:gridCol w="965200"/>
                <a:gridCol w="965200"/>
                <a:gridCol w="965200"/>
                <a:gridCol w="965200"/>
                <a:gridCol w="965200"/>
              </a:tblGrid>
              <a:tr h="21971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100" b="1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5" dirty="0">
                          <a:latin typeface="Calibri" panose="020F0502020204030204"/>
                          <a:cs typeface="Calibri" panose="020F0502020204030204"/>
                        </a:rPr>
                        <a:t>ID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Gender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100" b="1" spc="-25" dirty="0">
                          <a:latin typeface="Calibri" panose="020F0502020204030204"/>
                          <a:cs typeface="Calibri" panose="020F0502020204030204"/>
                        </a:rPr>
                        <a:t>Age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Hours</a:t>
                      </a:r>
                      <a:r>
                        <a:rPr sz="1100" b="1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studied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Marks</a:t>
                      </a:r>
                      <a:r>
                        <a:rPr sz="1100" b="1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scored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Year</a:t>
                      </a:r>
                      <a:r>
                        <a:rPr sz="1100" b="1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100" b="1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0" dirty="0">
                          <a:latin typeface="Calibri" panose="020F0502020204030204"/>
                          <a:cs typeface="Calibri" panose="020F0502020204030204"/>
                        </a:rPr>
                        <a:t>exam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S101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Male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19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18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73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2021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S102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Female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85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2020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S103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Female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71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2023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S104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Male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19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23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89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2022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S105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Female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19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94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2022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S106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Female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27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70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2020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S107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Male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95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2019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S108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Male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70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2021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S109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Female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17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79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2019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S110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Female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18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73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2020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…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…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…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…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…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…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381625" y="4417771"/>
          <a:ext cx="2946400" cy="715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9865"/>
                <a:gridCol w="1410335"/>
              </a:tblGrid>
              <a:tr h="238760">
                <a:tc>
                  <a:txBody>
                    <a:bodyPr/>
                    <a:lstStyle/>
                    <a:p>
                      <a:pPr marR="551180">
                        <a:lnSpc>
                          <a:spcPts val="1280"/>
                        </a:lnSpc>
                        <a:spcBef>
                          <a:spcPts val="500"/>
                        </a:spcBef>
                        <a:tabLst>
                          <a:tab pos="217170" algn="l"/>
                          <a:tab pos="901065" algn="l"/>
                        </a:tabLst>
                      </a:pPr>
                      <a:r>
                        <a:rPr sz="1100" b="1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sz="1100" b="1" u="sng" spc="-10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Gender</a:t>
                      </a:r>
                      <a:r>
                        <a:rPr sz="1100" b="1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00" marB="0"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0"/>
                        </a:lnSpc>
                        <a:spcBef>
                          <a:spcPts val="500"/>
                        </a:spcBef>
                      </a:pPr>
                      <a:r>
                        <a:rPr sz="1100" b="1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Sum</a:t>
                      </a:r>
                      <a:r>
                        <a:rPr sz="1100" b="1" u="sng" spc="-5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100" b="1" u="sng" spc="-25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Hours</a:t>
                      </a:r>
                      <a:r>
                        <a:rPr sz="1100" b="1" u="sng" spc="-25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u="sng" spc="-10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studied</a:t>
                      </a:r>
                      <a:r>
                        <a:rPr sz="1100" b="1" u="sng" spc="500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00" marB="0">
                    <a:solidFill>
                      <a:srgbClr val="D9E0F1"/>
                    </a:solidFill>
                  </a:tcPr>
                </a:tc>
              </a:tr>
              <a:tr h="287655">
                <a:tc>
                  <a:txBody>
                    <a:bodyPr/>
                    <a:lstStyle/>
                    <a:p>
                      <a:pPr marL="223520" marR="6794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Female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00" marB="0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131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00" marB="0"/>
                </a:tc>
              </a:tr>
              <a:tr h="189230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115"/>
                        </a:spcBef>
                        <a:tabLst>
                          <a:tab pos="287020" algn="l"/>
                          <a:tab pos="1452880" algn="l"/>
                        </a:tabLst>
                      </a:pPr>
                      <a:r>
                        <a:rPr sz="1100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sz="1100" u="sng" spc="-20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Male</a:t>
                      </a:r>
                      <a:r>
                        <a:rPr sz="1100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75"/>
                        </a:lnSpc>
                        <a:spcBef>
                          <a:spcPts val="115"/>
                        </a:spcBef>
                        <a:tabLst>
                          <a:tab pos="730885" algn="l"/>
                        </a:tabLst>
                      </a:pPr>
                      <a:r>
                        <a:rPr sz="1100" u="sng" spc="-25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76</a:t>
                      </a:r>
                      <a:r>
                        <a:rPr sz="1100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604" marB="0"/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353806" y="4417847"/>
          <a:ext cx="3634740" cy="1351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19910"/>
                <a:gridCol w="1738630"/>
              </a:tblGrid>
              <a:tr h="225425">
                <a:tc>
                  <a:txBody>
                    <a:bodyPr/>
                    <a:lstStyle/>
                    <a:p>
                      <a:pPr marR="642620">
                        <a:lnSpc>
                          <a:spcPts val="1280"/>
                        </a:lnSpc>
                        <a:spcBef>
                          <a:spcPts val="395"/>
                        </a:spcBef>
                        <a:tabLst>
                          <a:tab pos="1165860" algn="l"/>
                        </a:tabLst>
                      </a:pPr>
                      <a:r>
                        <a:rPr sz="1100" b="1" u="sng" spc="225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  </a:t>
                      </a:r>
                      <a:r>
                        <a:rPr sz="1100" b="1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Year</a:t>
                      </a:r>
                      <a:r>
                        <a:rPr sz="1100" b="1" u="sng" spc="-5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of </a:t>
                      </a:r>
                      <a:r>
                        <a:rPr sz="1100" b="1" u="sng" spc="-20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Exam</a:t>
                      </a:r>
                      <a:r>
                        <a:rPr sz="1100" b="1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0165" marB="0"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0"/>
                        </a:lnSpc>
                        <a:spcBef>
                          <a:spcPts val="395"/>
                        </a:spcBef>
                        <a:tabLst>
                          <a:tab pos="1595755" algn="l"/>
                        </a:tabLst>
                      </a:pPr>
                      <a:r>
                        <a:rPr sz="1100" b="1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Average</a:t>
                      </a:r>
                      <a:r>
                        <a:rPr sz="1100" b="1" u="sng" spc="-45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100" b="1" u="sng" spc="-5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Marks</a:t>
                      </a:r>
                      <a:r>
                        <a:rPr sz="1100" b="1" u="sng" spc="-15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u="sng" spc="-10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scored</a:t>
                      </a:r>
                      <a:r>
                        <a:rPr sz="1100" b="1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0165" marB="0">
                    <a:solidFill>
                      <a:srgbClr val="D9E0F1"/>
                    </a:solidFill>
                  </a:tcPr>
                </a:tc>
              </a:tr>
              <a:tr h="267335">
                <a:tc>
                  <a:txBody>
                    <a:bodyPr/>
                    <a:lstStyle/>
                    <a:p>
                      <a:pPr marR="80645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2019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0165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87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0165" marB="0"/>
                </a:tc>
              </a:tr>
              <a:tr h="225425">
                <a:tc>
                  <a:txBody>
                    <a:bodyPr/>
                    <a:lstStyle/>
                    <a:p>
                      <a:pPr marR="80645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2020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76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255" marB="0"/>
                </a:tc>
              </a:tr>
              <a:tr h="225425">
                <a:tc>
                  <a:txBody>
                    <a:bodyPr/>
                    <a:lstStyle/>
                    <a:p>
                      <a:pPr marR="80645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2021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71.5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255" marB="0"/>
                </a:tc>
              </a:tr>
              <a:tr h="225425">
                <a:tc>
                  <a:txBody>
                    <a:bodyPr/>
                    <a:lstStyle/>
                    <a:p>
                      <a:pPr marR="80645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2022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91.5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255" marB="0"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65"/>
                        </a:spcBef>
                        <a:tabLst>
                          <a:tab pos="359410" algn="l"/>
                          <a:tab pos="1811655" algn="l"/>
                        </a:tabLst>
                      </a:pPr>
                      <a:r>
                        <a:rPr sz="1100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sz="1100" u="sng" spc="-20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2023</a:t>
                      </a:r>
                      <a:r>
                        <a:rPr sz="1100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75"/>
                        </a:lnSpc>
                        <a:spcBef>
                          <a:spcPts val="65"/>
                        </a:spcBef>
                        <a:tabLst>
                          <a:tab pos="949325" algn="l"/>
                        </a:tabLst>
                      </a:pPr>
                      <a:r>
                        <a:rPr sz="1100" u="sng" spc="-25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71</a:t>
                      </a:r>
                      <a:r>
                        <a:rPr sz="1100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8255" marB="0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5400294" y="5921451"/>
            <a:ext cx="5718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Sum,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Average,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Min,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Max,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count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are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some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aggregate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functions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Types</a:t>
            </a:r>
            <a:r>
              <a:rPr spc="-12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of</a:t>
            </a:r>
            <a:r>
              <a:rPr spc="-114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Data</a:t>
            </a:r>
            <a:r>
              <a:rPr spc="-114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in</a:t>
            </a:r>
            <a:r>
              <a:rPr spc="-114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Tableau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94097" y="1285494"/>
            <a:ext cx="0" cy="4802505"/>
          </a:xfrm>
          <a:custGeom>
            <a:avLst/>
            <a:gdLst/>
            <a:ahLst/>
            <a:cxnLst/>
            <a:rect l="l" t="t" r="r" b="b"/>
            <a:pathLst>
              <a:path h="4802505">
                <a:moveTo>
                  <a:pt x="0" y="0"/>
                </a:moveTo>
                <a:lnTo>
                  <a:pt x="0" y="4802238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21944" y="2411729"/>
            <a:ext cx="371411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945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Dimensions</a:t>
            </a:r>
            <a:r>
              <a:rPr sz="1800" b="1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vs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measures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99085" marR="5080" indent="-28702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Same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column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can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act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as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dimension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some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scenarios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and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as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measure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other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scenarios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251450" y="1496441"/>
          <a:ext cx="5880100" cy="2644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5200"/>
                <a:gridCol w="965200"/>
                <a:gridCol w="965200"/>
                <a:gridCol w="965200"/>
                <a:gridCol w="965200"/>
                <a:gridCol w="965200"/>
              </a:tblGrid>
              <a:tr h="21971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100" b="1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5" dirty="0">
                          <a:latin typeface="Calibri" panose="020F0502020204030204"/>
                          <a:cs typeface="Calibri" panose="020F0502020204030204"/>
                        </a:rPr>
                        <a:t>ID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Gender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100" b="1" spc="-25" dirty="0">
                          <a:latin typeface="Calibri" panose="020F0502020204030204"/>
                          <a:cs typeface="Calibri" panose="020F0502020204030204"/>
                        </a:rPr>
                        <a:t>Age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Hours</a:t>
                      </a:r>
                      <a:r>
                        <a:rPr sz="1100" b="1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studied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Marks</a:t>
                      </a:r>
                      <a:r>
                        <a:rPr sz="1100" b="1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10" dirty="0">
                          <a:latin typeface="Calibri" panose="020F0502020204030204"/>
                          <a:cs typeface="Calibri" panose="020F0502020204030204"/>
                        </a:rPr>
                        <a:t>scored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Year</a:t>
                      </a:r>
                      <a:r>
                        <a:rPr sz="1100" b="1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100" b="1" spc="-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spc="-20" dirty="0">
                          <a:latin typeface="Calibri" panose="020F0502020204030204"/>
                          <a:cs typeface="Calibri" panose="020F0502020204030204"/>
                        </a:rPr>
                        <a:t>exam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S101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Male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19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18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73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2021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S102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Female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85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2020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S103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Female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71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2023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S104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Male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19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23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89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2022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S105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Female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19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94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2022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S106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Female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27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70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2020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S107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Male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95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2019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S108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Male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70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2021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S109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Female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17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79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2019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971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S110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Female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18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73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2020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…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…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…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…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…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spc="-50" dirty="0">
                          <a:latin typeface="Calibri" panose="020F0502020204030204"/>
                          <a:cs typeface="Calibri" panose="020F0502020204030204"/>
                        </a:rPr>
                        <a:t>…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257800" y="4557090"/>
          <a:ext cx="3263265" cy="1256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8760"/>
                <a:gridCol w="1678305"/>
              </a:tblGrid>
              <a:tr h="209550">
                <a:tc>
                  <a:txBody>
                    <a:bodyPr/>
                    <a:lstStyle/>
                    <a:p>
                      <a:pPr marR="597535">
                        <a:lnSpc>
                          <a:spcPts val="1280"/>
                        </a:lnSpc>
                        <a:spcBef>
                          <a:spcPts val="270"/>
                        </a:spcBef>
                        <a:tabLst>
                          <a:tab pos="320675" algn="l"/>
                          <a:tab pos="899160" algn="l"/>
                        </a:tabLst>
                      </a:pPr>
                      <a:r>
                        <a:rPr sz="1100" b="1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sz="1100" b="1" u="sng" spc="-25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Age</a:t>
                      </a:r>
                      <a:r>
                        <a:rPr sz="1100" b="1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4290" marB="0"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0"/>
                        </a:lnSpc>
                        <a:spcBef>
                          <a:spcPts val="270"/>
                        </a:spcBef>
                      </a:pPr>
                      <a:r>
                        <a:rPr sz="1100" b="1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Average</a:t>
                      </a:r>
                      <a:r>
                        <a:rPr sz="1100" b="1" u="sng" spc="-45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100" b="1" u="sng" spc="-5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Hours</a:t>
                      </a:r>
                      <a:r>
                        <a:rPr sz="1100" b="1" u="sng" spc="-15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u="sng" spc="-10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studied</a:t>
                      </a:r>
                      <a:r>
                        <a:rPr sz="1100" b="1" u="sng" spc="500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4290" marB="0">
                    <a:solidFill>
                      <a:srgbClr val="D9E0F1"/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marL="360045" marR="7804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1428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19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4290" marB="0"/>
                </a:tc>
              </a:tr>
              <a:tr h="209550">
                <a:tc>
                  <a:txBody>
                    <a:bodyPr/>
                    <a:lstStyle/>
                    <a:p>
                      <a:pPr marL="360045" marR="780415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18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26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</a:tr>
              <a:tr h="209550">
                <a:tc>
                  <a:txBody>
                    <a:bodyPr/>
                    <a:lstStyle/>
                    <a:p>
                      <a:pPr marL="360045" marR="780415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19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</a:tr>
              <a:tr h="209550">
                <a:tc>
                  <a:txBody>
                    <a:bodyPr/>
                    <a:lstStyle/>
                    <a:p>
                      <a:pPr marL="360045" marR="780415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20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 algn="ctr">
                        <a:lnSpc>
                          <a:spcPct val="100000"/>
                        </a:lnSpc>
                      </a:pPr>
                      <a:r>
                        <a:rPr sz="1100" spc="-25" dirty="0">
                          <a:latin typeface="Calibri" panose="020F0502020204030204"/>
                          <a:cs typeface="Calibri" panose="020F0502020204030204"/>
                        </a:rPr>
                        <a:t>21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</a:tr>
              <a:tr h="174625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tabLst>
                          <a:tab pos="360045" algn="l"/>
                          <a:tab pos="1507490" algn="l"/>
                        </a:tabLst>
                      </a:pPr>
                      <a:r>
                        <a:rPr sz="1100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sz="1100" u="sng" spc="-25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21</a:t>
                      </a:r>
                      <a:r>
                        <a:rPr sz="1100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75"/>
                        </a:lnSpc>
                        <a:tabLst>
                          <a:tab pos="892175" algn="l"/>
                        </a:tabLst>
                      </a:pPr>
                      <a:r>
                        <a:rPr sz="1100" u="sng" spc="-20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17.5</a:t>
                      </a:r>
                      <a:r>
                        <a:rPr sz="1100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603488" y="4585347"/>
          <a:ext cx="2395220" cy="687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7620"/>
                <a:gridCol w="1042035"/>
              </a:tblGrid>
              <a:tr h="229235">
                <a:tc>
                  <a:txBody>
                    <a:bodyPr/>
                    <a:lstStyle/>
                    <a:p>
                      <a:pPr marR="368300">
                        <a:lnSpc>
                          <a:spcPts val="1280"/>
                        </a:lnSpc>
                        <a:spcBef>
                          <a:spcPts val="425"/>
                        </a:spcBef>
                        <a:tabLst>
                          <a:tab pos="217170" algn="l"/>
                          <a:tab pos="901065" algn="l"/>
                        </a:tabLst>
                      </a:pPr>
                      <a:r>
                        <a:rPr sz="1100" b="1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sz="1100" b="1" u="sng" spc="-10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Gender</a:t>
                      </a:r>
                      <a:r>
                        <a:rPr sz="1100" b="1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3975" marB="0"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80"/>
                        </a:lnSpc>
                        <a:spcBef>
                          <a:spcPts val="425"/>
                        </a:spcBef>
                      </a:pPr>
                      <a:r>
                        <a:rPr sz="1100" b="1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Average</a:t>
                      </a:r>
                      <a:r>
                        <a:rPr sz="1100" b="1" u="sng" spc="-45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100" b="1" u="sng" spc="-5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100" b="1" u="sng" spc="-25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Age</a:t>
                      </a:r>
                      <a:r>
                        <a:rPr sz="1100" b="1" u="sng" spc="500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3975" marB="0">
                    <a:solidFill>
                      <a:srgbClr val="D9E0F1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223520" marR="49657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100" spc="-10" dirty="0">
                          <a:latin typeface="Calibri" panose="020F0502020204030204"/>
                          <a:cs typeface="Calibri" panose="020F0502020204030204"/>
                        </a:rPr>
                        <a:t>Female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610" marB="0"/>
                </a:tc>
                <a:tc>
                  <a:txBody>
                    <a:bodyPr/>
                    <a:lstStyle/>
                    <a:p>
                      <a:pPr marL="90170"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100" spc="-20" dirty="0">
                          <a:latin typeface="Calibri" panose="020F0502020204030204"/>
                          <a:cs typeface="Calibri" panose="020F0502020204030204"/>
                        </a:rPr>
                        <a:t>18.2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4610" marB="0"/>
                </a:tc>
              </a:tr>
              <a:tr h="184785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80"/>
                        </a:spcBef>
                        <a:tabLst>
                          <a:tab pos="287655" algn="l"/>
                          <a:tab pos="1268730" algn="l"/>
                        </a:tabLst>
                      </a:pPr>
                      <a:r>
                        <a:rPr sz="1100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sz="1100" u="sng" spc="-20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Male</a:t>
                      </a:r>
                      <a:r>
                        <a:rPr sz="1100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16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75"/>
                        </a:lnSpc>
                        <a:spcBef>
                          <a:spcPts val="80"/>
                        </a:spcBef>
                        <a:tabLst>
                          <a:tab pos="546735" algn="l"/>
                        </a:tabLst>
                      </a:pPr>
                      <a:r>
                        <a:rPr sz="1100" u="sng" spc="-25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20</a:t>
                      </a:r>
                      <a:r>
                        <a:rPr sz="1100" u="sng" dirty="0">
                          <a:uFill>
                            <a:solidFill>
                              <a:srgbClr val="8EA9DB"/>
                            </a:solidFill>
                          </a:uFill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endParaRPr sz="11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16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spc="-120" dirty="0"/>
              <a:t> </a:t>
            </a:r>
            <a:r>
              <a:rPr dirty="0"/>
              <a:t>of</a:t>
            </a:r>
            <a:r>
              <a:rPr spc="-114" dirty="0"/>
              <a:t> </a:t>
            </a:r>
            <a:r>
              <a:rPr dirty="0"/>
              <a:t>Data</a:t>
            </a:r>
            <a:r>
              <a:rPr spc="-114" dirty="0"/>
              <a:t> </a:t>
            </a:r>
            <a:r>
              <a:rPr dirty="0"/>
              <a:t>in</a:t>
            </a:r>
            <a:r>
              <a:rPr spc="-114" dirty="0"/>
              <a:t> </a:t>
            </a:r>
            <a:r>
              <a:rPr spc="-30" dirty="0"/>
              <a:t>Tableau</a:t>
            </a:r>
            <a:endParaRPr spc="-30" dirty="0"/>
          </a:p>
        </p:txBody>
      </p:sp>
      <p:sp>
        <p:nvSpPr>
          <p:cNvPr id="9" name="object 9"/>
          <p:cNvSpPr/>
          <p:nvPr/>
        </p:nvSpPr>
        <p:spPr>
          <a:xfrm>
            <a:off x="4594097" y="1285494"/>
            <a:ext cx="0" cy="4802505"/>
          </a:xfrm>
          <a:custGeom>
            <a:avLst/>
            <a:gdLst/>
            <a:ahLst/>
            <a:cxnLst/>
            <a:rect l="l" t="t" r="r" b="b"/>
            <a:pathLst>
              <a:path h="4802505">
                <a:moveTo>
                  <a:pt x="0" y="0"/>
                </a:moveTo>
                <a:lnTo>
                  <a:pt x="0" y="4802238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26616" y="2411729"/>
            <a:ext cx="2150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 panose="020F0502020204030204"/>
                <a:cs typeface="Calibri" panose="020F0502020204030204"/>
              </a:rPr>
              <a:t>Discrete</a:t>
            </a:r>
            <a:r>
              <a:rPr sz="18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vs</a:t>
            </a:r>
            <a:r>
              <a:rPr sz="18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continuous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1944" y="2960370"/>
            <a:ext cx="347408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Discrete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-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set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finite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values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Will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add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headers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on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axes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99085" indent="-286385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Continuous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–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Infinite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range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756285" marR="5080" lvl="1" indent="-287020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Will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add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infinite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range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on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the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axes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049011" y="1385316"/>
            <a:ext cx="5407660" cy="4784725"/>
            <a:chOff x="5049011" y="1385316"/>
            <a:chExt cx="5407660" cy="4784725"/>
          </a:xfrm>
        </p:grpSpPr>
        <p:pic>
          <p:nvPicPr>
            <p:cNvPr id="13" name="object 1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586216" y="3768484"/>
              <a:ext cx="4702307" cy="240121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49011" y="1385316"/>
              <a:ext cx="5407151" cy="243687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0580878" y="2919476"/>
            <a:ext cx="11525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 marR="5080" indent="-19685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Age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is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set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as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discrete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690986" y="5459679"/>
            <a:ext cx="11525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690" marR="5080" indent="-4762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Age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is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set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as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continuous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Types</a:t>
            </a:r>
            <a:r>
              <a:rPr spc="-12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of</a:t>
            </a:r>
            <a:r>
              <a:rPr spc="-114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Data</a:t>
            </a:r>
            <a:r>
              <a:rPr spc="-114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in</a:t>
            </a:r>
            <a:r>
              <a:rPr spc="-114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Tableau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11516" y="1744217"/>
          <a:ext cx="10519410" cy="4284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3355"/>
                <a:gridCol w="3951604"/>
                <a:gridCol w="3765550"/>
              </a:tblGrid>
              <a:tr h="1188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b="1" spc="-10" dirty="0">
                          <a:solidFill>
                            <a:srgbClr val="0E6EC5"/>
                          </a:solidFill>
                          <a:latin typeface="Calibri" panose="020F0502020204030204"/>
                          <a:cs typeface="Calibri" panose="020F0502020204030204"/>
                        </a:rPr>
                        <a:t>Discrete</a:t>
                      </a:r>
                      <a:endParaRPr sz="3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10" dirty="0">
                          <a:solidFill>
                            <a:srgbClr val="0E6EC5"/>
                          </a:solidFill>
                          <a:latin typeface="Calibri" panose="020F0502020204030204"/>
                          <a:cs typeface="Calibri" panose="020F0502020204030204"/>
                        </a:rPr>
                        <a:t>(Blue)</a:t>
                      </a:r>
                      <a:endParaRPr sz="20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0E6EC5"/>
                          </a:solidFill>
                          <a:latin typeface="Calibri" panose="020F0502020204030204"/>
                          <a:cs typeface="Calibri" panose="020F0502020204030204"/>
                        </a:rPr>
                        <a:t>Finite</a:t>
                      </a:r>
                      <a:r>
                        <a:rPr sz="2000" b="1" spc="-45" dirty="0">
                          <a:solidFill>
                            <a:srgbClr val="0E6EC5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b="1" dirty="0">
                          <a:solidFill>
                            <a:srgbClr val="0E6EC5"/>
                          </a:solidFill>
                          <a:latin typeface="Calibri" panose="020F0502020204030204"/>
                          <a:cs typeface="Calibri" panose="020F0502020204030204"/>
                        </a:rPr>
                        <a:t>–</a:t>
                      </a:r>
                      <a:r>
                        <a:rPr sz="2000" b="1" spc="-10" dirty="0">
                          <a:solidFill>
                            <a:srgbClr val="0E6EC5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b="1" dirty="0">
                          <a:solidFill>
                            <a:srgbClr val="0E6EC5"/>
                          </a:solidFill>
                          <a:latin typeface="Calibri" panose="020F0502020204030204"/>
                          <a:cs typeface="Calibri" panose="020F0502020204030204"/>
                        </a:rPr>
                        <a:t>adds</a:t>
                      </a:r>
                      <a:r>
                        <a:rPr sz="2000" b="1" spc="-30" dirty="0">
                          <a:solidFill>
                            <a:srgbClr val="0E6EC5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0E6EC5"/>
                          </a:solidFill>
                          <a:latin typeface="Calibri" panose="020F0502020204030204"/>
                          <a:cs typeface="Calibri" panose="020F0502020204030204"/>
                        </a:rPr>
                        <a:t>headers</a:t>
                      </a:r>
                      <a:endParaRPr sz="2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E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b="1" spc="-10" dirty="0">
                          <a:solidFill>
                            <a:srgbClr val="54A839"/>
                          </a:solidFill>
                          <a:latin typeface="Calibri" panose="020F0502020204030204"/>
                          <a:cs typeface="Calibri" panose="020F0502020204030204"/>
                        </a:rPr>
                        <a:t>Continuous</a:t>
                      </a:r>
                      <a:endParaRPr sz="3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00" b="1" spc="-10" dirty="0">
                          <a:solidFill>
                            <a:srgbClr val="54A839"/>
                          </a:solidFill>
                          <a:latin typeface="Calibri" panose="020F0502020204030204"/>
                          <a:cs typeface="Calibri" panose="020F0502020204030204"/>
                        </a:rPr>
                        <a:t>(Green)</a:t>
                      </a:r>
                      <a:endParaRPr sz="20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54A839"/>
                          </a:solidFill>
                          <a:latin typeface="Calibri" panose="020F0502020204030204"/>
                          <a:cs typeface="Calibri" panose="020F0502020204030204"/>
                        </a:rPr>
                        <a:t>Infinite</a:t>
                      </a:r>
                      <a:r>
                        <a:rPr sz="2000" b="1" spc="-65" dirty="0">
                          <a:solidFill>
                            <a:srgbClr val="54A839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b="1" dirty="0">
                          <a:solidFill>
                            <a:srgbClr val="54A839"/>
                          </a:solidFill>
                          <a:latin typeface="Calibri" panose="020F0502020204030204"/>
                          <a:cs typeface="Calibri" panose="020F0502020204030204"/>
                        </a:rPr>
                        <a:t>range</a:t>
                      </a:r>
                      <a:r>
                        <a:rPr sz="2000" b="1" spc="-40" dirty="0">
                          <a:solidFill>
                            <a:srgbClr val="54A839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b="1" dirty="0">
                          <a:solidFill>
                            <a:srgbClr val="54A839"/>
                          </a:solidFill>
                          <a:latin typeface="Calibri" panose="020F0502020204030204"/>
                          <a:cs typeface="Calibri" panose="020F0502020204030204"/>
                        </a:rPr>
                        <a:t>–</a:t>
                      </a:r>
                      <a:r>
                        <a:rPr sz="2000" b="1" spc="-40" dirty="0">
                          <a:solidFill>
                            <a:srgbClr val="54A839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b="1" dirty="0">
                          <a:solidFill>
                            <a:srgbClr val="54A839"/>
                          </a:solidFill>
                          <a:latin typeface="Calibri" panose="020F0502020204030204"/>
                          <a:cs typeface="Calibri" panose="020F0502020204030204"/>
                        </a:rPr>
                        <a:t>adds</a:t>
                      </a:r>
                      <a:r>
                        <a:rPr sz="2000" b="1" spc="-45" dirty="0">
                          <a:solidFill>
                            <a:srgbClr val="54A839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2000" b="1" spc="-20" dirty="0">
                          <a:solidFill>
                            <a:srgbClr val="54A839"/>
                          </a:solidFill>
                          <a:latin typeface="Calibri" panose="020F0502020204030204"/>
                          <a:cs typeface="Calibri" panose="020F0502020204030204"/>
                        </a:rPr>
                        <a:t>axes</a:t>
                      </a:r>
                      <a:endParaRPr sz="2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EF8"/>
                    </a:solidFill>
                  </a:tcPr>
                </a:tc>
              </a:tr>
              <a:tr h="1609725">
                <a:tc>
                  <a:txBody>
                    <a:bodyPr/>
                    <a:lstStyle/>
                    <a:p>
                      <a:pPr marL="450850">
                        <a:lnSpc>
                          <a:spcPct val="100000"/>
                        </a:lnSpc>
                        <a:spcBef>
                          <a:spcPts val="3145"/>
                        </a:spcBef>
                      </a:pPr>
                      <a:r>
                        <a:rPr sz="3200" b="1" spc="-10" dirty="0">
                          <a:latin typeface="Calibri" panose="020F0502020204030204"/>
                          <a:cs typeface="Calibri" panose="020F0502020204030204"/>
                        </a:rPr>
                        <a:t>Dimension</a:t>
                      </a:r>
                      <a:endParaRPr sz="3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3841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String,</a:t>
                      </a:r>
                      <a:r>
                        <a:rPr sz="18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date,</a:t>
                      </a:r>
                      <a:r>
                        <a:rPr sz="18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numeric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994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Eg.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Name,</a:t>
                      </a: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 Gender,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category,</a:t>
                      </a:r>
                      <a:r>
                        <a:rPr sz="18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etc.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Common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162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1671320" marR="685165" indent="-978535">
                        <a:lnSpc>
                          <a:spcPct val="200000"/>
                        </a:lnSpc>
                        <a:spcBef>
                          <a:spcPts val="82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Eg.</a:t>
                      </a:r>
                      <a:r>
                        <a:rPr sz="18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Year(transaction</a:t>
                      </a:r>
                      <a:r>
                        <a:rPr sz="18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date) Rare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</a:tr>
              <a:tr h="14859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60"/>
                        </a:spcBef>
                      </a:pPr>
                      <a:r>
                        <a:rPr sz="3200" b="1" spc="-10" dirty="0">
                          <a:latin typeface="Calibri" panose="020F0502020204030204"/>
                          <a:cs typeface="Calibri" panose="020F0502020204030204"/>
                        </a:rPr>
                        <a:t>Measure</a:t>
                      </a:r>
                      <a:endParaRPr sz="3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Numeric</a:t>
                      </a:r>
                      <a:r>
                        <a:rPr sz="18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-</a:t>
                      </a:r>
                      <a:r>
                        <a:rPr sz="18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aggregation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378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Eg.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 Sum(profit)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Rare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Eg.</a:t>
                      </a:r>
                      <a:r>
                        <a:rPr sz="1800" spc="-6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Sum(profit),</a:t>
                      </a:r>
                      <a:r>
                        <a:rPr sz="18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Average(age)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Common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Binning</a:t>
            </a:r>
            <a:r>
              <a:rPr spc="-1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2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data</a:t>
            </a:r>
            <a:endParaRPr spc="-2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626864" y="1370075"/>
            <a:ext cx="5628640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262890">
              <a:lnSpc>
                <a:spcPct val="100000"/>
              </a:lnSpc>
              <a:spcBef>
                <a:spcPts val="245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Converting</a:t>
            </a:r>
            <a:r>
              <a:rPr sz="1800" b="1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continuous</a:t>
            </a:r>
            <a:r>
              <a:rPr sz="18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numeric</a:t>
            </a:r>
            <a:r>
              <a:rPr sz="18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data</a:t>
            </a:r>
            <a:r>
              <a:rPr sz="1800" b="1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into</a:t>
            </a:r>
            <a:r>
              <a:rPr sz="18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bins/</a:t>
            </a:r>
            <a:r>
              <a:rPr sz="1800"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groups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79397" y="3259963"/>
            <a:ext cx="7346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Bins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59243" y="2630550"/>
            <a:ext cx="229870" cy="3439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libri" panose="020F0502020204030204"/>
                <a:cs typeface="Calibri" panose="020F0502020204030204"/>
              </a:rPr>
              <a:t>18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600" spc="-25" dirty="0">
                <a:latin typeface="Calibri" panose="020F0502020204030204"/>
                <a:cs typeface="Calibri" panose="020F0502020204030204"/>
              </a:rPr>
              <a:t>19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600" spc="-50" dirty="0">
                <a:latin typeface="Calibri" panose="020F0502020204030204"/>
                <a:cs typeface="Calibri" panose="020F0502020204030204"/>
              </a:rPr>
              <a:t>: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600" spc="-50" dirty="0">
                <a:latin typeface="Calibri" panose="020F0502020204030204"/>
                <a:cs typeface="Calibri" panose="020F0502020204030204"/>
              </a:rPr>
              <a:t>: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600" spc="-25" dirty="0">
                <a:latin typeface="Calibri" panose="020F0502020204030204"/>
                <a:cs typeface="Calibri" panose="020F0502020204030204"/>
              </a:rPr>
              <a:t>39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600" spc="-25" dirty="0">
                <a:latin typeface="Calibri" panose="020F0502020204030204"/>
                <a:cs typeface="Calibri" panose="020F0502020204030204"/>
              </a:rPr>
              <a:t>40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600" spc="-25" dirty="0">
                <a:latin typeface="Calibri" panose="020F0502020204030204"/>
                <a:cs typeface="Calibri" panose="020F0502020204030204"/>
              </a:rPr>
              <a:t>41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600" spc="-50" dirty="0">
                <a:latin typeface="Calibri" panose="020F0502020204030204"/>
                <a:cs typeface="Calibri" panose="020F0502020204030204"/>
              </a:rPr>
              <a:t>: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00000"/>
              </a:lnSpc>
            </a:pPr>
            <a:r>
              <a:rPr sz="1600" spc="-50" dirty="0">
                <a:latin typeface="Calibri" panose="020F0502020204030204"/>
                <a:cs typeface="Calibri" panose="020F0502020204030204"/>
              </a:rPr>
              <a:t>: </a:t>
            </a:r>
            <a:r>
              <a:rPr sz="1600" spc="-35" dirty="0">
                <a:latin typeface="Calibri" panose="020F0502020204030204"/>
                <a:cs typeface="Calibri" panose="020F0502020204030204"/>
              </a:rPr>
              <a:t>64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600" spc="-25" dirty="0">
                <a:latin typeface="Calibri" panose="020F0502020204030204"/>
                <a:cs typeface="Calibri" panose="020F0502020204030204"/>
              </a:rPr>
              <a:t>65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25" dirty="0">
                <a:latin typeface="Calibri" panose="020F0502020204030204"/>
                <a:cs typeface="Calibri" panose="020F0502020204030204"/>
              </a:rPr>
              <a:t>66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600" spc="-50" dirty="0">
                <a:latin typeface="Calibri" panose="020F0502020204030204"/>
                <a:cs typeface="Calibri" panose="020F0502020204030204"/>
              </a:rPr>
              <a:t>: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600" spc="-50" dirty="0">
                <a:latin typeface="Calibri" panose="020F0502020204030204"/>
                <a:cs typeface="Calibri" panose="020F0502020204030204"/>
              </a:rPr>
              <a:t>: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440168" y="2609088"/>
            <a:ext cx="386080" cy="3510279"/>
          </a:xfrm>
          <a:custGeom>
            <a:avLst/>
            <a:gdLst/>
            <a:ahLst/>
            <a:cxnLst/>
            <a:rect l="l" t="t" r="r" b="b"/>
            <a:pathLst>
              <a:path w="386079" h="3510279">
                <a:moveTo>
                  <a:pt x="0" y="0"/>
                </a:moveTo>
                <a:lnTo>
                  <a:pt x="75021" y="2520"/>
                </a:lnTo>
                <a:lnTo>
                  <a:pt x="136302" y="9398"/>
                </a:lnTo>
                <a:lnTo>
                  <a:pt x="177629" y="19609"/>
                </a:lnTo>
                <a:lnTo>
                  <a:pt x="192785" y="32131"/>
                </a:lnTo>
                <a:lnTo>
                  <a:pt x="192785" y="606425"/>
                </a:lnTo>
                <a:lnTo>
                  <a:pt x="207942" y="618946"/>
                </a:lnTo>
                <a:lnTo>
                  <a:pt x="249269" y="629157"/>
                </a:lnTo>
                <a:lnTo>
                  <a:pt x="310550" y="636035"/>
                </a:lnTo>
                <a:lnTo>
                  <a:pt x="385572" y="638556"/>
                </a:lnTo>
                <a:lnTo>
                  <a:pt x="310550" y="641076"/>
                </a:lnTo>
                <a:lnTo>
                  <a:pt x="249269" y="647954"/>
                </a:lnTo>
                <a:lnTo>
                  <a:pt x="207942" y="658165"/>
                </a:lnTo>
                <a:lnTo>
                  <a:pt x="192785" y="670687"/>
                </a:lnTo>
                <a:lnTo>
                  <a:pt x="192785" y="1244981"/>
                </a:lnTo>
                <a:lnTo>
                  <a:pt x="177629" y="1257502"/>
                </a:lnTo>
                <a:lnTo>
                  <a:pt x="136302" y="1267714"/>
                </a:lnTo>
                <a:lnTo>
                  <a:pt x="75021" y="1274591"/>
                </a:lnTo>
                <a:lnTo>
                  <a:pt x="0" y="1277112"/>
                </a:lnTo>
              </a:path>
              <a:path w="386079" h="3510279">
                <a:moveTo>
                  <a:pt x="0" y="1307592"/>
                </a:moveTo>
                <a:lnTo>
                  <a:pt x="75021" y="1310112"/>
                </a:lnTo>
                <a:lnTo>
                  <a:pt x="136302" y="1316990"/>
                </a:lnTo>
                <a:lnTo>
                  <a:pt x="177629" y="1327201"/>
                </a:lnTo>
                <a:lnTo>
                  <a:pt x="192785" y="1339723"/>
                </a:lnTo>
                <a:lnTo>
                  <a:pt x="192785" y="1861439"/>
                </a:lnTo>
                <a:lnTo>
                  <a:pt x="207942" y="1873960"/>
                </a:lnTo>
                <a:lnTo>
                  <a:pt x="249269" y="1884171"/>
                </a:lnTo>
                <a:lnTo>
                  <a:pt x="310550" y="1891049"/>
                </a:lnTo>
                <a:lnTo>
                  <a:pt x="385572" y="1893570"/>
                </a:lnTo>
                <a:lnTo>
                  <a:pt x="310550" y="1896090"/>
                </a:lnTo>
                <a:lnTo>
                  <a:pt x="249269" y="1902968"/>
                </a:lnTo>
                <a:lnTo>
                  <a:pt x="207942" y="1913179"/>
                </a:lnTo>
                <a:lnTo>
                  <a:pt x="192785" y="1925701"/>
                </a:lnTo>
                <a:lnTo>
                  <a:pt x="192785" y="2447417"/>
                </a:lnTo>
                <a:lnTo>
                  <a:pt x="177629" y="2459938"/>
                </a:lnTo>
                <a:lnTo>
                  <a:pt x="136302" y="2470150"/>
                </a:lnTo>
                <a:lnTo>
                  <a:pt x="75021" y="2477027"/>
                </a:lnTo>
                <a:lnTo>
                  <a:pt x="0" y="2479548"/>
                </a:lnTo>
              </a:path>
              <a:path w="386079" h="3510279">
                <a:moveTo>
                  <a:pt x="0" y="2499360"/>
                </a:moveTo>
                <a:lnTo>
                  <a:pt x="75021" y="2501880"/>
                </a:lnTo>
                <a:lnTo>
                  <a:pt x="136302" y="2508758"/>
                </a:lnTo>
                <a:lnTo>
                  <a:pt x="177629" y="2518969"/>
                </a:lnTo>
                <a:lnTo>
                  <a:pt x="192785" y="2531491"/>
                </a:lnTo>
                <a:lnTo>
                  <a:pt x="192785" y="2972435"/>
                </a:lnTo>
                <a:lnTo>
                  <a:pt x="207942" y="2984940"/>
                </a:lnTo>
                <a:lnTo>
                  <a:pt x="249269" y="2995153"/>
                </a:lnTo>
                <a:lnTo>
                  <a:pt x="310550" y="3002040"/>
                </a:lnTo>
                <a:lnTo>
                  <a:pt x="385572" y="3004566"/>
                </a:lnTo>
                <a:lnTo>
                  <a:pt x="310550" y="3007091"/>
                </a:lnTo>
                <a:lnTo>
                  <a:pt x="249269" y="3013978"/>
                </a:lnTo>
                <a:lnTo>
                  <a:pt x="207942" y="3024191"/>
                </a:lnTo>
                <a:lnTo>
                  <a:pt x="192785" y="3036697"/>
                </a:lnTo>
                <a:lnTo>
                  <a:pt x="192785" y="3477641"/>
                </a:lnTo>
                <a:lnTo>
                  <a:pt x="177629" y="3490146"/>
                </a:lnTo>
                <a:lnTo>
                  <a:pt x="136302" y="3500359"/>
                </a:lnTo>
                <a:lnTo>
                  <a:pt x="75021" y="3507246"/>
                </a:lnTo>
                <a:lnTo>
                  <a:pt x="0" y="3509772"/>
                </a:lnTo>
              </a:path>
            </a:pathLst>
          </a:custGeom>
          <a:ln w="6096">
            <a:solidFill>
              <a:srgbClr val="0E6EC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972043" y="3049523"/>
            <a:ext cx="894715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240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Young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72043" y="4317491"/>
            <a:ext cx="1414780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Middle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Aged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72043" y="5402579"/>
            <a:ext cx="894715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245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Seniors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96861" y="2070354"/>
            <a:ext cx="894715" cy="37084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0480" rIns="0" bIns="0" rtlCol="0">
            <a:spAutoFit/>
          </a:bodyPr>
          <a:lstStyle/>
          <a:p>
            <a:pPr marL="270510">
              <a:lnSpc>
                <a:spcPct val="100000"/>
              </a:lnSpc>
              <a:spcBef>
                <a:spcPts val="240"/>
              </a:spcBef>
            </a:pPr>
            <a:r>
              <a:rPr sz="18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Age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Grouping</a:t>
            </a:r>
            <a:r>
              <a:rPr spc="-204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2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data</a:t>
            </a:r>
            <a:endParaRPr spc="-2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626864" y="1370075"/>
            <a:ext cx="5628640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549910">
              <a:lnSpc>
                <a:spcPct val="100000"/>
              </a:lnSpc>
              <a:spcBef>
                <a:spcPts val="245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Clubbing</a:t>
            </a:r>
            <a:r>
              <a:rPr sz="1800" b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similar</a:t>
            </a:r>
            <a:r>
              <a:rPr sz="18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categories</a:t>
            </a:r>
            <a:r>
              <a:rPr sz="18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together</a:t>
            </a:r>
            <a:r>
              <a:rPr sz="18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into</a:t>
            </a:r>
            <a:r>
              <a:rPr sz="18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groups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6363" y="3259963"/>
            <a:ext cx="12407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Groups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27235" y="2182367"/>
            <a:ext cx="253365" cy="1247140"/>
          </a:xfrm>
          <a:custGeom>
            <a:avLst/>
            <a:gdLst/>
            <a:ahLst/>
            <a:cxnLst/>
            <a:rect l="l" t="t" r="r" b="b"/>
            <a:pathLst>
              <a:path w="253365" h="1247139">
                <a:moveTo>
                  <a:pt x="0" y="0"/>
                </a:moveTo>
                <a:lnTo>
                  <a:pt x="49232" y="1650"/>
                </a:lnTo>
                <a:lnTo>
                  <a:pt x="89439" y="6159"/>
                </a:lnTo>
                <a:lnTo>
                  <a:pt x="116550" y="12858"/>
                </a:lnTo>
                <a:lnTo>
                  <a:pt x="126492" y="21082"/>
                </a:lnTo>
                <a:lnTo>
                  <a:pt x="126492" y="284480"/>
                </a:lnTo>
                <a:lnTo>
                  <a:pt x="136433" y="292703"/>
                </a:lnTo>
                <a:lnTo>
                  <a:pt x="163544" y="299402"/>
                </a:lnTo>
                <a:lnTo>
                  <a:pt x="203751" y="303910"/>
                </a:lnTo>
                <a:lnTo>
                  <a:pt x="252984" y="305562"/>
                </a:lnTo>
                <a:lnTo>
                  <a:pt x="203751" y="307213"/>
                </a:lnTo>
                <a:lnTo>
                  <a:pt x="163544" y="311721"/>
                </a:lnTo>
                <a:lnTo>
                  <a:pt x="136433" y="318420"/>
                </a:lnTo>
                <a:lnTo>
                  <a:pt x="126492" y="326644"/>
                </a:lnTo>
                <a:lnTo>
                  <a:pt x="126492" y="590042"/>
                </a:lnTo>
                <a:lnTo>
                  <a:pt x="116550" y="598265"/>
                </a:lnTo>
                <a:lnTo>
                  <a:pt x="89439" y="604964"/>
                </a:lnTo>
                <a:lnTo>
                  <a:pt x="49232" y="609472"/>
                </a:lnTo>
                <a:lnTo>
                  <a:pt x="0" y="611124"/>
                </a:lnTo>
              </a:path>
              <a:path w="253365" h="1247139">
                <a:moveTo>
                  <a:pt x="0" y="661416"/>
                </a:moveTo>
                <a:lnTo>
                  <a:pt x="49232" y="663067"/>
                </a:lnTo>
                <a:lnTo>
                  <a:pt x="89439" y="667575"/>
                </a:lnTo>
                <a:lnTo>
                  <a:pt x="116550" y="674274"/>
                </a:lnTo>
                <a:lnTo>
                  <a:pt x="126492" y="682498"/>
                </a:lnTo>
                <a:lnTo>
                  <a:pt x="126492" y="932942"/>
                </a:lnTo>
                <a:lnTo>
                  <a:pt x="136433" y="941165"/>
                </a:lnTo>
                <a:lnTo>
                  <a:pt x="163544" y="947864"/>
                </a:lnTo>
                <a:lnTo>
                  <a:pt x="203751" y="952372"/>
                </a:lnTo>
                <a:lnTo>
                  <a:pt x="252984" y="954024"/>
                </a:lnTo>
                <a:lnTo>
                  <a:pt x="203751" y="955675"/>
                </a:lnTo>
                <a:lnTo>
                  <a:pt x="163544" y="960183"/>
                </a:lnTo>
                <a:lnTo>
                  <a:pt x="136433" y="966882"/>
                </a:lnTo>
                <a:lnTo>
                  <a:pt x="126492" y="975106"/>
                </a:lnTo>
                <a:lnTo>
                  <a:pt x="126492" y="1225550"/>
                </a:lnTo>
                <a:lnTo>
                  <a:pt x="116550" y="1233773"/>
                </a:lnTo>
                <a:lnTo>
                  <a:pt x="89439" y="1240472"/>
                </a:lnTo>
                <a:lnTo>
                  <a:pt x="49232" y="1244981"/>
                </a:lnTo>
                <a:lnTo>
                  <a:pt x="0" y="1246632"/>
                </a:lnTo>
              </a:path>
            </a:pathLst>
          </a:custGeom>
          <a:ln w="6096">
            <a:solidFill>
              <a:srgbClr val="0E6EC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27235" y="3617976"/>
            <a:ext cx="253365" cy="2254250"/>
          </a:xfrm>
          <a:custGeom>
            <a:avLst/>
            <a:gdLst/>
            <a:ahLst/>
            <a:cxnLst/>
            <a:rect l="l" t="t" r="r" b="b"/>
            <a:pathLst>
              <a:path w="253365" h="2254250">
                <a:moveTo>
                  <a:pt x="0" y="0"/>
                </a:moveTo>
                <a:lnTo>
                  <a:pt x="49232" y="1650"/>
                </a:lnTo>
                <a:lnTo>
                  <a:pt x="89439" y="6159"/>
                </a:lnTo>
                <a:lnTo>
                  <a:pt x="116550" y="12858"/>
                </a:lnTo>
                <a:lnTo>
                  <a:pt x="126492" y="21081"/>
                </a:lnTo>
                <a:lnTo>
                  <a:pt x="126492" y="1105916"/>
                </a:lnTo>
                <a:lnTo>
                  <a:pt x="136433" y="1114139"/>
                </a:lnTo>
                <a:lnTo>
                  <a:pt x="163544" y="1120838"/>
                </a:lnTo>
                <a:lnTo>
                  <a:pt x="203751" y="1125347"/>
                </a:lnTo>
                <a:lnTo>
                  <a:pt x="252984" y="1126998"/>
                </a:lnTo>
                <a:lnTo>
                  <a:pt x="203751" y="1128649"/>
                </a:lnTo>
                <a:lnTo>
                  <a:pt x="163544" y="1133157"/>
                </a:lnTo>
                <a:lnTo>
                  <a:pt x="136433" y="1139856"/>
                </a:lnTo>
                <a:lnTo>
                  <a:pt x="126492" y="1148080"/>
                </a:lnTo>
                <a:lnTo>
                  <a:pt x="126492" y="2232914"/>
                </a:lnTo>
                <a:lnTo>
                  <a:pt x="116550" y="2241121"/>
                </a:lnTo>
                <a:lnTo>
                  <a:pt x="89439" y="2247822"/>
                </a:lnTo>
                <a:lnTo>
                  <a:pt x="49232" y="2252339"/>
                </a:lnTo>
                <a:lnTo>
                  <a:pt x="0" y="2253996"/>
                </a:lnTo>
              </a:path>
            </a:pathLst>
          </a:custGeom>
          <a:ln w="6096">
            <a:solidFill>
              <a:srgbClr val="0E6EC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500616" y="2147316"/>
            <a:ext cx="1868805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270510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Phones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&amp;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Acc.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00616" y="2956560"/>
            <a:ext cx="1868805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229870">
              <a:lnSpc>
                <a:spcPct val="100000"/>
              </a:lnSpc>
              <a:spcBef>
                <a:spcPts val="245"/>
              </a:spcBef>
            </a:pPr>
            <a:r>
              <a:rPr sz="1800" spc="-25" dirty="0">
                <a:latin typeface="Calibri" panose="020F0502020204030204"/>
                <a:cs typeface="Calibri" panose="020F0502020204030204"/>
              </a:rPr>
              <a:t>Tables </a:t>
            </a:r>
            <a:r>
              <a:rPr sz="1800" dirty="0">
                <a:latin typeface="Calibri" panose="020F0502020204030204"/>
                <a:cs typeface="Calibri" panose="020F0502020204030204"/>
              </a:rPr>
              <a:t>&amp;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Chairs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39361" y="1896617"/>
            <a:ext cx="1579245" cy="37084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0480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240"/>
              </a:spcBef>
            </a:pPr>
            <a:r>
              <a:rPr sz="18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Sub-categories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62171" y="2407361"/>
            <a:ext cx="976630" cy="3195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 panose="020F0502020204030204"/>
                <a:cs typeface="Calibri" panose="020F0502020204030204"/>
              </a:rPr>
              <a:t>Accessories Appliances Bookcases Chairs Copiers Envelopes Furnishings Labels Machines Paper Phones Storage Tables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39278" y="2204085"/>
            <a:ext cx="9766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 panose="020F0502020204030204"/>
                <a:cs typeface="Calibri" panose="020F0502020204030204"/>
              </a:rPr>
              <a:t>Phones Accessories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39278" y="2935604"/>
            <a:ext cx="5410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30" dirty="0">
                <a:latin typeface="Calibri" panose="020F0502020204030204"/>
                <a:cs typeface="Calibri" panose="020F0502020204030204"/>
              </a:rPr>
              <a:t>Tables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Chairs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39278" y="3667505"/>
            <a:ext cx="963930" cy="221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 panose="020F0502020204030204"/>
                <a:cs typeface="Calibri" panose="020F0502020204030204"/>
              </a:rPr>
              <a:t>Appliances Bookcases Copiers Envelopes Furnishings Labels Machines Paper Storage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500616" y="4559808"/>
            <a:ext cx="1868805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621665">
              <a:lnSpc>
                <a:spcPct val="100000"/>
              </a:lnSpc>
              <a:spcBef>
                <a:spcPts val="250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Others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Filtering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626864" y="1223772"/>
            <a:ext cx="5750560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240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Showing</a:t>
            </a:r>
            <a:r>
              <a:rPr sz="18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only</a:t>
            </a:r>
            <a:r>
              <a:rPr sz="18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relevant</a:t>
            </a:r>
            <a:r>
              <a:rPr sz="18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data/</a:t>
            </a:r>
            <a:r>
              <a:rPr sz="18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hiding</a:t>
            </a:r>
            <a:r>
              <a:rPr sz="18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irrelevant</a:t>
            </a:r>
            <a:r>
              <a:rPr sz="1800"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information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5863" y="3259963"/>
            <a:ext cx="16224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Examples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282440" y="1662683"/>
            <a:ext cx="6522719" cy="46405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368678" y="305181"/>
            <a:ext cx="13843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Filters</a:t>
            </a:r>
            <a:endParaRPr spc="-10" dirty="0"/>
          </a:p>
        </p:txBody>
      </p:sp>
      <p:sp>
        <p:nvSpPr>
          <p:cNvPr id="9" name="object 9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313301" y="1979498"/>
            <a:ext cx="63099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Order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operation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is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order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which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different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types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filters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are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executed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Tableau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Tableau,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filters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are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executed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following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order: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13301" y="3351657"/>
            <a:ext cx="233807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496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Extract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filters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Data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source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filters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Context</a:t>
            </a:r>
            <a:r>
              <a:rPr sz="18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filters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Filters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on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dimensions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Filters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on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measures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13301" y="4997958"/>
            <a:ext cx="58299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Order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execution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is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important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because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it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can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impact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final </a:t>
            </a:r>
            <a:r>
              <a:rPr sz="1800" dirty="0">
                <a:latin typeface="Calibri" panose="020F0502020204030204"/>
                <a:cs typeface="Calibri" panose="020F0502020204030204"/>
              </a:rPr>
              <a:t>output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and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performance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when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multiple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filters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are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applied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6907" y="3259963"/>
            <a:ext cx="1680210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1684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Order</a:t>
            </a:r>
            <a:r>
              <a:rPr sz="3200" b="1" spc="-85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35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of </a:t>
            </a:r>
            <a:r>
              <a:rPr sz="3200" b="1" spc="-2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operation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Filters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911346" y="3652265"/>
            <a:ext cx="0" cy="2334260"/>
          </a:xfrm>
          <a:custGeom>
            <a:avLst/>
            <a:gdLst/>
            <a:ahLst/>
            <a:cxnLst/>
            <a:rect l="l" t="t" r="r" b="b"/>
            <a:pathLst>
              <a:path h="2334260">
                <a:moveTo>
                  <a:pt x="0" y="0"/>
                </a:moveTo>
                <a:lnTo>
                  <a:pt x="0" y="2333713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67861" y="2931032"/>
            <a:ext cx="53530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Output</a:t>
            </a:r>
            <a:r>
              <a:rPr sz="3200" b="1" spc="-5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3200" b="1" spc="-35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two</a:t>
            </a:r>
            <a:r>
              <a:rPr sz="3200" b="1" spc="-4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dimension</a:t>
            </a:r>
            <a:r>
              <a:rPr sz="3200" b="1" spc="-55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filters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5002" y="3804284"/>
            <a:ext cx="1019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Two</a:t>
            </a:r>
            <a:r>
              <a:rPr sz="1800" b="1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filters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2736" y="4352925"/>
            <a:ext cx="2900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Filter</a:t>
            </a:r>
            <a:r>
              <a:rPr sz="18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1</a:t>
            </a:r>
            <a:r>
              <a:rPr sz="18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–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Only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red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fruits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(inside </a:t>
            </a:r>
            <a:r>
              <a:rPr sz="1800" dirty="0">
                <a:latin typeface="Calibri" panose="020F0502020204030204"/>
                <a:cs typeface="Calibri" panose="020F0502020204030204"/>
              </a:rPr>
              <a:t>or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outside)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2736" y="5176266"/>
            <a:ext cx="2899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Filter</a:t>
            </a:r>
            <a:r>
              <a:rPr sz="18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2</a:t>
            </a:r>
            <a:r>
              <a:rPr sz="18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–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Top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2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fruits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by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 weight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04509" y="3613784"/>
            <a:ext cx="1082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 panose="020F0502020204030204"/>
                <a:cs typeface="Calibri" panose="020F0502020204030204"/>
              </a:rPr>
              <a:t>Calculation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67021" y="4162425"/>
            <a:ext cx="34893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Output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filter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1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–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Apple,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Strawberry </a:t>
            </a:r>
            <a:r>
              <a:rPr sz="1800" dirty="0">
                <a:latin typeface="Calibri" panose="020F0502020204030204"/>
                <a:cs typeface="Calibri" panose="020F0502020204030204"/>
              </a:rPr>
              <a:t>and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Watermelon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67021" y="4985080"/>
            <a:ext cx="337756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Output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filter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2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–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Watermelon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and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melon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67021" y="5808675"/>
            <a:ext cx="3009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Final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output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–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Only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Watermelon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57538" y="1612391"/>
            <a:ext cx="10579735" cy="1313815"/>
            <a:chOff x="1057538" y="1612391"/>
            <a:chExt cx="10579735" cy="1313815"/>
          </a:xfrm>
        </p:grpSpPr>
        <p:pic>
          <p:nvPicPr>
            <p:cNvPr id="13" name="object 1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57538" y="1645601"/>
              <a:ext cx="4995291" cy="128047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28359" y="1612391"/>
              <a:ext cx="5708903" cy="1199388"/>
            </a:xfrm>
            <a:prstGeom prst="rect">
              <a:avLst/>
            </a:prstGeom>
          </p:spPr>
        </p:pic>
      </p:grpSp>
      <p:sp>
        <p:nvSpPr>
          <p:cNvPr id="15" name="object 15"/>
          <p:cNvSpPr/>
          <p:nvPr/>
        </p:nvSpPr>
        <p:spPr>
          <a:xfrm>
            <a:off x="8160257" y="3684270"/>
            <a:ext cx="0" cy="2334260"/>
          </a:xfrm>
          <a:custGeom>
            <a:avLst/>
            <a:gdLst/>
            <a:ahLst/>
            <a:cxnLst/>
            <a:rect l="l" t="t" r="r" b="b"/>
            <a:pathLst>
              <a:path h="2334260">
                <a:moveTo>
                  <a:pt x="0" y="0"/>
                </a:moveTo>
                <a:lnTo>
                  <a:pt x="0" y="2333713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9811639" y="3702557"/>
            <a:ext cx="539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 panose="020F0502020204030204"/>
                <a:cs typeface="Calibri" panose="020F0502020204030204"/>
              </a:rPr>
              <a:t>Steps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604631" y="4251197"/>
            <a:ext cx="2165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Filter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1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checks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10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fruits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04631" y="4800092"/>
            <a:ext cx="2165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Filter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2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checks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10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fruits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604631" y="5348732"/>
            <a:ext cx="27724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Common/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intersection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two </a:t>
            </a:r>
            <a:r>
              <a:rPr sz="1800" dirty="0">
                <a:latin typeface="Calibri" panose="020F0502020204030204"/>
                <a:cs typeface="Calibri" panose="020F0502020204030204"/>
              </a:rPr>
              <a:t>results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is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shown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finally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Filters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911346" y="3652265"/>
            <a:ext cx="0" cy="2334260"/>
          </a:xfrm>
          <a:custGeom>
            <a:avLst/>
            <a:gdLst/>
            <a:ahLst/>
            <a:cxnLst/>
            <a:rect l="l" t="t" r="r" b="b"/>
            <a:pathLst>
              <a:path h="2334260">
                <a:moveTo>
                  <a:pt x="0" y="0"/>
                </a:moveTo>
                <a:lnTo>
                  <a:pt x="0" y="2333713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406523" y="2918536"/>
            <a:ext cx="799210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Output</a:t>
            </a:r>
            <a:r>
              <a:rPr sz="3200" b="1" spc="-55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3200" b="1" spc="-3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one</a:t>
            </a:r>
            <a:r>
              <a:rPr sz="3200" b="1" spc="-3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context</a:t>
            </a:r>
            <a:r>
              <a:rPr sz="3200" b="1" spc="-5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3200" b="1" spc="-55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one</a:t>
            </a:r>
            <a:r>
              <a:rPr sz="3200" b="1" spc="-4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dimension</a:t>
            </a:r>
            <a:r>
              <a:rPr sz="3200" b="1" spc="-55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filter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21282" y="3804284"/>
            <a:ext cx="1019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Two</a:t>
            </a:r>
            <a:r>
              <a:rPr sz="1800" b="1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filters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6056" y="4352925"/>
            <a:ext cx="681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Filter</a:t>
            </a:r>
            <a:r>
              <a:rPr sz="1800" b="1" spc="-50" dirty="0">
                <a:latin typeface="Calibri" panose="020F0502020204030204"/>
                <a:cs typeface="Calibri" panose="020F0502020204030204"/>
              </a:rPr>
              <a:t> 1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77238" y="4373879"/>
            <a:ext cx="1981835" cy="28067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5"/>
              </a:lnSpc>
            </a:pPr>
            <a:r>
              <a:rPr sz="18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(Set</a:t>
            </a:r>
            <a:r>
              <a:rPr sz="1800" b="1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as</a:t>
            </a:r>
            <a:r>
              <a:rPr sz="18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context</a:t>
            </a:r>
            <a:r>
              <a:rPr sz="1800" b="1" spc="-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filter)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84346" y="43529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 panose="020F0502020204030204"/>
                <a:cs typeface="Calibri" panose="020F0502020204030204"/>
              </a:rPr>
              <a:t>–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6056" y="4627245"/>
            <a:ext cx="3094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Only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red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fruits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(inside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or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outside)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6056" y="5176266"/>
            <a:ext cx="2899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Filter</a:t>
            </a:r>
            <a:r>
              <a:rPr sz="18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2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–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Top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2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fruits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by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 weight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04509" y="3613784"/>
            <a:ext cx="1082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 panose="020F0502020204030204"/>
                <a:cs typeface="Calibri" panose="020F0502020204030204"/>
              </a:rPr>
              <a:t>Calculation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67021" y="4162425"/>
            <a:ext cx="34893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Output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filter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1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–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Apple,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Strawberry </a:t>
            </a:r>
            <a:r>
              <a:rPr sz="1800" dirty="0">
                <a:latin typeface="Calibri" panose="020F0502020204030204"/>
                <a:cs typeface="Calibri" panose="020F0502020204030204"/>
              </a:rPr>
              <a:t>and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Watermelon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67021" y="4985080"/>
            <a:ext cx="337756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Output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filter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2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–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Watermelon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and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Apple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67021" y="5808675"/>
            <a:ext cx="3524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Final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output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–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Watermelon </a:t>
            </a:r>
            <a:r>
              <a:rPr sz="1800" dirty="0">
                <a:latin typeface="Calibri" panose="020F0502020204030204"/>
                <a:cs typeface="Calibri" panose="020F0502020204030204"/>
              </a:rPr>
              <a:t>and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Apple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57538" y="1612391"/>
            <a:ext cx="10579735" cy="1313815"/>
            <a:chOff x="1057538" y="1612391"/>
            <a:chExt cx="10579735" cy="1313815"/>
          </a:xfrm>
        </p:grpSpPr>
        <p:pic>
          <p:nvPicPr>
            <p:cNvPr id="16" name="object 1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57538" y="1645601"/>
              <a:ext cx="4995291" cy="128047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28359" y="1612391"/>
              <a:ext cx="5708903" cy="1199388"/>
            </a:xfrm>
            <a:prstGeom prst="rect">
              <a:avLst/>
            </a:prstGeom>
          </p:spPr>
        </p:pic>
      </p:grpSp>
      <p:sp>
        <p:nvSpPr>
          <p:cNvPr id="18" name="object 18"/>
          <p:cNvSpPr/>
          <p:nvPr/>
        </p:nvSpPr>
        <p:spPr>
          <a:xfrm>
            <a:off x="8160257" y="3684270"/>
            <a:ext cx="0" cy="2334260"/>
          </a:xfrm>
          <a:custGeom>
            <a:avLst/>
            <a:gdLst/>
            <a:ahLst/>
            <a:cxnLst/>
            <a:rect l="l" t="t" r="r" b="b"/>
            <a:pathLst>
              <a:path h="2334260">
                <a:moveTo>
                  <a:pt x="0" y="0"/>
                </a:moveTo>
                <a:lnTo>
                  <a:pt x="0" y="2333713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9811639" y="3702557"/>
            <a:ext cx="539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 panose="020F0502020204030204"/>
                <a:cs typeface="Calibri" panose="020F0502020204030204"/>
              </a:rPr>
              <a:t>Steps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604631" y="4251197"/>
            <a:ext cx="2165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Filter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1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checks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10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fruits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04631" y="4800092"/>
            <a:ext cx="2499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Filter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2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checks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3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fruits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only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04631" y="5623052"/>
            <a:ext cx="273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Result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filter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2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is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final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result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54623" y="6060947"/>
            <a:ext cx="2167255" cy="264160"/>
          </a:xfrm>
          <a:prstGeom prst="rect">
            <a:avLst/>
          </a:prstGeom>
          <a:solidFill>
            <a:srgbClr val="C00000"/>
          </a:solidFill>
          <a:ln w="12192">
            <a:solidFill>
              <a:srgbClr val="08509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59410">
              <a:lnSpc>
                <a:spcPts val="2015"/>
              </a:lnSpc>
            </a:pPr>
            <a:r>
              <a:rPr sz="18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Different</a:t>
            </a:r>
            <a:r>
              <a:rPr sz="1800" spc="-7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Result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621011" y="5097779"/>
            <a:ext cx="1667510" cy="294640"/>
          </a:xfrm>
          <a:prstGeom prst="rect">
            <a:avLst/>
          </a:prstGeom>
          <a:solidFill>
            <a:srgbClr val="C00000"/>
          </a:solidFill>
          <a:ln w="12192">
            <a:solidFill>
              <a:srgbClr val="08509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3030">
              <a:lnSpc>
                <a:spcPts val="2130"/>
              </a:lnSpc>
            </a:pPr>
            <a:r>
              <a:rPr sz="18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Less</a:t>
            </a:r>
            <a:r>
              <a:rPr sz="180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calculation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spc="-20" dirty="0"/>
              <a:t>Maps</a:t>
            </a:r>
            <a:endParaRPr spc="-20" dirty="0"/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39267" y="3031363"/>
            <a:ext cx="2015489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635" algn="ctr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Custom background image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131564" y="1802892"/>
            <a:ext cx="6871716" cy="44211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626864" y="1223772"/>
            <a:ext cx="5750560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529590">
              <a:lnSpc>
                <a:spcPct val="100000"/>
              </a:lnSpc>
              <a:spcBef>
                <a:spcPts val="240"/>
              </a:spcBef>
            </a:pPr>
            <a:r>
              <a:rPr sz="1800" b="1" spc="-60" dirty="0">
                <a:latin typeface="Calibri" panose="020F0502020204030204"/>
                <a:cs typeface="Calibri" panose="020F0502020204030204"/>
              </a:rPr>
              <a:t>To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plot</a:t>
            </a:r>
            <a:r>
              <a:rPr sz="18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data</a:t>
            </a:r>
            <a:r>
              <a:rPr sz="18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points</a:t>
            </a:r>
            <a:r>
              <a:rPr sz="18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on</a:t>
            </a:r>
            <a:r>
              <a:rPr sz="18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custom</a:t>
            </a:r>
            <a:r>
              <a:rPr sz="18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background</a:t>
            </a:r>
            <a:r>
              <a:rPr sz="1800" b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images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21195" t="23" r="7745" b="185"/>
          <a:stretch>
            <a:fillRect/>
          </a:stretch>
        </p:blipFill>
        <p:spPr>
          <a:xfrm>
            <a:off x="0" y="6660"/>
            <a:ext cx="7312143" cy="6843722"/>
          </a:xfrm>
          <a:custGeom>
            <a:avLst/>
            <a:gdLst>
              <a:gd name="connsiteX0" fmla="*/ 3588432 w 7312143"/>
              <a:gd name="connsiteY0" fmla="*/ 2 h 6843722"/>
              <a:gd name="connsiteX1" fmla="*/ 6620064 w 7312143"/>
              <a:gd name="connsiteY1" fmla="*/ 6843722 h 6843722"/>
              <a:gd name="connsiteX2" fmla="*/ 1437758 w 7312143"/>
              <a:gd name="connsiteY2" fmla="*/ 6843721 h 6843722"/>
              <a:gd name="connsiteX3" fmla="*/ 0 w 7312143"/>
              <a:gd name="connsiteY3" fmla="*/ 3598075 h 6843722"/>
              <a:gd name="connsiteX4" fmla="*/ 1 w 7312143"/>
              <a:gd name="connsiteY4" fmla="*/ 2 h 6843722"/>
              <a:gd name="connsiteX5" fmla="*/ 3663715 w 7312143"/>
              <a:gd name="connsiteY5" fmla="*/ 0 h 6843722"/>
              <a:gd name="connsiteX6" fmla="*/ 4276593 w 7312143"/>
              <a:gd name="connsiteY6" fmla="*/ 1 h 6843722"/>
              <a:gd name="connsiteX7" fmla="*/ 7312143 w 7312143"/>
              <a:gd name="connsiteY7" fmla="*/ 6843721 h 6843722"/>
              <a:gd name="connsiteX8" fmla="*/ 6699265 w 7312143"/>
              <a:gd name="connsiteY8" fmla="*/ 6843721 h 6843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12143" h="6843722">
                <a:moveTo>
                  <a:pt x="3588432" y="2"/>
                </a:moveTo>
                <a:lnTo>
                  <a:pt x="6620064" y="6843722"/>
                </a:lnTo>
                <a:lnTo>
                  <a:pt x="1437758" y="6843721"/>
                </a:lnTo>
                <a:lnTo>
                  <a:pt x="0" y="3598075"/>
                </a:lnTo>
                <a:lnTo>
                  <a:pt x="1" y="2"/>
                </a:lnTo>
                <a:close/>
                <a:moveTo>
                  <a:pt x="3663715" y="0"/>
                </a:moveTo>
                <a:lnTo>
                  <a:pt x="4276593" y="1"/>
                </a:lnTo>
                <a:lnTo>
                  <a:pt x="7312143" y="6843721"/>
                </a:lnTo>
                <a:lnTo>
                  <a:pt x="6699265" y="6843721"/>
                </a:lnTo>
                <a:close/>
              </a:path>
            </a:pathLst>
          </a:custGeom>
          <a:ln>
            <a:solidFill>
              <a:schemeClr val="accent1">
                <a:alpha val="20000"/>
              </a:schemeClr>
            </a:solidFill>
          </a:ln>
        </p:spPr>
      </p:pic>
      <p:sp>
        <p:nvSpPr>
          <p:cNvPr id="6" name="任意多边形: 形状 5"/>
          <p:cNvSpPr/>
          <p:nvPr>
            <p:custDataLst>
              <p:tags r:id="rId3"/>
            </p:custDataLst>
          </p:nvPr>
        </p:nvSpPr>
        <p:spPr>
          <a:xfrm flipH="1">
            <a:off x="4340080" y="1"/>
            <a:ext cx="1235034" cy="1998133"/>
          </a:xfrm>
          <a:custGeom>
            <a:avLst/>
            <a:gdLst>
              <a:gd name="connsiteX0" fmla="*/ 1235034 w 1235034"/>
              <a:gd name="connsiteY0" fmla="*/ 0 h 1998133"/>
              <a:gd name="connsiteX1" fmla="*/ 880359 w 1235034"/>
              <a:gd name="connsiteY1" fmla="*/ 0 h 1998133"/>
              <a:gd name="connsiteX2" fmla="*/ 0 w 1235034"/>
              <a:gd name="connsiteY2" fmla="*/ 1998133 h 1998133"/>
              <a:gd name="connsiteX3" fmla="*/ 354675 w 1235034"/>
              <a:gd name="connsiteY3" fmla="*/ 1998133 h 19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5034" h="1998133">
                <a:moveTo>
                  <a:pt x="1235034" y="0"/>
                </a:moveTo>
                <a:lnTo>
                  <a:pt x="880359" y="0"/>
                </a:lnTo>
                <a:lnTo>
                  <a:pt x="0" y="1998133"/>
                </a:lnTo>
                <a:lnTo>
                  <a:pt x="354675" y="1998133"/>
                </a:lnTo>
                <a:close/>
              </a:path>
            </a:pathLst>
          </a:custGeom>
          <a:solidFill>
            <a:schemeClr val="accent1">
              <a:lumMod val="85000"/>
              <a:lumOff val="1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标题 1"/>
          <p:cNvSpPr txBox="1"/>
          <p:nvPr>
            <p:custDataLst>
              <p:tags r:id="rId4"/>
            </p:custDataLst>
          </p:nvPr>
        </p:nvSpPr>
        <p:spPr>
          <a:xfrm>
            <a:off x="7263214" y="983343"/>
            <a:ext cx="4268984" cy="1643279"/>
          </a:xfrm>
          <a:prstGeom prst="rect">
            <a:avLst/>
          </a:prstGeom>
        </p:spPr>
        <p:txBody>
          <a:bodyPr vert="horz" wrap="square" lIns="90170" tIns="46990" rIns="90170" bIns="46990" rtlCol="0" anchor="b" anchorCtr="0">
            <a:norm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2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sz="3600" spc="0" dirty="0">
                <a:latin typeface="+mj-lt"/>
              </a:rPr>
              <a:t>Maps</a:t>
            </a:r>
            <a:endParaRPr lang="en-US" sz="3600" spc="0" dirty="0">
              <a:latin typeface="+mj-lt"/>
            </a:endParaRPr>
          </a:p>
        </p:txBody>
      </p:sp>
      <p:sp>
        <p:nvSpPr>
          <p:cNvPr id="9" name="任意多边形: 形状 8"/>
          <p:cNvSpPr/>
          <p:nvPr>
            <p:custDataLst>
              <p:tags r:id="rId5"/>
            </p:custDataLst>
          </p:nvPr>
        </p:nvSpPr>
        <p:spPr>
          <a:xfrm flipH="1">
            <a:off x="11451348" y="1"/>
            <a:ext cx="740653" cy="1681045"/>
          </a:xfrm>
          <a:custGeom>
            <a:avLst/>
            <a:gdLst>
              <a:gd name="connsiteX0" fmla="*/ 740653 w 740653"/>
              <a:gd name="connsiteY0" fmla="*/ 0 h 1681045"/>
              <a:gd name="connsiteX1" fmla="*/ 0 w 740653"/>
              <a:gd name="connsiteY1" fmla="*/ 0 h 1681045"/>
              <a:gd name="connsiteX2" fmla="*/ 0 w 740653"/>
              <a:gd name="connsiteY2" fmla="*/ 1681045 h 1681045"/>
              <a:gd name="connsiteX3" fmla="*/ 740653 w 740653"/>
              <a:gd name="connsiteY3" fmla="*/ 0 h 1681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0653" h="1681045">
                <a:moveTo>
                  <a:pt x="740653" y="0"/>
                </a:moveTo>
                <a:lnTo>
                  <a:pt x="0" y="0"/>
                </a:lnTo>
                <a:lnTo>
                  <a:pt x="0" y="1681045"/>
                </a:lnTo>
                <a:lnTo>
                  <a:pt x="740653" y="0"/>
                </a:lnTo>
                <a:close/>
              </a:path>
            </a:pathLst>
          </a:custGeom>
          <a:solidFill>
            <a:schemeClr val="accent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任意多边形: 形状 10"/>
          <p:cNvSpPr/>
          <p:nvPr>
            <p:custDataLst>
              <p:tags r:id="rId6"/>
            </p:custDataLst>
          </p:nvPr>
        </p:nvSpPr>
        <p:spPr>
          <a:xfrm>
            <a:off x="-4807" y="4883728"/>
            <a:ext cx="2031608" cy="1974273"/>
          </a:xfrm>
          <a:custGeom>
            <a:avLst/>
            <a:gdLst>
              <a:gd name="connsiteX0" fmla="*/ 0 w 2031608"/>
              <a:gd name="connsiteY0" fmla="*/ 0 h 1974273"/>
              <a:gd name="connsiteX1" fmla="*/ 1133294 w 2031608"/>
              <a:gd name="connsiteY1" fmla="*/ 0 h 1974273"/>
              <a:gd name="connsiteX2" fmla="*/ 2031608 w 2031608"/>
              <a:gd name="connsiteY2" fmla="*/ 1974273 h 1974273"/>
              <a:gd name="connsiteX3" fmla="*/ 407821 w 2031608"/>
              <a:gd name="connsiteY3" fmla="*/ 1974273 h 1974273"/>
              <a:gd name="connsiteX4" fmla="*/ 0 w 2031608"/>
              <a:gd name="connsiteY4" fmla="*/ 1077983 h 1974273"/>
              <a:gd name="connsiteX5" fmla="*/ 0 w 2031608"/>
              <a:gd name="connsiteY5" fmla="*/ 0 h 197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31608" h="1974273">
                <a:moveTo>
                  <a:pt x="0" y="0"/>
                </a:moveTo>
                <a:lnTo>
                  <a:pt x="1133294" y="0"/>
                </a:lnTo>
                <a:lnTo>
                  <a:pt x="2031608" y="1974273"/>
                </a:lnTo>
                <a:lnTo>
                  <a:pt x="407821" y="1974273"/>
                </a:lnTo>
                <a:lnTo>
                  <a:pt x="0" y="107798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7"/>
            </p:custDataLst>
          </p:nvPr>
        </p:nvSpPr>
        <p:spPr>
          <a:xfrm>
            <a:off x="7355905" y="2861354"/>
            <a:ext cx="3844030" cy="2630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p>
            <a:pPr marL="0" indent="0">
              <a:lnSpc>
                <a:spcPct val="150000"/>
              </a:lnSpc>
              <a:buNone/>
            </a:pPr>
            <a:r>
              <a:rPr lang="en-US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To plot data points on custom background images</a:t>
            </a:r>
            <a:endParaRPr lang="en-US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spc="-2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Maps</a:t>
            </a:r>
            <a:endParaRPr spc="-2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39267" y="3031363"/>
            <a:ext cx="2015489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635" algn="ctr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Custom background image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372355" y="1592580"/>
            <a:ext cx="6361430" cy="3180715"/>
            <a:chOff x="4372355" y="1592580"/>
            <a:chExt cx="6361430" cy="3180715"/>
          </a:xfrm>
        </p:grpSpPr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372355" y="1592580"/>
              <a:ext cx="6361176" cy="318058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73441" y="4050284"/>
              <a:ext cx="141731" cy="141731"/>
            </a:xfrm>
            <a:prstGeom prst="rect">
              <a:avLst/>
            </a:prstGeom>
          </p:spPr>
        </p:pic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642228" y="5061711"/>
          <a:ext cx="3823335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1560"/>
                <a:gridCol w="1344294"/>
                <a:gridCol w="1338579"/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State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X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coordinate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Y</a:t>
                      </a:r>
                      <a:r>
                        <a:rPr sz="1400" b="1" spc="-1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coordinate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California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13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New</a:t>
                      </a:r>
                      <a:r>
                        <a:rPr sz="14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York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84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34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Texas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50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10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354829" y="1586483"/>
          <a:ext cx="6461125" cy="3150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6270"/>
                <a:gridCol w="635635"/>
                <a:gridCol w="635634"/>
                <a:gridCol w="636905"/>
                <a:gridCol w="635634"/>
                <a:gridCol w="636904"/>
                <a:gridCol w="635635"/>
                <a:gridCol w="636904"/>
                <a:gridCol w="635635"/>
                <a:gridCol w="636904"/>
              </a:tblGrid>
              <a:tr h="314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14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0385" y="3039872"/>
            <a:ext cx="141731" cy="14173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37521" y="2535427"/>
            <a:ext cx="141731" cy="14173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135373" y="4633721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585858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35373" y="4317872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585858"/>
                </a:solidFill>
                <a:latin typeface="Calibri" panose="020F0502020204030204"/>
                <a:cs typeface="Calibri" panose="020F0502020204030204"/>
              </a:rPr>
              <a:t>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58539" y="4002151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585858"/>
                </a:solidFill>
                <a:latin typeface="Calibri" panose="020F0502020204030204"/>
                <a:cs typeface="Calibri" panose="020F0502020204030204"/>
              </a:rPr>
              <a:t>10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58539" y="368630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585858"/>
                </a:solidFill>
                <a:latin typeface="Calibri" panose="020F0502020204030204"/>
                <a:cs typeface="Calibri" panose="020F0502020204030204"/>
              </a:rPr>
              <a:t>15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58539" y="337057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585858"/>
                </a:solidFill>
                <a:latin typeface="Calibri" panose="020F0502020204030204"/>
                <a:cs typeface="Calibri" panose="020F0502020204030204"/>
              </a:rPr>
              <a:t>20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58539" y="305485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585858"/>
                </a:solidFill>
                <a:latin typeface="Calibri" panose="020F0502020204030204"/>
                <a:cs typeface="Calibri" panose="020F0502020204030204"/>
              </a:rPr>
              <a:t>25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58539" y="1476247"/>
            <a:ext cx="180975" cy="1471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585858"/>
                </a:solidFill>
                <a:latin typeface="Calibri" panose="020F0502020204030204"/>
                <a:cs typeface="Calibri" panose="020F0502020204030204"/>
              </a:rPr>
              <a:t>50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200" spc="-25" dirty="0">
                <a:solidFill>
                  <a:srgbClr val="585858"/>
                </a:solidFill>
                <a:latin typeface="Calibri" panose="020F0502020204030204"/>
                <a:cs typeface="Calibri" panose="020F0502020204030204"/>
              </a:rPr>
              <a:t>45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200" spc="-25" dirty="0">
                <a:solidFill>
                  <a:srgbClr val="585858"/>
                </a:solidFill>
                <a:latin typeface="Calibri" panose="020F0502020204030204"/>
                <a:cs typeface="Calibri" panose="020F0502020204030204"/>
              </a:rPr>
              <a:t>40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200" spc="-25" dirty="0">
                <a:solidFill>
                  <a:srgbClr val="585858"/>
                </a:solidFill>
                <a:latin typeface="Calibri" panose="020F0502020204030204"/>
                <a:cs typeface="Calibri" panose="020F0502020204030204"/>
              </a:rPr>
              <a:t>35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1200" spc="-25" dirty="0">
                <a:solidFill>
                  <a:srgbClr val="585858"/>
                </a:solidFill>
                <a:latin typeface="Calibri" panose="020F0502020204030204"/>
                <a:cs typeface="Calibri" panose="020F0502020204030204"/>
              </a:rPr>
              <a:t>30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15205" y="4831207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585858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12867" y="4831207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585858"/>
                </a:solidFill>
                <a:latin typeface="Calibri" panose="020F0502020204030204"/>
                <a:cs typeface="Calibri" panose="020F0502020204030204"/>
              </a:rPr>
              <a:t>10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49010" y="4831207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585858"/>
                </a:solidFill>
                <a:latin typeface="Calibri" panose="020F0502020204030204"/>
                <a:cs typeface="Calibri" panose="020F0502020204030204"/>
              </a:rPr>
              <a:t>20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85408" y="4831207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585858"/>
                </a:solidFill>
                <a:latin typeface="Calibri" panose="020F0502020204030204"/>
                <a:cs typeface="Calibri" panose="020F0502020204030204"/>
              </a:rPr>
              <a:t>30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21551" y="4831207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585858"/>
                </a:solidFill>
                <a:latin typeface="Calibri" panose="020F0502020204030204"/>
                <a:cs typeface="Calibri" panose="020F0502020204030204"/>
              </a:rPr>
              <a:t>40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457947" y="4831207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585858"/>
                </a:solidFill>
                <a:latin typeface="Calibri" panose="020F0502020204030204"/>
                <a:cs typeface="Calibri" panose="020F0502020204030204"/>
              </a:rPr>
              <a:t>50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094091" y="4831207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585858"/>
                </a:solidFill>
                <a:latin typeface="Calibri" panose="020F0502020204030204"/>
                <a:cs typeface="Calibri" panose="020F0502020204030204"/>
              </a:rPr>
              <a:t>60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730488" y="4831207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585858"/>
                </a:solidFill>
                <a:latin typeface="Calibri" panose="020F0502020204030204"/>
                <a:cs typeface="Calibri" panose="020F0502020204030204"/>
              </a:rPr>
              <a:t>70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366631" y="4831207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585858"/>
                </a:solidFill>
                <a:latin typeface="Calibri" panose="020F0502020204030204"/>
                <a:cs typeface="Calibri" panose="020F0502020204030204"/>
              </a:rPr>
              <a:t>80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003028" y="4831207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585858"/>
                </a:solidFill>
                <a:latin typeface="Calibri" panose="020F0502020204030204"/>
                <a:cs typeface="Calibri" panose="020F0502020204030204"/>
              </a:rPr>
              <a:t>90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600690" y="4831207"/>
            <a:ext cx="2571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585858"/>
                </a:solidFill>
                <a:latin typeface="Calibri" panose="020F0502020204030204"/>
                <a:cs typeface="Calibri" panose="020F0502020204030204"/>
              </a:rPr>
              <a:t>100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spc="-2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Maps</a:t>
            </a:r>
            <a:endParaRPr spc="-2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70331" y="3031363"/>
            <a:ext cx="17564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3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Territories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923409" y="2472182"/>
          <a:ext cx="5565775" cy="20466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7400"/>
                <a:gridCol w="3418840"/>
              </a:tblGrid>
              <a:tr h="51117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Territory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States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</a:tr>
              <a:tr h="5118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Territory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California,</a:t>
                      </a:r>
                      <a:r>
                        <a:rPr sz="1800" spc="-1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35" dirty="0">
                          <a:latin typeface="Calibri" panose="020F0502020204030204"/>
                          <a:cs typeface="Calibri" panose="020F0502020204030204"/>
                        </a:rPr>
                        <a:t>Texas,</a:t>
                      </a: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New</a:t>
                      </a: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York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</a:tr>
              <a:tr h="5118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Territory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Washington,</a:t>
                      </a:r>
                      <a:r>
                        <a:rPr sz="18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Pennsylvania,</a:t>
                      </a:r>
                      <a:r>
                        <a:rPr sz="18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Illinois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</a:tr>
              <a:tr h="5118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Territory</a:t>
                      </a:r>
                      <a:r>
                        <a:rPr sz="18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All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other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states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Blending</a:t>
            </a:r>
            <a:r>
              <a:rPr spc="-5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for</a:t>
            </a:r>
            <a:r>
              <a:rPr spc="-5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missing</a:t>
            </a:r>
            <a:r>
              <a:rPr spc="-5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geocoding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933444" y="6356603"/>
            <a:ext cx="8258809" cy="358140"/>
          </a:xfrm>
          <a:custGeom>
            <a:avLst/>
            <a:gdLst/>
            <a:ahLst/>
            <a:cxnLst/>
            <a:rect l="l" t="t" r="r" b="b"/>
            <a:pathLst>
              <a:path w="8258809" h="358140">
                <a:moveTo>
                  <a:pt x="8258556" y="0"/>
                </a:moveTo>
                <a:lnTo>
                  <a:pt x="0" y="0"/>
                </a:lnTo>
                <a:lnTo>
                  <a:pt x="0" y="358140"/>
                </a:lnTo>
                <a:lnTo>
                  <a:pt x="8258556" y="358140"/>
                </a:lnTo>
                <a:lnTo>
                  <a:pt x="8258556" y="0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28927" y="2301239"/>
            <a:ext cx="2664460" cy="824865"/>
          </a:xfrm>
          <a:prstGeom prst="rect">
            <a:avLst/>
          </a:prstGeom>
          <a:solidFill>
            <a:srgbClr val="0E6EC5"/>
          </a:solidFill>
          <a:ln w="12192">
            <a:solidFill>
              <a:srgbClr val="085091"/>
            </a:solidFill>
          </a:ln>
        </p:spPr>
        <p:txBody>
          <a:bodyPr vert="horz" wrap="square" lIns="0" tIns="175260" rIns="0" bIns="0" rtlCol="0">
            <a:spAutoFit/>
          </a:bodyPr>
          <a:lstStyle/>
          <a:p>
            <a:pPr marL="831215">
              <a:lnSpc>
                <a:spcPct val="100000"/>
              </a:lnSpc>
              <a:spcBef>
                <a:spcPts val="1380"/>
              </a:spcBef>
            </a:pPr>
            <a:r>
              <a:rPr sz="28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Joining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41164" y="2310383"/>
            <a:ext cx="2664460" cy="822960"/>
          </a:xfrm>
          <a:prstGeom prst="rect">
            <a:avLst/>
          </a:prstGeom>
          <a:solidFill>
            <a:srgbClr val="0E6EC5"/>
          </a:solidFill>
          <a:ln w="12192">
            <a:solidFill>
              <a:srgbClr val="085091"/>
            </a:solidFill>
          </a:ln>
        </p:spPr>
        <p:txBody>
          <a:bodyPr vert="horz" wrap="square" lIns="0" tIns="175260" rIns="0" bIns="0" rtlCol="0">
            <a:spAutoFit/>
          </a:bodyPr>
          <a:lstStyle/>
          <a:p>
            <a:pPr marL="702945">
              <a:lnSpc>
                <a:spcPct val="100000"/>
              </a:lnSpc>
              <a:spcBef>
                <a:spcPts val="1380"/>
              </a:spcBef>
            </a:pPr>
            <a:r>
              <a:rPr sz="28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Blending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51876" y="2327148"/>
            <a:ext cx="2664460" cy="824865"/>
          </a:xfrm>
          <a:prstGeom prst="rect">
            <a:avLst/>
          </a:prstGeom>
          <a:solidFill>
            <a:srgbClr val="0E6EC5"/>
          </a:solidFill>
          <a:ln w="12192">
            <a:solidFill>
              <a:srgbClr val="085091"/>
            </a:solidFill>
          </a:ln>
        </p:spPr>
        <p:txBody>
          <a:bodyPr vert="horz" wrap="square" lIns="0" tIns="175895" rIns="0" bIns="0" rtlCol="0">
            <a:spAutoFit/>
          </a:bodyPr>
          <a:lstStyle/>
          <a:p>
            <a:pPr marL="374650">
              <a:lnSpc>
                <a:spcPct val="100000"/>
              </a:lnSpc>
              <a:spcBef>
                <a:spcPts val="1385"/>
              </a:spcBef>
            </a:pPr>
            <a:r>
              <a:rPr sz="28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Relationships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91128" y="3944111"/>
            <a:ext cx="4810125" cy="646430"/>
          </a:xfrm>
          <a:prstGeom prst="rect">
            <a:avLst/>
          </a:prstGeom>
          <a:ln w="9144">
            <a:solidFill>
              <a:srgbClr val="7E7E7E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897255" marR="467995" indent="-426720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Blending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is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used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when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data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tables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are </a:t>
            </a:r>
            <a:r>
              <a:rPr sz="1800" dirty="0">
                <a:latin typeface="Calibri" panose="020F0502020204030204"/>
                <a:cs typeface="Calibri" panose="020F0502020204030204"/>
              </a:rPr>
              <a:t>present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different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data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sources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Data</a:t>
            </a:r>
            <a:r>
              <a:rPr spc="-19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Analysis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16051" y="3031363"/>
            <a:ext cx="16624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Functions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Start-</a:t>
            </a:r>
            <a:r>
              <a:rPr spc="-25" dirty="0"/>
              <a:t>Tech </a:t>
            </a:r>
            <a:r>
              <a:rPr spc="-10" dirty="0"/>
              <a:t>Academy</a:t>
            </a: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4626864" y="1342644"/>
            <a:ext cx="5750560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635000">
              <a:lnSpc>
                <a:spcPct val="100000"/>
              </a:lnSpc>
              <a:spcBef>
                <a:spcPts val="245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Predefined</a:t>
            </a:r>
            <a:r>
              <a:rPr sz="18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formulas</a:t>
            </a:r>
            <a:r>
              <a:rPr sz="18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to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do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a</a:t>
            </a:r>
            <a:r>
              <a:rPr sz="18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specific</a:t>
            </a:r>
            <a:r>
              <a:rPr sz="18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calculation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13301" y="2059304"/>
            <a:ext cx="1774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Types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functions: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13301" y="2608326"/>
            <a:ext cx="222567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496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Number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functions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Date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functions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spc="-40" dirty="0">
                <a:latin typeface="Calibri" panose="020F0502020204030204"/>
                <a:cs typeface="Calibri" panose="020F0502020204030204"/>
              </a:rPr>
              <a:t>Text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functions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Logical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functions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Aggregate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functions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13301" y="4254500"/>
            <a:ext cx="63665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  <a:hlinkClick r:id="rId1"/>
              </a:rPr>
              <a:t>Documentation</a:t>
            </a:r>
            <a:r>
              <a:rPr sz="1800" dirty="0">
                <a:latin typeface="Calibri" panose="020F0502020204030204"/>
                <a:cs typeface="Calibri" panose="020F0502020204030204"/>
                <a:hlinkClick r:id="rId1"/>
              </a:rPr>
              <a:t> -</a:t>
            </a:r>
            <a:r>
              <a:rPr sz="1800" spc="-20" dirty="0">
                <a:latin typeface="Calibri" panose="020F0502020204030204"/>
                <a:cs typeface="Calibri" panose="020F0502020204030204"/>
                <a:hlinkClick r:id="rId1"/>
              </a:rPr>
              <a:t> </a:t>
            </a:r>
            <a:r>
              <a:rPr sz="1800" u="sng" spc="-10" dirty="0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Calibri" panose="020F0502020204030204"/>
                <a:cs typeface="Calibri" panose="020F0502020204030204"/>
                <a:hlinkClick r:id="rId1"/>
              </a:rPr>
              <a:t>https://help.tableau.com/current/pro/desktop/en-</a:t>
            </a:r>
            <a:r>
              <a:rPr sz="1800" spc="-10" dirty="0">
                <a:solidFill>
                  <a:srgbClr val="F49100"/>
                </a:solidFill>
                <a:latin typeface="Calibri" panose="020F0502020204030204"/>
                <a:cs typeface="Calibri" panose="020F0502020204030204"/>
                <a:hlinkClick r:id="rId1"/>
              </a:rPr>
              <a:t> </a:t>
            </a:r>
            <a:r>
              <a:rPr sz="1800" u="sng" spc="-10" dirty="0">
                <a:solidFill>
                  <a:srgbClr val="F49100"/>
                </a:solidFill>
                <a:uFill>
                  <a:solidFill>
                    <a:srgbClr val="F49100"/>
                  </a:solidFill>
                </a:uFill>
                <a:latin typeface="Calibri" panose="020F0502020204030204"/>
                <a:cs typeface="Calibri" panose="020F0502020204030204"/>
                <a:hlinkClick r:id="rId1"/>
              </a:rPr>
              <a:t>us/functions_all_categories.htm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96867" y="5469635"/>
            <a:ext cx="7880984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250"/>
              </a:spcBef>
            </a:pPr>
            <a:r>
              <a:rPr sz="1800" b="1" spc="-20" dirty="0">
                <a:latin typeface="Calibri" panose="020F0502020204030204"/>
                <a:cs typeface="Calibri" panose="020F0502020204030204"/>
              </a:rPr>
              <a:t>Task</a:t>
            </a:r>
            <a:r>
              <a:rPr sz="18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–</a:t>
            </a:r>
            <a:r>
              <a:rPr sz="18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Create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same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calculated </a:t>
            </a:r>
            <a:r>
              <a:rPr sz="1800" dirty="0">
                <a:latin typeface="Calibri" panose="020F0502020204030204"/>
                <a:cs typeface="Calibri" panose="020F0502020204030204"/>
              </a:rPr>
              <a:t>field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(as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last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class)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using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CASE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WHEN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function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Data</a:t>
            </a:r>
            <a:r>
              <a:rPr spc="-19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Analysis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13359" y="3031363"/>
            <a:ext cx="207073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57404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Table Calculations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6864" y="1342644"/>
            <a:ext cx="6826250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45"/>
              </a:spcBef>
            </a:pPr>
            <a:r>
              <a:rPr sz="1800" b="1" spc="-20" dirty="0">
                <a:latin typeface="Calibri" panose="020F0502020204030204"/>
                <a:cs typeface="Calibri" panose="020F0502020204030204"/>
              </a:rPr>
              <a:t>Table</a:t>
            </a:r>
            <a:r>
              <a:rPr sz="18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calculations</a:t>
            </a:r>
            <a:r>
              <a:rPr sz="18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–</a:t>
            </a:r>
            <a:r>
              <a:rPr sz="18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Calculations</a:t>
            </a:r>
            <a:r>
              <a:rPr sz="18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on</a:t>
            </a:r>
            <a:r>
              <a:rPr sz="1800" b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plotted</a:t>
            </a:r>
            <a:r>
              <a:rPr sz="1800" b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20" dirty="0">
                <a:latin typeface="Calibri" panose="020F0502020204030204"/>
                <a:cs typeface="Calibri" panose="020F0502020204030204"/>
              </a:rPr>
              <a:t>data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420062" y="1805434"/>
            <a:ext cx="4178088" cy="397143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Start-</a:t>
            </a:r>
            <a:r>
              <a:rPr spc="-25" dirty="0"/>
              <a:t>Tech </a:t>
            </a:r>
            <a:r>
              <a:rPr spc="-10" dirty="0"/>
              <a:t>Academy</a:t>
            </a:r>
            <a:endParaRPr spc="-1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Data</a:t>
            </a:r>
            <a:r>
              <a:rPr spc="-19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Analysis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13359" y="3031363"/>
            <a:ext cx="207073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57404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Table Calculations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6864" y="1342644"/>
            <a:ext cx="6826250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143510">
              <a:lnSpc>
                <a:spcPct val="100000"/>
              </a:lnSpc>
              <a:spcBef>
                <a:spcPts val="245"/>
              </a:spcBef>
            </a:pPr>
            <a:r>
              <a:rPr sz="1800" b="1" spc="-20" dirty="0">
                <a:latin typeface="Calibri" panose="020F0502020204030204"/>
                <a:cs typeface="Calibri" panose="020F0502020204030204"/>
              </a:rPr>
              <a:t>Table</a:t>
            </a:r>
            <a:r>
              <a:rPr sz="18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calculations</a:t>
            </a:r>
            <a:r>
              <a:rPr sz="18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only</a:t>
            </a:r>
            <a:r>
              <a:rPr sz="1800"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consider</a:t>
            </a:r>
            <a:r>
              <a:rPr sz="18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final</a:t>
            </a:r>
            <a:r>
              <a:rPr sz="18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data</a:t>
            </a:r>
            <a:r>
              <a:rPr sz="18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plotted</a:t>
            </a:r>
            <a:r>
              <a:rPr sz="18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for</a:t>
            </a:r>
            <a:r>
              <a:rPr sz="1800"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calculations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72627" y="4377893"/>
            <a:ext cx="24549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Final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data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which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is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plotted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035418" y="3192779"/>
            <a:ext cx="3324860" cy="1351915"/>
            <a:chOff x="7035418" y="3192779"/>
            <a:chExt cx="3324860" cy="1351915"/>
          </a:xfrm>
        </p:grpSpPr>
        <p:pic>
          <p:nvPicPr>
            <p:cNvPr id="8" name="object 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008363" y="3192779"/>
              <a:ext cx="1351787" cy="135178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035418" y="3831081"/>
              <a:ext cx="1974214" cy="76200"/>
            </a:xfrm>
            <a:custGeom>
              <a:avLst/>
              <a:gdLst/>
              <a:ahLst/>
              <a:cxnLst/>
              <a:rect l="l" t="t" r="r" b="b"/>
              <a:pathLst>
                <a:path w="1974215" h="76200">
                  <a:moveTo>
                    <a:pt x="1897379" y="0"/>
                  </a:moveTo>
                  <a:lnTo>
                    <a:pt x="1897567" y="28148"/>
                  </a:lnTo>
                  <a:lnTo>
                    <a:pt x="1897630" y="37592"/>
                  </a:lnTo>
                  <a:lnTo>
                    <a:pt x="1897699" y="47960"/>
                  </a:lnTo>
                  <a:lnTo>
                    <a:pt x="1897781" y="60198"/>
                  </a:lnTo>
                  <a:lnTo>
                    <a:pt x="1897887" y="76200"/>
                  </a:lnTo>
                  <a:lnTo>
                    <a:pt x="1953438" y="47960"/>
                  </a:lnTo>
                  <a:lnTo>
                    <a:pt x="1910334" y="47960"/>
                  </a:lnTo>
                  <a:lnTo>
                    <a:pt x="1910207" y="28148"/>
                  </a:lnTo>
                  <a:lnTo>
                    <a:pt x="1954627" y="28148"/>
                  </a:lnTo>
                  <a:lnTo>
                    <a:pt x="1897379" y="0"/>
                  </a:lnTo>
                  <a:close/>
                </a:path>
                <a:path w="1974215" h="76200">
                  <a:moveTo>
                    <a:pt x="1897567" y="28148"/>
                  </a:moveTo>
                  <a:lnTo>
                    <a:pt x="0" y="40386"/>
                  </a:lnTo>
                  <a:lnTo>
                    <a:pt x="126" y="60198"/>
                  </a:lnTo>
                  <a:lnTo>
                    <a:pt x="1897699" y="47960"/>
                  </a:lnTo>
                  <a:lnTo>
                    <a:pt x="1897630" y="37592"/>
                  </a:lnTo>
                  <a:lnTo>
                    <a:pt x="1897567" y="28148"/>
                  </a:lnTo>
                  <a:close/>
                </a:path>
                <a:path w="1974215" h="76200">
                  <a:moveTo>
                    <a:pt x="1954627" y="28148"/>
                  </a:moveTo>
                  <a:lnTo>
                    <a:pt x="1910207" y="28148"/>
                  </a:lnTo>
                  <a:lnTo>
                    <a:pt x="1910334" y="47960"/>
                  </a:lnTo>
                  <a:lnTo>
                    <a:pt x="1953438" y="47960"/>
                  </a:lnTo>
                  <a:lnTo>
                    <a:pt x="1973833" y="37592"/>
                  </a:lnTo>
                  <a:lnTo>
                    <a:pt x="1954627" y="281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7123" y="2540507"/>
            <a:ext cx="2253081" cy="268224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776596" y="5349341"/>
            <a:ext cx="1759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complete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data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Data</a:t>
            </a:r>
            <a:r>
              <a:rPr spc="-19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Analysis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13359" y="3031363"/>
            <a:ext cx="207073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57404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Table Calculations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6864" y="1342644"/>
            <a:ext cx="6826250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544195">
              <a:lnSpc>
                <a:spcPct val="100000"/>
              </a:lnSpc>
              <a:spcBef>
                <a:spcPts val="245"/>
              </a:spcBef>
            </a:pPr>
            <a:r>
              <a:rPr sz="1800" b="1" spc="-20" dirty="0">
                <a:latin typeface="Calibri" panose="020F0502020204030204"/>
                <a:cs typeface="Calibri" panose="020F0502020204030204"/>
              </a:rPr>
              <a:t>Table</a:t>
            </a:r>
            <a:r>
              <a:rPr sz="18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calculations</a:t>
            </a:r>
            <a:r>
              <a:rPr sz="18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have</a:t>
            </a:r>
            <a:r>
              <a:rPr sz="18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two</a:t>
            </a:r>
            <a:r>
              <a:rPr sz="18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parts</a:t>
            </a:r>
            <a:r>
              <a:rPr sz="18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–</a:t>
            </a:r>
            <a:r>
              <a:rPr sz="18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Calculation</a:t>
            </a:r>
            <a:r>
              <a:rPr sz="1800"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and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Direction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70503" y="1957578"/>
            <a:ext cx="61868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Types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calculations </a:t>
            </a:r>
            <a:r>
              <a:rPr sz="1800" dirty="0">
                <a:latin typeface="Calibri" panose="020F0502020204030204"/>
                <a:cs typeface="Calibri" panose="020F0502020204030204"/>
              </a:rPr>
              <a:t>–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Differences,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percentages,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ranks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etc.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Direction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–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Across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table,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Down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table,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down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and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across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etc.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684778" y="3345560"/>
          <a:ext cx="8216900" cy="1852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2135"/>
                <a:gridCol w="1408430"/>
                <a:gridCol w="1624965"/>
                <a:gridCol w="1624964"/>
                <a:gridCol w="1624965"/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Marketing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Finance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HR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Total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Salaries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200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300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100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600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FDFA0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Agency</a:t>
                      </a: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payments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500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100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500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1100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FDFA0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Other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expenses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300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100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200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600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FDFA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Total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1000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FDFA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500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FDFA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800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FDFA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2300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Data</a:t>
            </a:r>
            <a:r>
              <a:rPr spc="-19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Analysis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13359" y="3031363"/>
            <a:ext cx="207073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57404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Table Calculations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6864" y="1342644"/>
            <a:ext cx="6826250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544195">
              <a:lnSpc>
                <a:spcPct val="100000"/>
              </a:lnSpc>
              <a:spcBef>
                <a:spcPts val="245"/>
              </a:spcBef>
            </a:pPr>
            <a:r>
              <a:rPr sz="1800" b="1" spc="-20" dirty="0">
                <a:latin typeface="Calibri" panose="020F0502020204030204"/>
                <a:cs typeface="Calibri" panose="020F0502020204030204"/>
              </a:rPr>
              <a:t>Table</a:t>
            </a:r>
            <a:r>
              <a:rPr sz="18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calculations</a:t>
            </a:r>
            <a:r>
              <a:rPr sz="18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have</a:t>
            </a:r>
            <a:r>
              <a:rPr sz="18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two</a:t>
            </a:r>
            <a:r>
              <a:rPr sz="18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parts</a:t>
            </a:r>
            <a:r>
              <a:rPr sz="18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–</a:t>
            </a:r>
            <a:r>
              <a:rPr sz="18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Calculation</a:t>
            </a:r>
            <a:r>
              <a:rPr sz="1800"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and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Direction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734942" y="2004186"/>
            <a:ext cx="8153400" cy="1879600"/>
            <a:chOff x="3734942" y="2004186"/>
            <a:chExt cx="8153400" cy="1879600"/>
          </a:xfrm>
        </p:grpSpPr>
        <p:sp>
          <p:nvSpPr>
            <p:cNvPr id="7" name="object 7"/>
            <p:cNvSpPr/>
            <p:nvPr/>
          </p:nvSpPr>
          <p:spPr>
            <a:xfrm>
              <a:off x="3747642" y="2016886"/>
              <a:ext cx="1842770" cy="370840"/>
            </a:xfrm>
            <a:custGeom>
              <a:avLst/>
              <a:gdLst/>
              <a:ahLst/>
              <a:cxnLst/>
              <a:rect l="l" t="t" r="r" b="b"/>
              <a:pathLst>
                <a:path w="1842770" h="370839">
                  <a:moveTo>
                    <a:pt x="1842389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1842389" y="370839"/>
                  </a:lnTo>
                  <a:lnTo>
                    <a:pt x="1842389" y="0"/>
                  </a:lnTo>
                  <a:close/>
                </a:path>
              </a:pathLst>
            </a:custGeom>
            <a:solidFill>
              <a:srgbClr val="E7EB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747643" y="2016886"/>
              <a:ext cx="8128000" cy="741680"/>
            </a:xfrm>
            <a:custGeom>
              <a:avLst/>
              <a:gdLst/>
              <a:ahLst/>
              <a:cxnLst/>
              <a:rect l="l" t="t" r="r" b="b"/>
              <a:pathLst>
                <a:path w="8128000" h="741680">
                  <a:moveTo>
                    <a:pt x="1842376" y="370840"/>
                  </a:moveTo>
                  <a:lnTo>
                    <a:pt x="0" y="370840"/>
                  </a:lnTo>
                  <a:lnTo>
                    <a:pt x="0" y="741680"/>
                  </a:lnTo>
                  <a:lnTo>
                    <a:pt x="1842376" y="741680"/>
                  </a:lnTo>
                  <a:lnTo>
                    <a:pt x="1842376" y="370840"/>
                  </a:lnTo>
                  <a:close/>
                </a:path>
                <a:path w="8128000" h="741680">
                  <a:moveTo>
                    <a:pt x="8128000" y="0"/>
                  </a:moveTo>
                  <a:lnTo>
                    <a:pt x="6502400" y="0"/>
                  </a:lnTo>
                  <a:lnTo>
                    <a:pt x="4876800" y="0"/>
                  </a:lnTo>
                  <a:lnTo>
                    <a:pt x="3251200" y="0"/>
                  </a:lnTo>
                  <a:lnTo>
                    <a:pt x="1842389" y="0"/>
                  </a:lnTo>
                  <a:lnTo>
                    <a:pt x="1842389" y="370840"/>
                  </a:lnTo>
                  <a:lnTo>
                    <a:pt x="3251200" y="370840"/>
                  </a:lnTo>
                  <a:lnTo>
                    <a:pt x="4876800" y="370840"/>
                  </a:lnTo>
                  <a:lnTo>
                    <a:pt x="6502400" y="370840"/>
                  </a:lnTo>
                  <a:lnTo>
                    <a:pt x="8128000" y="370840"/>
                  </a:lnTo>
                  <a:lnTo>
                    <a:pt x="8128000" y="0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590032" y="2387726"/>
              <a:ext cx="4660265" cy="370840"/>
            </a:xfrm>
            <a:custGeom>
              <a:avLst/>
              <a:gdLst/>
              <a:ahLst/>
              <a:cxnLst/>
              <a:rect l="l" t="t" r="r" b="b"/>
              <a:pathLst>
                <a:path w="4660265" h="370839">
                  <a:moveTo>
                    <a:pt x="4660011" y="0"/>
                  </a:moveTo>
                  <a:lnTo>
                    <a:pt x="3034411" y="0"/>
                  </a:lnTo>
                  <a:lnTo>
                    <a:pt x="1408811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1408811" y="370840"/>
                  </a:lnTo>
                  <a:lnTo>
                    <a:pt x="3034411" y="370840"/>
                  </a:lnTo>
                  <a:lnTo>
                    <a:pt x="4660011" y="370840"/>
                  </a:lnTo>
                  <a:lnTo>
                    <a:pt x="4660011" y="0"/>
                  </a:lnTo>
                  <a:close/>
                </a:path>
              </a:pathLst>
            </a:custGeom>
            <a:solidFill>
              <a:srgbClr val="E7EB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250042" y="2387726"/>
              <a:ext cx="1625600" cy="370840"/>
            </a:xfrm>
            <a:custGeom>
              <a:avLst/>
              <a:gdLst/>
              <a:ahLst/>
              <a:cxnLst/>
              <a:rect l="l" t="t" r="r" b="b"/>
              <a:pathLst>
                <a:path w="1625600" h="370839">
                  <a:moveTo>
                    <a:pt x="1625600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1625600" y="370839"/>
                  </a:lnTo>
                  <a:lnTo>
                    <a:pt x="1625600" y="0"/>
                  </a:lnTo>
                  <a:close/>
                </a:path>
              </a:pathLst>
            </a:custGeom>
            <a:solidFill>
              <a:srgbClr val="AFDF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747642" y="2758566"/>
              <a:ext cx="1842770" cy="370840"/>
            </a:xfrm>
            <a:custGeom>
              <a:avLst/>
              <a:gdLst/>
              <a:ahLst/>
              <a:cxnLst/>
              <a:rect l="l" t="t" r="r" b="b"/>
              <a:pathLst>
                <a:path w="1842770" h="370839">
                  <a:moveTo>
                    <a:pt x="1842389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1842389" y="370839"/>
                  </a:lnTo>
                  <a:lnTo>
                    <a:pt x="1842389" y="0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590032" y="2758579"/>
              <a:ext cx="4660265" cy="370840"/>
            </a:xfrm>
            <a:custGeom>
              <a:avLst/>
              <a:gdLst/>
              <a:ahLst/>
              <a:cxnLst/>
              <a:rect l="l" t="t" r="r" b="b"/>
              <a:pathLst>
                <a:path w="4660265" h="370839">
                  <a:moveTo>
                    <a:pt x="4660011" y="0"/>
                  </a:moveTo>
                  <a:lnTo>
                    <a:pt x="3034411" y="0"/>
                  </a:lnTo>
                  <a:lnTo>
                    <a:pt x="1408811" y="0"/>
                  </a:lnTo>
                  <a:lnTo>
                    <a:pt x="0" y="0"/>
                  </a:lnTo>
                  <a:lnTo>
                    <a:pt x="0" y="370827"/>
                  </a:lnTo>
                  <a:lnTo>
                    <a:pt x="1408811" y="370827"/>
                  </a:lnTo>
                  <a:lnTo>
                    <a:pt x="3034411" y="370827"/>
                  </a:lnTo>
                  <a:lnTo>
                    <a:pt x="4660011" y="370827"/>
                  </a:lnTo>
                  <a:lnTo>
                    <a:pt x="4660011" y="0"/>
                  </a:lnTo>
                  <a:close/>
                </a:path>
              </a:pathLst>
            </a:custGeom>
            <a:solidFill>
              <a:srgbClr val="E7EB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250042" y="2758566"/>
              <a:ext cx="1625600" cy="370840"/>
            </a:xfrm>
            <a:custGeom>
              <a:avLst/>
              <a:gdLst/>
              <a:ahLst/>
              <a:cxnLst/>
              <a:rect l="l" t="t" r="r" b="b"/>
              <a:pathLst>
                <a:path w="1625600" h="370839">
                  <a:moveTo>
                    <a:pt x="1625600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1625600" y="370839"/>
                  </a:lnTo>
                  <a:lnTo>
                    <a:pt x="1625600" y="0"/>
                  </a:lnTo>
                  <a:close/>
                </a:path>
              </a:pathLst>
            </a:custGeom>
            <a:solidFill>
              <a:srgbClr val="AFDF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747642" y="3129406"/>
              <a:ext cx="1842770" cy="370840"/>
            </a:xfrm>
            <a:custGeom>
              <a:avLst/>
              <a:gdLst/>
              <a:ahLst/>
              <a:cxnLst/>
              <a:rect l="l" t="t" r="r" b="b"/>
              <a:pathLst>
                <a:path w="1842770" h="370839">
                  <a:moveTo>
                    <a:pt x="1842389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1842389" y="370839"/>
                  </a:lnTo>
                  <a:lnTo>
                    <a:pt x="1842389" y="0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590032" y="3129406"/>
              <a:ext cx="4518660" cy="370840"/>
            </a:xfrm>
            <a:custGeom>
              <a:avLst/>
              <a:gdLst/>
              <a:ahLst/>
              <a:cxnLst/>
              <a:rect l="l" t="t" r="r" b="b"/>
              <a:pathLst>
                <a:path w="4518659" h="370839">
                  <a:moveTo>
                    <a:pt x="4518660" y="0"/>
                  </a:moveTo>
                  <a:lnTo>
                    <a:pt x="3034411" y="0"/>
                  </a:lnTo>
                  <a:lnTo>
                    <a:pt x="1408811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1408811" y="370840"/>
                  </a:lnTo>
                  <a:lnTo>
                    <a:pt x="3034411" y="370840"/>
                  </a:lnTo>
                  <a:lnTo>
                    <a:pt x="4518660" y="370840"/>
                  </a:lnTo>
                  <a:lnTo>
                    <a:pt x="4518660" y="0"/>
                  </a:lnTo>
                  <a:close/>
                </a:path>
              </a:pathLst>
            </a:custGeom>
            <a:solidFill>
              <a:srgbClr val="E7EB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1603736" y="3129406"/>
              <a:ext cx="272415" cy="370840"/>
            </a:xfrm>
            <a:custGeom>
              <a:avLst/>
              <a:gdLst/>
              <a:ahLst/>
              <a:cxnLst/>
              <a:rect l="l" t="t" r="r" b="b"/>
              <a:pathLst>
                <a:path w="272415" h="370839">
                  <a:moveTo>
                    <a:pt x="0" y="370839"/>
                  </a:moveTo>
                  <a:lnTo>
                    <a:pt x="271906" y="370839"/>
                  </a:lnTo>
                  <a:lnTo>
                    <a:pt x="271906" y="0"/>
                  </a:lnTo>
                  <a:lnTo>
                    <a:pt x="0" y="0"/>
                  </a:lnTo>
                  <a:lnTo>
                    <a:pt x="0" y="370839"/>
                  </a:lnTo>
                  <a:close/>
                </a:path>
              </a:pathLst>
            </a:custGeom>
            <a:solidFill>
              <a:srgbClr val="AFDF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747642" y="3500247"/>
              <a:ext cx="1842770" cy="370840"/>
            </a:xfrm>
            <a:custGeom>
              <a:avLst/>
              <a:gdLst/>
              <a:ahLst/>
              <a:cxnLst/>
              <a:rect l="l" t="t" r="r" b="b"/>
              <a:pathLst>
                <a:path w="1842770" h="370839">
                  <a:moveTo>
                    <a:pt x="1842389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1842389" y="370839"/>
                  </a:lnTo>
                  <a:lnTo>
                    <a:pt x="1842389" y="0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590032" y="3500246"/>
              <a:ext cx="4660265" cy="370840"/>
            </a:xfrm>
            <a:custGeom>
              <a:avLst/>
              <a:gdLst/>
              <a:ahLst/>
              <a:cxnLst/>
              <a:rect l="l" t="t" r="r" b="b"/>
              <a:pathLst>
                <a:path w="4660265" h="370839">
                  <a:moveTo>
                    <a:pt x="4660011" y="0"/>
                  </a:moveTo>
                  <a:lnTo>
                    <a:pt x="3034411" y="0"/>
                  </a:lnTo>
                  <a:lnTo>
                    <a:pt x="1408811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1408811" y="370840"/>
                  </a:lnTo>
                  <a:lnTo>
                    <a:pt x="3034411" y="370840"/>
                  </a:lnTo>
                  <a:lnTo>
                    <a:pt x="4660011" y="370840"/>
                  </a:lnTo>
                  <a:lnTo>
                    <a:pt x="4660011" y="0"/>
                  </a:lnTo>
                  <a:close/>
                </a:path>
              </a:pathLst>
            </a:custGeom>
            <a:solidFill>
              <a:srgbClr val="AFDF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0250042" y="3500247"/>
              <a:ext cx="1625600" cy="370840"/>
            </a:xfrm>
            <a:custGeom>
              <a:avLst/>
              <a:gdLst/>
              <a:ahLst/>
              <a:cxnLst/>
              <a:rect l="l" t="t" r="r" b="b"/>
              <a:pathLst>
                <a:path w="1625600" h="370839">
                  <a:moveTo>
                    <a:pt x="1625600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1625600" y="370839"/>
                  </a:lnTo>
                  <a:lnTo>
                    <a:pt x="1625600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741292" y="2010536"/>
              <a:ext cx="8140700" cy="1866900"/>
            </a:xfrm>
            <a:custGeom>
              <a:avLst/>
              <a:gdLst/>
              <a:ahLst/>
              <a:cxnLst/>
              <a:rect l="l" t="t" r="r" b="b"/>
              <a:pathLst>
                <a:path w="8140700" h="1866900">
                  <a:moveTo>
                    <a:pt x="1848739" y="0"/>
                  </a:moveTo>
                  <a:lnTo>
                    <a:pt x="1848739" y="1866900"/>
                  </a:lnTo>
                </a:path>
                <a:path w="8140700" h="1866900">
                  <a:moveTo>
                    <a:pt x="3257550" y="0"/>
                  </a:moveTo>
                  <a:lnTo>
                    <a:pt x="3257550" y="1866900"/>
                  </a:lnTo>
                </a:path>
                <a:path w="8140700" h="1866900">
                  <a:moveTo>
                    <a:pt x="4883150" y="0"/>
                  </a:moveTo>
                  <a:lnTo>
                    <a:pt x="4883150" y="597026"/>
                  </a:lnTo>
                </a:path>
                <a:path w="8140700" h="1866900">
                  <a:moveTo>
                    <a:pt x="6508750" y="0"/>
                  </a:moveTo>
                  <a:lnTo>
                    <a:pt x="6508750" y="1866900"/>
                  </a:lnTo>
                </a:path>
                <a:path w="8140700" h="1866900">
                  <a:moveTo>
                    <a:pt x="0" y="377189"/>
                  </a:moveTo>
                  <a:lnTo>
                    <a:pt x="8140700" y="377189"/>
                  </a:lnTo>
                </a:path>
                <a:path w="8140700" h="1866900">
                  <a:moveTo>
                    <a:pt x="4965319" y="748029"/>
                  </a:moveTo>
                  <a:lnTo>
                    <a:pt x="8140700" y="748029"/>
                  </a:lnTo>
                </a:path>
                <a:path w="8140700" h="1866900">
                  <a:moveTo>
                    <a:pt x="0" y="1118870"/>
                  </a:moveTo>
                  <a:lnTo>
                    <a:pt x="8140700" y="1118870"/>
                  </a:lnTo>
                </a:path>
                <a:path w="8140700" h="1866900">
                  <a:moveTo>
                    <a:pt x="0" y="1489710"/>
                  </a:moveTo>
                  <a:lnTo>
                    <a:pt x="8140700" y="1489710"/>
                  </a:lnTo>
                </a:path>
                <a:path w="8140700" h="1866900">
                  <a:moveTo>
                    <a:pt x="6350" y="0"/>
                  </a:moveTo>
                  <a:lnTo>
                    <a:pt x="6350" y="1866900"/>
                  </a:lnTo>
                </a:path>
                <a:path w="8140700" h="1866900">
                  <a:moveTo>
                    <a:pt x="8134350" y="0"/>
                  </a:moveTo>
                  <a:lnTo>
                    <a:pt x="8134350" y="1866900"/>
                  </a:lnTo>
                </a:path>
                <a:path w="8140700" h="1866900">
                  <a:moveTo>
                    <a:pt x="0" y="6350"/>
                  </a:moveTo>
                  <a:lnTo>
                    <a:pt x="8140700" y="6350"/>
                  </a:lnTo>
                </a:path>
                <a:path w="8140700" h="1866900">
                  <a:moveTo>
                    <a:pt x="0" y="1860550"/>
                  </a:moveTo>
                  <a:lnTo>
                    <a:pt x="8140700" y="18605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3826890" y="2406141"/>
            <a:ext cx="736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Salaries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342753" y="2846476"/>
            <a:ext cx="463550" cy="600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1100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r>
              <a:rPr sz="1800" spc="-25" dirty="0">
                <a:latin typeface="Calibri" panose="020F0502020204030204"/>
                <a:cs typeface="Calibri" panose="020F0502020204030204"/>
              </a:rPr>
              <a:t>600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330053" y="3518661"/>
            <a:ext cx="488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2300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243829" y="2331466"/>
            <a:ext cx="6366510" cy="645160"/>
            <a:chOff x="5243829" y="2331466"/>
            <a:chExt cx="6366510" cy="645160"/>
          </a:xfrm>
        </p:grpSpPr>
        <p:sp>
          <p:nvSpPr>
            <p:cNvPr id="25" name="object 25"/>
            <p:cNvSpPr/>
            <p:nvPr/>
          </p:nvSpPr>
          <p:spPr>
            <a:xfrm>
              <a:off x="5250179" y="2337816"/>
              <a:ext cx="6353810" cy="189230"/>
            </a:xfrm>
            <a:custGeom>
              <a:avLst/>
              <a:gdLst/>
              <a:ahLst/>
              <a:cxnLst/>
              <a:rect l="l" t="t" r="r" b="b"/>
              <a:pathLst>
                <a:path w="6353809" h="189230">
                  <a:moveTo>
                    <a:pt x="5969" y="47244"/>
                  </a:moveTo>
                  <a:lnTo>
                    <a:pt x="0" y="47244"/>
                  </a:lnTo>
                  <a:lnTo>
                    <a:pt x="0" y="141732"/>
                  </a:lnTo>
                  <a:lnTo>
                    <a:pt x="5969" y="141732"/>
                  </a:lnTo>
                  <a:lnTo>
                    <a:pt x="5969" y="47244"/>
                  </a:lnTo>
                  <a:close/>
                </a:path>
                <a:path w="6353809" h="189230">
                  <a:moveTo>
                    <a:pt x="23622" y="47244"/>
                  </a:moveTo>
                  <a:lnTo>
                    <a:pt x="11811" y="47244"/>
                  </a:lnTo>
                  <a:lnTo>
                    <a:pt x="11811" y="141732"/>
                  </a:lnTo>
                  <a:lnTo>
                    <a:pt x="23622" y="141732"/>
                  </a:lnTo>
                  <a:lnTo>
                    <a:pt x="23622" y="47244"/>
                  </a:lnTo>
                  <a:close/>
                </a:path>
                <a:path w="6353809" h="189230">
                  <a:moveTo>
                    <a:pt x="6259068" y="0"/>
                  </a:moveTo>
                  <a:lnTo>
                    <a:pt x="6259068" y="47244"/>
                  </a:lnTo>
                  <a:lnTo>
                    <a:pt x="29591" y="47244"/>
                  </a:lnTo>
                  <a:lnTo>
                    <a:pt x="29591" y="141732"/>
                  </a:lnTo>
                  <a:lnTo>
                    <a:pt x="6259068" y="141732"/>
                  </a:lnTo>
                  <a:lnTo>
                    <a:pt x="6259068" y="188975"/>
                  </a:lnTo>
                  <a:lnTo>
                    <a:pt x="6353556" y="94487"/>
                  </a:lnTo>
                  <a:lnTo>
                    <a:pt x="625906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250179" y="2337816"/>
              <a:ext cx="6353810" cy="189230"/>
            </a:xfrm>
            <a:custGeom>
              <a:avLst/>
              <a:gdLst/>
              <a:ahLst/>
              <a:cxnLst/>
              <a:rect l="l" t="t" r="r" b="b"/>
              <a:pathLst>
                <a:path w="6353809" h="189230">
                  <a:moveTo>
                    <a:pt x="0" y="47244"/>
                  </a:moveTo>
                  <a:lnTo>
                    <a:pt x="5969" y="47244"/>
                  </a:lnTo>
                  <a:lnTo>
                    <a:pt x="5969" y="141732"/>
                  </a:lnTo>
                  <a:lnTo>
                    <a:pt x="0" y="141732"/>
                  </a:lnTo>
                  <a:lnTo>
                    <a:pt x="0" y="47244"/>
                  </a:lnTo>
                  <a:close/>
                </a:path>
                <a:path w="6353809" h="189230">
                  <a:moveTo>
                    <a:pt x="11811" y="47244"/>
                  </a:moveTo>
                  <a:lnTo>
                    <a:pt x="23622" y="47244"/>
                  </a:lnTo>
                  <a:lnTo>
                    <a:pt x="23622" y="141732"/>
                  </a:lnTo>
                  <a:lnTo>
                    <a:pt x="11811" y="141732"/>
                  </a:lnTo>
                  <a:lnTo>
                    <a:pt x="11811" y="47244"/>
                  </a:lnTo>
                  <a:close/>
                </a:path>
                <a:path w="6353809" h="189230">
                  <a:moveTo>
                    <a:pt x="29591" y="47244"/>
                  </a:moveTo>
                  <a:lnTo>
                    <a:pt x="6259068" y="47244"/>
                  </a:lnTo>
                  <a:lnTo>
                    <a:pt x="6259068" y="0"/>
                  </a:lnTo>
                  <a:lnTo>
                    <a:pt x="6353556" y="94487"/>
                  </a:lnTo>
                  <a:lnTo>
                    <a:pt x="6259068" y="188975"/>
                  </a:lnTo>
                  <a:lnTo>
                    <a:pt x="6259068" y="141732"/>
                  </a:lnTo>
                  <a:lnTo>
                    <a:pt x="29591" y="141732"/>
                  </a:lnTo>
                  <a:lnTo>
                    <a:pt x="29591" y="47244"/>
                  </a:lnTo>
                  <a:close/>
                </a:path>
              </a:pathLst>
            </a:custGeom>
            <a:ln w="12192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792211" y="2607564"/>
              <a:ext cx="914400" cy="368935"/>
            </a:xfrm>
            <a:custGeom>
              <a:avLst/>
              <a:gdLst/>
              <a:ahLst/>
              <a:cxnLst/>
              <a:rect l="l" t="t" r="r" b="b"/>
              <a:pathLst>
                <a:path w="914400" h="368935">
                  <a:moveTo>
                    <a:pt x="914400" y="0"/>
                  </a:moveTo>
                  <a:lnTo>
                    <a:pt x="0" y="0"/>
                  </a:lnTo>
                  <a:lnTo>
                    <a:pt x="0" y="368808"/>
                  </a:lnTo>
                  <a:lnTo>
                    <a:pt x="914400" y="368808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3747642" y="2758567"/>
          <a:ext cx="5424805" cy="111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2135"/>
                <a:gridCol w="1408430"/>
                <a:gridCol w="1624965"/>
                <a:gridCol w="471170"/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Agency</a:t>
                      </a:r>
                      <a:r>
                        <a:rPr sz="18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payments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0480" marB="0"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500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0480" marB="0"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20"/>
                        </a:lnSpc>
                        <a:tabLst>
                          <a:tab pos="941705" algn="l"/>
                        </a:tabLst>
                      </a:pPr>
                      <a:r>
                        <a:rPr sz="2700" spc="-37" baseline="-37000" dirty="0">
                          <a:latin typeface="Calibri" panose="020F0502020204030204"/>
                          <a:cs typeface="Calibri" panose="020F0502020204030204"/>
                        </a:rPr>
                        <a:t>100</a:t>
                      </a:r>
                      <a:r>
                        <a:rPr sz="2700" baseline="-37000" dirty="0">
                          <a:latin typeface="Calibri" panose="020F0502020204030204"/>
                          <a:cs typeface="Calibri" panose="020F0502020204030204"/>
                        </a:rPr>
                        <a:t>	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Across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032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500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E7EBF5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Other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expenses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300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100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6032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200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E7EBF5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Total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1000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solidFill>
                      <a:srgbClr val="AFDFA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500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AFDFA0"/>
                    </a:solidFill>
                  </a:tcPr>
                </a:tc>
                <a:tc>
                  <a:txBody>
                    <a:bodyPr/>
                    <a:lstStyle/>
                    <a:p>
                      <a:pPr marL="6032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800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AFDFA0"/>
                    </a:solidFill>
                  </a:tcPr>
                </a:tc>
              </a:tr>
            </a:tbl>
          </a:graphicData>
        </a:graphic>
      </p:graphicFrame>
      <p:grpSp>
        <p:nvGrpSpPr>
          <p:cNvPr id="29" name="object 29"/>
          <p:cNvGrpSpPr/>
          <p:nvPr/>
        </p:nvGrpSpPr>
        <p:grpSpPr>
          <a:xfrm>
            <a:off x="10102595" y="2324100"/>
            <a:ext cx="1507490" cy="1184275"/>
            <a:chOff x="10102595" y="2324100"/>
            <a:chExt cx="1507490" cy="1184275"/>
          </a:xfrm>
        </p:grpSpPr>
        <p:sp>
          <p:nvSpPr>
            <p:cNvPr id="30" name="object 30"/>
            <p:cNvSpPr/>
            <p:nvPr/>
          </p:nvSpPr>
          <p:spPr>
            <a:xfrm>
              <a:off x="10284713" y="2338577"/>
              <a:ext cx="472440" cy="471170"/>
            </a:xfrm>
            <a:custGeom>
              <a:avLst/>
              <a:gdLst/>
              <a:ahLst/>
              <a:cxnLst/>
              <a:rect l="l" t="t" r="r" b="b"/>
              <a:pathLst>
                <a:path w="472440" h="471169">
                  <a:moveTo>
                    <a:pt x="0" y="235458"/>
                  </a:moveTo>
                  <a:lnTo>
                    <a:pt x="4800" y="188002"/>
                  </a:lnTo>
                  <a:lnTo>
                    <a:pt x="18567" y="143803"/>
                  </a:lnTo>
                  <a:lnTo>
                    <a:pt x="40351" y="103807"/>
                  </a:lnTo>
                  <a:lnTo>
                    <a:pt x="69199" y="68961"/>
                  </a:lnTo>
                  <a:lnTo>
                    <a:pt x="104161" y="40210"/>
                  </a:lnTo>
                  <a:lnTo>
                    <a:pt x="144285" y="18502"/>
                  </a:lnTo>
                  <a:lnTo>
                    <a:pt x="188622" y="4783"/>
                  </a:lnTo>
                  <a:lnTo>
                    <a:pt x="236219" y="0"/>
                  </a:lnTo>
                  <a:lnTo>
                    <a:pt x="283817" y="4783"/>
                  </a:lnTo>
                  <a:lnTo>
                    <a:pt x="328154" y="18502"/>
                  </a:lnTo>
                  <a:lnTo>
                    <a:pt x="368278" y="40210"/>
                  </a:lnTo>
                  <a:lnTo>
                    <a:pt x="403240" y="68960"/>
                  </a:lnTo>
                  <a:lnTo>
                    <a:pt x="432088" y="103807"/>
                  </a:lnTo>
                  <a:lnTo>
                    <a:pt x="453872" y="143803"/>
                  </a:lnTo>
                  <a:lnTo>
                    <a:pt x="467639" y="188002"/>
                  </a:lnTo>
                  <a:lnTo>
                    <a:pt x="472439" y="235458"/>
                  </a:lnTo>
                  <a:lnTo>
                    <a:pt x="467639" y="282913"/>
                  </a:lnTo>
                  <a:lnTo>
                    <a:pt x="453872" y="327112"/>
                  </a:lnTo>
                  <a:lnTo>
                    <a:pt x="432088" y="367108"/>
                  </a:lnTo>
                  <a:lnTo>
                    <a:pt x="403240" y="401955"/>
                  </a:lnTo>
                  <a:lnTo>
                    <a:pt x="368278" y="430705"/>
                  </a:lnTo>
                  <a:lnTo>
                    <a:pt x="328154" y="452413"/>
                  </a:lnTo>
                  <a:lnTo>
                    <a:pt x="283817" y="466132"/>
                  </a:lnTo>
                  <a:lnTo>
                    <a:pt x="236219" y="470916"/>
                  </a:lnTo>
                  <a:lnTo>
                    <a:pt x="188622" y="466132"/>
                  </a:lnTo>
                  <a:lnTo>
                    <a:pt x="144285" y="452413"/>
                  </a:lnTo>
                  <a:lnTo>
                    <a:pt x="104161" y="430705"/>
                  </a:lnTo>
                  <a:lnTo>
                    <a:pt x="69199" y="401955"/>
                  </a:lnTo>
                  <a:lnTo>
                    <a:pt x="40351" y="367108"/>
                  </a:lnTo>
                  <a:lnTo>
                    <a:pt x="18567" y="327112"/>
                  </a:lnTo>
                  <a:lnTo>
                    <a:pt x="4800" y="282913"/>
                  </a:lnTo>
                  <a:lnTo>
                    <a:pt x="0" y="235458"/>
                  </a:lnTo>
                  <a:close/>
                </a:path>
              </a:pathLst>
            </a:custGeom>
            <a:ln w="2895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0108691" y="2855976"/>
              <a:ext cx="1495425" cy="646430"/>
            </a:xfrm>
            <a:custGeom>
              <a:avLst/>
              <a:gdLst/>
              <a:ahLst/>
              <a:cxnLst/>
              <a:rect l="l" t="t" r="r" b="b"/>
              <a:pathLst>
                <a:path w="1495425" h="646429">
                  <a:moveTo>
                    <a:pt x="1495044" y="0"/>
                  </a:moveTo>
                  <a:lnTo>
                    <a:pt x="0" y="0"/>
                  </a:lnTo>
                  <a:lnTo>
                    <a:pt x="0" y="646176"/>
                  </a:lnTo>
                  <a:lnTo>
                    <a:pt x="1495044" y="646176"/>
                  </a:lnTo>
                  <a:lnTo>
                    <a:pt x="14950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0108691" y="2855976"/>
              <a:ext cx="1495425" cy="646430"/>
            </a:xfrm>
            <a:custGeom>
              <a:avLst/>
              <a:gdLst/>
              <a:ahLst/>
              <a:cxnLst/>
              <a:rect l="l" t="t" r="r" b="b"/>
              <a:pathLst>
                <a:path w="1495425" h="646429">
                  <a:moveTo>
                    <a:pt x="0" y="646176"/>
                  </a:moveTo>
                  <a:lnTo>
                    <a:pt x="1495044" y="646176"/>
                  </a:lnTo>
                  <a:lnTo>
                    <a:pt x="1495044" y="0"/>
                  </a:lnTo>
                  <a:lnTo>
                    <a:pt x="0" y="0"/>
                  </a:lnTo>
                  <a:lnTo>
                    <a:pt x="0" y="646176"/>
                  </a:lnTo>
                  <a:close/>
                </a:path>
              </a:pathLst>
            </a:custGeom>
            <a:ln w="12191">
              <a:solidFill>
                <a:srgbClr val="A4C2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5669660" y="1938782"/>
            <a:ext cx="5835650" cy="123634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  <a:tabLst>
                <a:tab pos="1421130" algn="l"/>
                <a:tab pos="3046730" algn="l"/>
                <a:tab pos="4672965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Marketing</a:t>
            </a:r>
            <a:r>
              <a:rPr sz="1800" dirty="0">
                <a:latin typeface="Calibri" panose="020F0502020204030204"/>
                <a:cs typeface="Calibri" panose="020F0502020204030204"/>
              </a:rPr>
              <a:t>	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Finance</a:t>
            </a:r>
            <a:r>
              <a:rPr sz="1800" dirty="0">
                <a:latin typeface="Calibri" panose="020F0502020204030204"/>
                <a:cs typeface="Calibri" panose="020F0502020204030204"/>
              </a:rPr>
              <a:t>	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HR</a:t>
            </a:r>
            <a:r>
              <a:rPr sz="1800" dirty="0">
                <a:latin typeface="Calibri" panose="020F0502020204030204"/>
                <a:cs typeface="Calibri" panose="020F0502020204030204"/>
              </a:rPr>
              <a:t>	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Total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  <a:tabLst>
                <a:tab pos="1421130" algn="l"/>
                <a:tab pos="3046730" algn="l"/>
                <a:tab pos="4672965" algn="l"/>
              </a:tabLst>
            </a:pPr>
            <a:r>
              <a:rPr sz="1800" spc="-25" dirty="0">
                <a:latin typeface="Calibri" panose="020F0502020204030204"/>
                <a:cs typeface="Calibri" panose="020F0502020204030204"/>
              </a:rPr>
              <a:t>200</a:t>
            </a:r>
            <a:r>
              <a:rPr sz="1800" dirty="0">
                <a:latin typeface="Calibri" panose="020F0502020204030204"/>
                <a:cs typeface="Calibri" panose="020F0502020204030204"/>
              </a:rPr>
              <a:t>	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300</a:t>
            </a:r>
            <a:r>
              <a:rPr sz="1800" dirty="0">
                <a:latin typeface="Calibri" panose="020F0502020204030204"/>
                <a:cs typeface="Calibri" panose="020F0502020204030204"/>
              </a:rPr>
              <a:t>	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100</a:t>
            </a:r>
            <a:r>
              <a:rPr sz="1800" dirty="0">
                <a:latin typeface="Calibri" panose="020F0502020204030204"/>
                <a:cs typeface="Calibri" panose="020F0502020204030204"/>
              </a:rPr>
              <a:t>	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600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R="5080" algn="r">
              <a:lnSpc>
                <a:spcPct val="100000"/>
              </a:lnSpc>
              <a:spcBef>
                <a:spcPts val="1530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This</a:t>
            </a:r>
            <a:r>
              <a:rPr sz="18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total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20" dirty="0">
                <a:latin typeface="Calibri" panose="020F0502020204030204"/>
                <a:cs typeface="Calibri" panose="020F0502020204030204"/>
              </a:rPr>
              <a:t>will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Start-</a:t>
            </a:r>
            <a:r>
              <a:rPr spc="-25" dirty="0"/>
              <a:t>Tech </a:t>
            </a:r>
            <a:r>
              <a:rPr spc="-10" dirty="0"/>
              <a:t>Academy</a:t>
            </a:r>
            <a:endParaRPr spc="-10" dirty="0"/>
          </a:p>
        </p:txBody>
      </p:sp>
      <p:sp>
        <p:nvSpPr>
          <p:cNvPr id="34" name="object 34"/>
          <p:cNvSpPr txBox="1"/>
          <p:nvPr/>
        </p:nvSpPr>
        <p:spPr>
          <a:xfrm>
            <a:off x="10473055" y="3149346"/>
            <a:ext cx="767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be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20" dirty="0">
                <a:latin typeface="Calibri" panose="020F0502020204030204"/>
                <a:cs typeface="Calibri" panose="020F0502020204030204"/>
              </a:rPr>
              <a:t>used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3722496" y="4191127"/>
          <a:ext cx="8216900" cy="1482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2135"/>
                <a:gridCol w="1408430"/>
                <a:gridCol w="1624965"/>
                <a:gridCol w="1624964"/>
                <a:gridCol w="1624965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Marketing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Finance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HR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Total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Salaries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33%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50%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17%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100%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FDFA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Agency</a:t>
                      </a: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payments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45%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10%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45%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100%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FDFA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Other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expenses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50%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17%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33%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100%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FDFA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Data</a:t>
            </a:r>
            <a:r>
              <a:rPr spc="-19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Analysis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13359" y="3031363"/>
            <a:ext cx="207073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57404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Table Calculations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6864" y="1342644"/>
            <a:ext cx="6826250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544195">
              <a:lnSpc>
                <a:spcPct val="100000"/>
              </a:lnSpc>
              <a:spcBef>
                <a:spcPts val="245"/>
              </a:spcBef>
            </a:pPr>
            <a:r>
              <a:rPr sz="1800" b="1" spc="-20" dirty="0">
                <a:latin typeface="Calibri" panose="020F0502020204030204"/>
                <a:cs typeface="Calibri" panose="020F0502020204030204"/>
              </a:rPr>
              <a:t>Table</a:t>
            </a:r>
            <a:r>
              <a:rPr sz="18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calculations</a:t>
            </a:r>
            <a:r>
              <a:rPr sz="18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have</a:t>
            </a:r>
            <a:r>
              <a:rPr sz="18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two</a:t>
            </a:r>
            <a:r>
              <a:rPr sz="18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parts</a:t>
            </a:r>
            <a:r>
              <a:rPr sz="18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–</a:t>
            </a:r>
            <a:r>
              <a:rPr sz="18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Calculation</a:t>
            </a:r>
            <a:r>
              <a:rPr sz="1800"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and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Direction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734942" y="2004186"/>
            <a:ext cx="8153400" cy="1879600"/>
            <a:chOff x="3734942" y="2004186"/>
            <a:chExt cx="8153400" cy="1879600"/>
          </a:xfrm>
        </p:grpSpPr>
        <p:sp>
          <p:nvSpPr>
            <p:cNvPr id="7" name="object 7"/>
            <p:cNvSpPr/>
            <p:nvPr/>
          </p:nvSpPr>
          <p:spPr>
            <a:xfrm>
              <a:off x="3747643" y="2016886"/>
              <a:ext cx="4876800" cy="1112520"/>
            </a:xfrm>
            <a:custGeom>
              <a:avLst/>
              <a:gdLst/>
              <a:ahLst/>
              <a:cxnLst/>
              <a:rect l="l" t="t" r="r" b="b"/>
              <a:pathLst>
                <a:path w="4876800" h="1112520">
                  <a:moveTo>
                    <a:pt x="1842376" y="0"/>
                  </a:moveTo>
                  <a:lnTo>
                    <a:pt x="0" y="0"/>
                  </a:lnTo>
                  <a:lnTo>
                    <a:pt x="0" y="370840"/>
                  </a:lnTo>
                  <a:lnTo>
                    <a:pt x="1842376" y="370840"/>
                  </a:lnTo>
                  <a:lnTo>
                    <a:pt x="1842376" y="0"/>
                  </a:lnTo>
                  <a:close/>
                </a:path>
                <a:path w="4876800" h="1112520">
                  <a:moveTo>
                    <a:pt x="4876800" y="741692"/>
                  </a:moveTo>
                  <a:lnTo>
                    <a:pt x="3251200" y="741692"/>
                  </a:lnTo>
                  <a:lnTo>
                    <a:pt x="1842389" y="741692"/>
                  </a:lnTo>
                  <a:lnTo>
                    <a:pt x="1842389" y="1112520"/>
                  </a:lnTo>
                  <a:lnTo>
                    <a:pt x="3251200" y="1112520"/>
                  </a:lnTo>
                  <a:lnTo>
                    <a:pt x="4876800" y="1112520"/>
                  </a:lnTo>
                  <a:lnTo>
                    <a:pt x="4876800" y="741692"/>
                  </a:lnTo>
                  <a:close/>
                </a:path>
                <a:path w="4876800" h="1112520">
                  <a:moveTo>
                    <a:pt x="4876800" y="370840"/>
                  </a:moveTo>
                  <a:lnTo>
                    <a:pt x="3251200" y="370840"/>
                  </a:lnTo>
                  <a:lnTo>
                    <a:pt x="1842389" y="370840"/>
                  </a:lnTo>
                  <a:lnTo>
                    <a:pt x="1842389" y="741680"/>
                  </a:lnTo>
                  <a:lnTo>
                    <a:pt x="3251200" y="741680"/>
                  </a:lnTo>
                  <a:lnTo>
                    <a:pt x="4876800" y="741680"/>
                  </a:lnTo>
                  <a:lnTo>
                    <a:pt x="4876800" y="370840"/>
                  </a:lnTo>
                  <a:close/>
                </a:path>
              </a:pathLst>
            </a:custGeom>
            <a:solidFill>
              <a:srgbClr val="E7EB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747642" y="3129406"/>
              <a:ext cx="1842770" cy="370840"/>
            </a:xfrm>
            <a:custGeom>
              <a:avLst/>
              <a:gdLst/>
              <a:ahLst/>
              <a:cxnLst/>
              <a:rect l="l" t="t" r="r" b="b"/>
              <a:pathLst>
                <a:path w="1842770" h="370839">
                  <a:moveTo>
                    <a:pt x="1842389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1842389" y="370839"/>
                  </a:lnTo>
                  <a:lnTo>
                    <a:pt x="1842389" y="0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590032" y="3129406"/>
              <a:ext cx="1409065" cy="370840"/>
            </a:xfrm>
            <a:custGeom>
              <a:avLst/>
              <a:gdLst/>
              <a:ahLst/>
              <a:cxnLst/>
              <a:rect l="l" t="t" r="r" b="b"/>
              <a:pathLst>
                <a:path w="1409065" h="370839">
                  <a:moveTo>
                    <a:pt x="1408811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1408811" y="370839"/>
                  </a:lnTo>
                  <a:lnTo>
                    <a:pt x="1408811" y="0"/>
                  </a:lnTo>
                  <a:close/>
                </a:path>
              </a:pathLst>
            </a:custGeom>
            <a:solidFill>
              <a:srgbClr val="E7EB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583935" y="3500247"/>
              <a:ext cx="6350" cy="370840"/>
            </a:xfrm>
            <a:custGeom>
              <a:avLst/>
              <a:gdLst/>
              <a:ahLst/>
              <a:cxnLst/>
              <a:rect l="l" t="t" r="r" b="b"/>
              <a:pathLst>
                <a:path w="6350" h="370839">
                  <a:moveTo>
                    <a:pt x="0" y="370839"/>
                  </a:moveTo>
                  <a:lnTo>
                    <a:pt x="6096" y="370839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0" y="370839"/>
                  </a:lnTo>
                  <a:close/>
                </a:path>
              </a:pathLst>
            </a:custGeom>
            <a:solidFill>
              <a:srgbClr val="009D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590032" y="3500247"/>
              <a:ext cx="1409065" cy="370840"/>
            </a:xfrm>
            <a:custGeom>
              <a:avLst/>
              <a:gdLst/>
              <a:ahLst/>
              <a:cxnLst/>
              <a:rect l="l" t="t" r="r" b="b"/>
              <a:pathLst>
                <a:path w="1409065" h="370839">
                  <a:moveTo>
                    <a:pt x="1408811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1408811" y="370839"/>
                  </a:lnTo>
                  <a:lnTo>
                    <a:pt x="1408811" y="0"/>
                  </a:lnTo>
                  <a:close/>
                </a:path>
              </a:pathLst>
            </a:custGeom>
            <a:solidFill>
              <a:srgbClr val="AFDF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741292" y="2010536"/>
              <a:ext cx="8140700" cy="1866900"/>
            </a:xfrm>
            <a:custGeom>
              <a:avLst/>
              <a:gdLst/>
              <a:ahLst/>
              <a:cxnLst/>
              <a:rect l="l" t="t" r="r" b="b"/>
              <a:pathLst>
                <a:path w="8140700" h="1866900">
                  <a:moveTo>
                    <a:pt x="1848739" y="0"/>
                  </a:moveTo>
                  <a:lnTo>
                    <a:pt x="1848739" y="1866900"/>
                  </a:lnTo>
                </a:path>
                <a:path w="8140700" h="1866900">
                  <a:moveTo>
                    <a:pt x="3257550" y="1029842"/>
                  </a:moveTo>
                  <a:lnTo>
                    <a:pt x="3257550" y="1866900"/>
                  </a:lnTo>
                </a:path>
                <a:path w="8140700" h="1866900">
                  <a:moveTo>
                    <a:pt x="3257550" y="0"/>
                  </a:moveTo>
                  <a:lnTo>
                    <a:pt x="3257550" y="661034"/>
                  </a:lnTo>
                </a:path>
                <a:path w="8140700" h="1866900">
                  <a:moveTo>
                    <a:pt x="4883150" y="0"/>
                  </a:moveTo>
                  <a:lnTo>
                    <a:pt x="4883150" y="1866900"/>
                  </a:lnTo>
                </a:path>
                <a:path w="8140700" h="1866900">
                  <a:moveTo>
                    <a:pt x="6508750" y="0"/>
                  </a:moveTo>
                  <a:lnTo>
                    <a:pt x="6508750" y="1866900"/>
                  </a:lnTo>
                </a:path>
                <a:path w="8140700" h="1866900">
                  <a:moveTo>
                    <a:pt x="0" y="377189"/>
                  </a:moveTo>
                  <a:lnTo>
                    <a:pt x="8140700" y="377189"/>
                  </a:lnTo>
                </a:path>
                <a:path w="8140700" h="1866900">
                  <a:moveTo>
                    <a:pt x="0" y="748029"/>
                  </a:moveTo>
                  <a:lnTo>
                    <a:pt x="3136518" y="748029"/>
                  </a:lnTo>
                </a:path>
                <a:path w="8140700" h="1866900">
                  <a:moveTo>
                    <a:pt x="4050918" y="748029"/>
                  </a:moveTo>
                  <a:lnTo>
                    <a:pt x="8140700" y="748029"/>
                  </a:lnTo>
                </a:path>
                <a:path w="8140700" h="1866900">
                  <a:moveTo>
                    <a:pt x="0" y="1118870"/>
                  </a:moveTo>
                  <a:lnTo>
                    <a:pt x="8140700" y="1118870"/>
                  </a:lnTo>
                </a:path>
                <a:path w="8140700" h="1866900">
                  <a:moveTo>
                    <a:pt x="0" y="1489710"/>
                  </a:moveTo>
                  <a:lnTo>
                    <a:pt x="8140700" y="1489710"/>
                  </a:lnTo>
                </a:path>
                <a:path w="8140700" h="1866900">
                  <a:moveTo>
                    <a:pt x="6350" y="0"/>
                  </a:moveTo>
                  <a:lnTo>
                    <a:pt x="6350" y="1866900"/>
                  </a:lnTo>
                </a:path>
                <a:path w="8140700" h="1866900">
                  <a:moveTo>
                    <a:pt x="8134350" y="0"/>
                  </a:moveTo>
                  <a:lnTo>
                    <a:pt x="8134350" y="1866900"/>
                  </a:lnTo>
                </a:path>
                <a:path w="8140700" h="1866900">
                  <a:moveTo>
                    <a:pt x="0" y="6350"/>
                  </a:moveTo>
                  <a:lnTo>
                    <a:pt x="8140700" y="6350"/>
                  </a:lnTo>
                </a:path>
                <a:path w="8140700" h="1866900">
                  <a:moveTo>
                    <a:pt x="0" y="1860550"/>
                  </a:moveTo>
                  <a:lnTo>
                    <a:pt x="8140700" y="18605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587110" y="2016886"/>
            <a:ext cx="1412240" cy="370840"/>
          </a:xfrm>
          <a:prstGeom prst="rect">
            <a:avLst/>
          </a:prstGeom>
          <a:solidFill>
            <a:srgbClr val="009DD9"/>
          </a:solidFill>
          <a:ln w="12700">
            <a:solidFill>
              <a:srgbClr val="FFFFFF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245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Marketing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98843" y="2016886"/>
            <a:ext cx="1625600" cy="370840"/>
          </a:xfrm>
          <a:prstGeom prst="rect">
            <a:avLst/>
          </a:prstGeom>
          <a:solidFill>
            <a:srgbClr val="009DD9"/>
          </a:solidFill>
          <a:ln w="12700">
            <a:solidFill>
              <a:srgbClr val="FFFFFF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Finance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624443" y="2016886"/>
            <a:ext cx="1625600" cy="370840"/>
          </a:xfrm>
          <a:prstGeom prst="rect">
            <a:avLst/>
          </a:prstGeom>
          <a:solidFill>
            <a:srgbClr val="009DD9"/>
          </a:solidFill>
          <a:ln w="12700">
            <a:solidFill>
              <a:srgbClr val="FFFFFF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1800" spc="-25" dirty="0">
                <a:latin typeface="Calibri" panose="020F0502020204030204"/>
                <a:cs typeface="Calibri" panose="020F0502020204030204"/>
              </a:rPr>
              <a:t>HR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250043" y="2016886"/>
            <a:ext cx="1625600" cy="370840"/>
          </a:xfrm>
          <a:prstGeom prst="rect">
            <a:avLst/>
          </a:prstGeom>
          <a:solidFill>
            <a:srgbClr val="009DD9"/>
          </a:solidFill>
          <a:ln w="12700">
            <a:solidFill>
              <a:srgbClr val="FFFFFF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Total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47642" y="2387726"/>
            <a:ext cx="1839595" cy="370840"/>
          </a:xfrm>
          <a:prstGeom prst="rect">
            <a:avLst/>
          </a:prstGeom>
          <a:solidFill>
            <a:srgbClr val="009DD9"/>
          </a:solidFill>
          <a:ln w="12700">
            <a:solidFill>
              <a:srgbClr val="FFFFFF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5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Salaries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69660" y="2406141"/>
            <a:ext cx="373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 panose="020F0502020204030204"/>
                <a:cs typeface="Calibri" panose="020F0502020204030204"/>
              </a:rPr>
              <a:t>200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78471" y="2406141"/>
            <a:ext cx="373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 panose="020F0502020204030204"/>
                <a:cs typeface="Calibri" panose="020F0502020204030204"/>
              </a:rPr>
              <a:t>300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624443" y="2387726"/>
            <a:ext cx="1625600" cy="370840"/>
          </a:xfrm>
          <a:prstGeom prst="rect">
            <a:avLst/>
          </a:prstGeom>
          <a:solidFill>
            <a:srgbClr val="E7EBF5"/>
          </a:solidFill>
          <a:ln w="12700">
            <a:solidFill>
              <a:srgbClr val="FFFFFF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1800" spc="-25" dirty="0">
                <a:latin typeface="Calibri" panose="020F0502020204030204"/>
                <a:cs typeface="Calibri" panose="020F0502020204030204"/>
              </a:rPr>
              <a:t>100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250043" y="2387726"/>
            <a:ext cx="1625600" cy="370840"/>
          </a:xfrm>
          <a:prstGeom prst="rect">
            <a:avLst/>
          </a:prstGeom>
          <a:solidFill>
            <a:srgbClr val="AFDFA0"/>
          </a:solidFill>
          <a:ln w="12700">
            <a:solidFill>
              <a:srgbClr val="FFFFFF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1800" spc="-25" dirty="0">
                <a:latin typeface="Calibri" panose="020F0502020204030204"/>
                <a:cs typeface="Calibri" panose="020F0502020204030204"/>
              </a:rPr>
              <a:t>600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47642" y="2758567"/>
            <a:ext cx="1839595" cy="370840"/>
          </a:xfrm>
          <a:prstGeom prst="rect">
            <a:avLst/>
          </a:prstGeom>
          <a:solidFill>
            <a:srgbClr val="009DD9"/>
          </a:solidFill>
          <a:ln w="12700">
            <a:solidFill>
              <a:srgbClr val="FFFFFF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Agency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payments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69660" y="2776550"/>
            <a:ext cx="3733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 panose="020F0502020204030204"/>
                <a:cs typeface="Calibri" panose="020F0502020204030204"/>
              </a:rPr>
              <a:t>500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91171" y="2846476"/>
            <a:ext cx="34798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spc="-25" dirty="0">
                <a:latin typeface="Calibri" panose="020F0502020204030204"/>
                <a:cs typeface="Calibri" panose="020F0502020204030204"/>
              </a:rPr>
              <a:t>100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24443" y="2758567"/>
            <a:ext cx="1625600" cy="370840"/>
          </a:xfrm>
          <a:prstGeom prst="rect">
            <a:avLst/>
          </a:prstGeom>
          <a:solidFill>
            <a:srgbClr val="E7EBF5"/>
          </a:solidFill>
          <a:ln w="12700">
            <a:solidFill>
              <a:srgbClr val="FFFFFF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0"/>
              </a:spcBef>
            </a:pPr>
            <a:r>
              <a:rPr sz="1800" spc="-25" dirty="0">
                <a:latin typeface="Calibri" panose="020F0502020204030204"/>
                <a:cs typeface="Calibri" panose="020F0502020204030204"/>
              </a:rPr>
              <a:t>500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250043" y="2758567"/>
            <a:ext cx="1625600" cy="370840"/>
          </a:xfrm>
          <a:prstGeom prst="rect">
            <a:avLst/>
          </a:prstGeom>
          <a:solidFill>
            <a:srgbClr val="AFDFA0"/>
          </a:solidFill>
          <a:ln w="12700">
            <a:solidFill>
              <a:srgbClr val="FFFFFF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0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1100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753992" y="3147821"/>
            <a:ext cx="3238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  <a:tabLst>
                <a:tab pos="1927860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Other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expenses</a:t>
            </a:r>
            <a:r>
              <a:rPr sz="1800" dirty="0">
                <a:latin typeface="Calibri" panose="020F0502020204030204"/>
                <a:cs typeface="Calibri" panose="020F0502020204030204"/>
              </a:rPr>
              <a:t>	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300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98843" y="3129407"/>
            <a:ext cx="1625600" cy="370840"/>
          </a:xfrm>
          <a:prstGeom prst="rect">
            <a:avLst/>
          </a:prstGeom>
          <a:solidFill>
            <a:srgbClr val="E7EBF5"/>
          </a:solidFill>
          <a:ln w="12700">
            <a:solidFill>
              <a:srgbClr val="FFFFFF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1800" spc="-25" dirty="0">
                <a:latin typeface="Calibri" panose="020F0502020204030204"/>
                <a:cs typeface="Calibri" panose="020F0502020204030204"/>
              </a:rPr>
              <a:t>100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624443" y="3129407"/>
            <a:ext cx="1625600" cy="370840"/>
          </a:xfrm>
          <a:prstGeom prst="rect">
            <a:avLst/>
          </a:prstGeom>
          <a:solidFill>
            <a:srgbClr val="E7EBF5"/>
          </a:solidFill>
          <a:ln w="12700">
            <a:solidFill>
              <a:srgbClr val="FFFFFF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1800" spc="-25" dirty="0">
                <a:latin typeface="Calibri" panose="020F0502020204030204"/>
                <a:cs typeface="Calibri" panose="020F0502020204030204"/>
              </a:rPr>
              <a:t>200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250043" y="3129407"/>
            <a:ext cx="1625600" cy="370840"/>
          </a:xfrm>
          <a:prstGeom prst="rect">
            <a:avLst/>
          </a:prstGeom>
          <a:solidFill>
            <a:srgbClr val="AFDFA0"/>
          </a:solidFill>
          <a:ln w="12700">
            <a:solidFill>
              <a:srgbClr val="FFFFFF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1800" spc="-25" dirty="0">
                <a:latin typeface="Calibri" panose="020F0502020204030204"/>
                <a:cs typeface="Calibri" panose="020F0502020204030204"/>
              </a:rPr>
              <a:t>600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747642" y="3500246"/>
            <a:ext cx="341630" cy="370840"/>
          </a:xfrm>
          <a:prstGeom prst="rect">
            <a:avLst/>
          </a:prstGeom>
          <a:solidFill>
            <a:srgbClr val="009DD9"/>
          </a:solidFill>
        </p:spPr>
        <p:txBody>
          <a:bodyPr vert="horz" wrap="square" lIns="0" tIns="3111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5"/>
              </a:spcBef>
            </a:pPr>
            <a:r>
              <a:rPr sz="1800" spc="-25" dirty="0">
                <a:latin typeface="Calibri" panose="020F0502020204030204"/>
                <a:cs typeface="Calibri" panose="020F0502020204030204"/>
              </a:rPr>
              <a:t>To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051590" y="3588511"/>
            <a:ext cx="23558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spc="-30" dirty="0">
                <a:latin typeface="Calibri" panose="020F0502020204030204"/>
                <a:cs typeface="Calibri" panose="020F0502020204030204"/>
              </a:rPr>
              <a:t>tal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596382" y="3518661"/>
            <a:ext cx="1396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1000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998843" y="3500246"/>
            <a:ext cx="1625600" cy="370840"/>
          </a:xfrm>
          <a:prstGeom prst="rect">
            <a:avLst/>
          </a:prstGeom>
          <a:solidFill>
            <a:srgbClr val="AFDFA0"/>
          </a:solidFill>
          <a:ln w="12700">
            <a:solidFill>
              <a:srgbClr val="FFFFFF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1800" spc="-25" dirty="0">
                <a:latin typeface="Calibri" panose="020F0502020204030204"/>
                <a:cs typeface="Calibri" panose="020F0502020204030204"/>
              </a:rPr>
              <a:t>500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24443" y="3500246"/>
            <a:ext cx="1625600" cy="370840"/>
          </a:xfrm>
          <a:prstGeom prst="rect">
            <a:avLst/>
          </a:prstGeom>
          <a:solidFill>
            <a:srgbClr val="AFDFA0"/>
          </a:solidFill>
          <a:ln w="12700">
            <a:solidFill>
              <a:srgbClr val="FFFFFF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1800" spc="-25" dirty="0">
                <a:latin typeface="Calibri" panose="020F0502020204030204"/>
                <a:cs typeface="Calibri" panose="020F0502020204030204"/>
              </a:rPr>
              <a:t>800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250043" y="3500246"/>
            <a:ext cx="1625600" cy="370840"/>
          </a:xfrm>
          <a:prstGeom prst="rect">
            <a:avLst/>
          </a:prstGeom>
          <a:solidFill>
            <a:srgbClr val="252525"/>
          </a:solidFill>
          <a:ln w="12700">
            <a:solidFill>
              <a:srgbClr val="FFFFFF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18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2300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629145" y="2416810"/>
            <a:ext cx="217170" cy="1407160"/>
            <a:chOff x="6629145" y="2416810"/>
            <a:chExt cx="217170" cy="1407160"/>
          </a:xfrm>
        </p:grpSpPr>
        <p:sp>
          <p:nvSpPr>
            <p:cNvPr id="38" name="object 38"/>
            <p:cNvSpPr/>
            <p:nvPr/>
          </p:nvSpPr>
          <p:spPr>
            <a:xfrm>
              <a:off x="6635495" y="2423160"/>
              <a:ext cx="204470" cy="1394460"/>
            </a:xfrm>
            <a:custGeom>
              <a:avLst/>
              <a:gdLst/>
              <a:ahLst/>
              <a:cxnLst/>
              <a:rect l="l" t="t" r="r" b="b"/>
              <a:pathLst>
                <a:path w="204470" h="1394460">
                  <a:moveTo>
                    <a:pt x="153161" y="0"/>
                  </a:moveTo>
                  <a:lnTo>
                    <a:pt x="51053" y="0"/>
                  </a:lnTo>
                  <a:lnTo>
                    <a:pt x="51053" y="6350"/>
                  </a:lnTo>
                  <a:lnTo>
                    <a:pt x="153161" y="6350"/>
                  </a:lnTo>
                  <a:lnTo>
                    <a:pt x="153161" y="0"/>
                  </a:lnTo>
                  <a:close/>
                </a:path>
                <a:path w="204470" h="1394460">
                  <a:moveTo>
                    <a:pt x="153161" y="12826"/>
                  </a:moveTo>
                  <a:lnTo>
                    <a:pt x="51053" y="12826"/>
                  </a:lnTo>
                  <a:lnTo>
                    <a:pt x="51053" y="25526"/>
                  </a:lnTo>
                  <a:lnTo>
                    <a:pt x="153161" y="25526"/>
                  </a:lnTo>
                  <a:lnTo>
                    <a:pt x="153161" y="12826"/>
                  </a:lnTo>
                  <a:close/>
                </a:path>
                <a:path w="204470" h="1394460">
                  <a:moveTo>
                    <a:pt x="204215" y="1292352"/>
                  </a:moveTo>
                  <a:lnTo>
                    <a:pt x="0" y="1292352"/>
                  </a:lnTo>
                  <a:lnTo>
                    <a:pt x="102107" y="1394459"/>
                  </a:lnTo>
                  <a:lnTo>
                    <a:pt x="204215" y="1292352"/>
                  </a:lnTo>
                  <a:close/>
                </a:path>
                <a:path w="204470" h="1394460">
                  <a:moveTo>
                    <a:pt x="153161" y="31876"/>
                  </a:moveTo>
                  <a:lnTo>
                    <a:pt x="51053" y="31876"/>
                  </a:lnTo>
                  <a:lnTo>
                    <a:pt x="51053" y="1292352"/>
                  </a:lnTo>
                  <a:lnTo>
                    <a:pt x="153161" y="1292352"/>
                  </a:lnTo>
                  <a:lnTo>
                    <a:pt x="153161" y="3187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635495" y="2423160"/>
              <a:ext cx="204470" cy="1394460"/>
            </a:xfrm>
            <a:custGeom>
              <a:avLst/>
              <a:gdLst/>
              <a:ahLst/>
              <a:cxnLst/>
              <a:rect l="l" t="t" r="r" b="b"/>
              <a:pathLst>
                <a:path w="204470" h="1394460">
                  <a:moveTo>
                    <a:pt x="153161" y="0"/>
                  </a:moveTo>
                  <a:lnTo>
                    <a:pt x="153161" y="6350"/>
                  </a:lnTo>
                  <a:lnTo>
                    <a:pt x="51053" y="6350"/>
                  </a:lnTo>
                  <a:lnTo>
                    <a:pt x="51053" y="0"/>
                  </a:lnTo>
                  <a:lnTo>
                    <a:pt x="153161" y="0"/>
                  </a:lnTo>
                  <a:close/>
                </a:path>
                <a:path w="204470" h="1394460">
                  <a:moveTo>
                    <a:pt x="153161" y="12826"/>
                  </a:moveTo>
                  <a:lnTo>
                    <a:pt x="153161" y="25526"/>
                  </a:lnTo>
                  <a:lnTo>
                    <a:pt x="51053" y="25526"/>
                  </a:lnTo>
                  <a:lnTo>
                    <a:pt x="51053" y="12826"/>
                  </a:lnTo>
                  <a:lnTo>
                    <a:pt x="153161" y="12826"/>
                  </a:lnTo>
                  <a:close/>
                </a:path>
                <a:path w="204470" h="1394460">
                  <a:moveTo>
                    <a:pt x="153161" y="31876"/>
                  </a:moveTo>
                  <a:lnTo>
                    <a:pt x="153161" y="1292352"/>
                  </a:lnTo>
                  <a:lnTo>
                    <a:pt x="204215" y="1292352"/>
                  </a:lnTo>
                  <a:lnTo>
                    <a:pt x="102107" y="1394459"/>
                  </a:lnTo>
                  <a:lnTo>
                    <a:pt x="0" y="1292352"/>
                  </a:lnTo>
                  <a:lnTo>
                    <a:pt x="51053" y="1292352"/>
                  </a:lnTo>
                  <a:lnTo>
                    <a:pt x="51053" y="31876"/>
                  </a:lnTo>
                  <a:lnTo>
                    <a:pt x="153161" y="31876"/>
                  </a:lnTo>
                  <a:close/>
                </a:path>
              </a:pathLst>
            </a:custGeom>
            <a:ln w="12192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6877811" y="2671572"/>
            <a:ext cx="914400" cy="368935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31115" rIns="0" bIns="0" rtlCol="0">
            <a:spAutoFit/>
          </a:bodyPr>
          <a:lstStyle/>
          <a:p>
            <a:pPr marL="177165">
              <a:lnSpc>
                <a:spcPct val="100000"/>
              </a:lnSpc>
              <a:spcBef>
                <a:spcPts val="245"/>
              </a:spcBef>
            </a:pPr>
            <a:r>
              <a:rPr sz="1800" b="1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Down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082796" y="3415284"/>
            <a:ext cx="2153920" cy="710565"/>
            <a:chOff x="4082796" y="3415284"/>
            <a:chExt cx="2153920" cy="710565"/>
          </a:xfrm>
        </p:grpSpPr>
        <p:sp>
          <p:nvSpPr>
            <p:cNvPr id="42" name="object 42"/>
            <p:cNvSpPr/>
            <p:nvPr/>
          </p:nvSpPr>
          <p:spPr>
            <a:xfrm>
              <a:off x="5622798" y="3429762"/>
              <a:ext cx="599440" cy="508000"/>
            </a:xfrm>
            <a:custGeom>
              <a:avLst/>
              <a:gdLst/>
              <a:ahLst/>
              <a:cxnLst/>
              <a:rect l="l" t="t" r="r" b="b"/>
              <a:pathLst>
                <a:path w="599439" h="508000">
                  <a:moveTo>
                    <a:pt x="0" y="253745"/>
                  </a:moveTo>
                  <a:lnTo>
                    <a:pt x="4825" y="208150"/>
                  </a:lnTo>
                  <a:lnTo>
                    <a:pt x="18739" y="165229"/>
                  </a:lnTo>
                  <a:lnTo>
                    <a:pt x="40894" y="125701"/>
                  </a:lnTo>
                  <a:lnTo>
                    <a:pt x="70442" y="90284"/>
                  </a:lnTo>
                  <a:lnTo>
                    <a:pt x="106538" y="59697"/>
                  </a:lnTo>
                  <a:lnTo>
                    <a:pt x="148336" y="34656"/>
                  </a:lnTo>
                  <a:lnTo>
                    <a:pt x="194987" y="15881"/>
                  </a:lnTo>
                  <a:lnTo>
                    <a:pt x="245646" y="4090"/>
                  </a:lnTo>
                  <a:lnTo>
                    <a:pt x="299465" y="0"/>
                  </a:lnTo>
                  <a:lnTo>
                    <a:pt x="353285" y="4090"/>
                  </a:lnTo>
                  <a:lnTo>
                    <a:pt x="403944" y="15881"/>
                  </a:lnTo>
                  <a:lnTo>
                    <a:pt x="450595" y="34656"/>
                  </a:lnTo>
                  <a:lnTo>
                    <a:pt x="492393" y="59697"/>
                  </a:lnTo>
                  <a:lnTo>
                    <a:pt x="528489" y="90284"/>
                  </a:lnTo>
                  <a:lnTo>
                    <a:pt x="558037" y="125701"/>
                  </a:lnTo>
                  <a:lnTo>
                    <a:pt x="580192" y="165229"/>
                  </a:lnTo>
                  <a:lnTo>
                    <a:pt x="594105" y="208150"/>
                  </a:lnTo>
                  <a:lnTo>
                    <a:pt x="598931" y="253745"/>
                  </a:lnTo>
                  <a:lnTo>
                    <a:pt x="594105" y="299341"/>
                  </a:lnTo>
                  <a:lnTo>
                    <a:pt x="580192" y="342262"/>
                  </a:lnTo>
                  <a:lnTo>
                    <a:pt x="558037" y="381790"/>
                  </a:lnTo>
                  <a:lnTo>
                    <a:pt x="528489" y="417207"/>
                  </a:lnTo>
                  <a:lnTo>
                    <a:pt x="492393" y="447794"/>
                  </a:lnTo>
                  <a:lnTo>
                    <a:pt x="450595" y="472835"/>
                  </a:lnTo>
                  <a:lnTo>
                    <a:pt x="403944" y="491610"/>
                  </a:lnTo>
                  <a:lnTo>
                    <a:pt x="353285" y="503401"/>
                  </a:lnTo>
                  <a:lnTo>
                    <a:pt x="299465" y="507492"/>
                  </a:lnTo>
                  <a:lnTo>
                    <a:pt x="245646" y="503401"/>
                  </a:lnTo>
                  <a:lnTo>
                    <a:pt x="194987" y="491610"/>
                  </a:lnTo>
                  <a:lnTo>
                    <a:pt x="148336" y="472835"/>
                  </a:lnTo>
                  <a:lnTo>
                    <a:pt x="106538" y="447794"/>
                  </a:lnTo>
                  <a:lnTo>
                    <a:pt x="70442" y="417207"/>
                  </a:lnTo>
                  <a:lnTo>
                    <a:pt x="40894" y="381790"/>
                  </a:lnTo>
                  <a:lnTo>
                    <a:pt x="18739" y="342262"/>
                  </a:lnTo>
                  <a:lnTo>
                    <a:pt x="4825" y="299341"/>
                  </a:lnTo>
                  <a:lnTo>
                    <a:pt x="0" y="253745"/>
                  </a:lnTo>
                  <a:close/>
                </a:path>
              </a:pathLst>
            </a:custGeom>
            <a:ln w="2895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088892" y="3473196"/>
              <a:ext cx="1495425" cy="646430"/>
            </a:xfrm>
            <a:custGeom>
              <a:avLst/>
              <a:gdLst/>
              <a:ahLst/>
              <a:cxnLst/>
              <a:rect l="l" t="t" r="r" b="b"/>
              <a:pathLst>
                <a:path w="1495425" h="646429">
                  <a:moveTo>
                    <a:pt x="1495043" y="0"/>
                  </a:moveTo>
                  <a:lnTo>
                    <a:pt x="0" y="0"/>
                  </a:lnTo>
                  <a:lnTo>
                    <a:pt x="0" y="646176"/>
                  </a:lnTo>
                  <a:lnTo>
                    <a:pt x="1495043" y="646176"/>
                  </a:lnTo>
                  <a:lnTo>
                    <a:pt x="14950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088892" y="3473196"/>
              <a:ext cx="1495425" cy="646430"/>
            </a:xfrm>
            <a:custGeom>
              <a:avLst/>
              <a:gdLst/>
              <a:ahLst/>
              <a:cxnLst/>
              <a:rect l="l" t="t" r="r" b="b"/>
              <a:pathLst>
                <a:path w="1495425" h="646429">
                  <a:moveTo>
                    <a:pt x="0" y="646176"/>
                  </a:moveTo>
                  <a:lnTo>
                    <a:pt x="1495043" y="646176"/>
                  </a:lnTo>
                  <a:lnTo>
                    <a:pt x="1495043" y="0"/>
                  </a:lnTo>
                  <a:lnTo>
                    <a:pt x="0" y="0"/>
                  </a:lnTo>
                  <a:lnTo>
                    <a:pt x="0" y="646176"/>
                  </a:lnTo>
                  <a:close/>
                </a:path>
              </a:pathLst>
            </a:custGeom>
            <a:ln w="12192">
              <a:solidFill>
                <a:srgbClr val="A4C2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4094988" y="3506596"/>
            <a:ext cx="1483360" cy="3581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05410">
              <a:lnSpc>
                <a:spcPts val="2135"/>
              </a:lnSpc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This</a:t>
            </a:r>
            <a:r>
              <a:rPr sz="18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total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20" dirty="0">
                <a:latin typeface="Calibri" panose="020F0502020204030204"/>
                <a:cs typeface="Calibri" panose="020F0502020204030204"/>
              </a:rPr>
              <a:t>will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094988" y="3877436"/>
            <a:ext cx="1486535" cy="2362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368935">
              <a:lnSpc>
                <a:spcPts val="1375"/>
              </a:lnSpc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be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20" dirty="0">
                <a:latin typeface="Calibri" panose="020F0502020204030204"/>
                <a:cs typeface="Calibri" panose="020F0502020204030204"/>
              </a:rPr>
              <a:t>used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47" name="object 47"/>
          <p:cNvGraphicFramePr>
            <a:graphicFrameLocks noGrp="1"/>
          </p:cNvGraphicFramePr>
          <p:nvPr/>
        </p:nvGraphicFramePr>
        <p:xfrm>
          <a:off x="3722496" y="4180332"/>
          <a:ext cx="6591300" cy="1852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2135"/>
                <a:gridCol w="1408430"/>
                <a:gridCol w="1624965"/>
                <a:gridCol w="1624964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Marketing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Finance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HR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Salaries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20%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60%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12.5%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Agency</a:t>
                      </a: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payments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50%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20%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62.5%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Other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expenses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30%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20%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25%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Total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100%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FDFA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100%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FDFA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100%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FDFA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Data</a:t>
            </a:r>
            <a:r>
              <a:rPr spc="-19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Analysis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13359" y="3031363"/>
            <a:ext cx="207073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57404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Table Calculations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6864" y="1342644"/>
            <a:ext cx="6826250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544195">
              <a:lnSpc>
                <a:spcPct val="100000"/>
              </a:lnSpc>
              <a:spcBef>
                <a:spcPts val="245"/>
              </a:spcBef>
            </a:pPr>
            <a:r>
              <a:rPr sz="1800" b="1" spc="-20" dirty="0">
                <a:latin typeface="Calibri" panose="020F0502020204030204"/>
                <a:cs typeface="Calibri" panose="020F0502020204030204"/>
              </a:rPr>
              <a:t>Table</a:t>
            </a:r>
            <a:r>
              <a:rPr sz="18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calculations</a:t>
            </a:r>
            <a:r>
              <a:rPr sz="18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have</a:t>
            </a:r>
            <a:r>
              <a:rPr sz="18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two</a:t>
            </a:r>
            <a:r>
              <a:rPr sz="18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parts</a:t>
            </a:r>
            <a:r>
              <a:rPr sz="18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–</a:t>
            </a:r>
            <a:r>
              <a:rPr sz="18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Calculation</a:t>
            </a:r>
            <a:r>
              <a:rPr sz="1800"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and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Direction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624443" y="3129407"/>
            <a:ext cx="3251200" cy="741680"/>
            <a:chOff x="8624443" y="3129407"/>
            <a:chExt cx="3251200" cy="741680"/>
          </a:xfrm>
        </p:grpSpPr>
        <p:sp>
          <p:nvSpPr>
            <p:cNvPr id="7" name="object 7"/>
            <p:cNvSpPr/>
            <p:nvPr/>
          </p:nvSpPr>
          <p:spPr>
            <a:xfrm>
              <a:off x="8624443" y="3129407"/>
              <a:ext cx="1625600" cy="370840"/>
            </a:xfrm>
            <a:custGeom>
              <a:avLst/>
              <a:gdLst/>
              <a:ahLst/>
              <a:cxnLst/>
              <a:rect l="l" t="t" r="r" b="b"/>
              <a:pathLst>
                <a:path w="1625600" h="370839">
                  <a:moveTo>
                    <a:pt x="1625600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1625600" y="370839"/>
                  </a:lnTo>
                  <a:lnTo>
                    <a:pt x="1625600" y="0"/>
                  </a:lnTo>
                  <a:close/>
                </a:path>
              </a:pathLst>
            </a:custGeom>
            <a:solidFill>
              <a:srgbClr val="E7EB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250043" y="3129407"/>
              <a:ext cx="1625600" cy="370840"/>
            </a:xfrm>
            <a:custGeom>
              <a:avLst/>
              <a:gdLst/>
              <a:ahLst/>
              <a:cxnLst/>
              <a:rect l="l" t="t" r="r" b="b"/>
              <a:pathLst>
                <a:path w="1625600" h="370839">
                  <a:moveTo>
                    <a:pt x="1625600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1625600" y="370839"/>
                  </a:lnTo>
                  <a:lnTo>
                    <a:pt x="1625600" y="0"/>
                  </a:lnTo>
                  <a:close/>
                </a:path>
              </a:pathLst>
            </a:custGeom>
            <a:solidFill>
              <a:srgbClr val="AFDF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250043" y="3500247"/>
              <a:ext cx="1625600" cy="370840"/>
            </a:xfrm>
            <a:custGeom>
              <a:avLst/>
              <a:gdLst/>
              <a:ahLst/>
              <a:cxnLst/>
              <a:rect l="l" t="t" r="r" b="b"/>
              <a:pathLst>
                <a:path w="1625600" h="370839">
                  <a:moveTo>
                    <a:pt x="1625600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1625600" y="370839"/>
                  </a:lnTo>
                  <a:lnTo>
                    <a:pt x="1625600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717026" y="3588511"/>
            <a:ext cx="34798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spc="-25" dirty="0">
                <a:latin typeface="Calibri" panose="020F0502020204030204"/>
                <a:cs typeface="Calibri" panose="020F0502020204030204"/>
              </a:rPr>
              <a:t>800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735568" y="3418332"/>
            <a:ext cx="2146300" cy="654050"/>
            <a:chOff x="8735568" y="3418332"/>
            <a:chExt cx="2146300" cy="654050"/>
          </a:xfrm>
        </p:grpSpPr>
        <p:sp>
          <p:nvSpPr>
            <p:cNvPr id="12" name="object 12"/>
            <p:cNvSpPr/>
            <p:nvPr/>
          </p:nvSpPr>
          <p:spPr>
            <a:xfrm>
              <a:off x="10266426" y="3432810"/>
              <a:ext cx="600710" cy="509270"/>
            </a:xfrm>
            <a:custGeom>
              <a:avLst/>
              <a:gdLst/>
              <a:ahLst/>
              <a:cxnLst/>
              <a:rect l="l" t="t" r="r" b="b"/>
              <a:pathLst>
                <a:path w="600709" h="509270">
                  <a:moveTo>
                    <a:pt x="0" y="254507"/>
                  </a:moveTo>
                  <a:lnTo>
                    <a:pt x="3928" y="213218"/>
                  </a:lnTo>
                  <a:lnTo>
                    <a:pt x="15300" y="174052"/>
                  </a:lnTo>
                  <a:lnTo>
                    <a:pt x="33501" y="137534"/>
                  </a:lnTo>
                  <a:lnTo>
                    <a:pt x="57911" y="104186"/>
                  </a:lnTo>
                  <a:lnTo>
                    <a:pt x="87915" y="74533"/>
                  </a:lnTo>
                  <a:lnTo>
                    <a:pt x="122895" y="49097"/>
                  </a:lnTo>
                  <a:lnTo>
                    <a:pt x="162233" y="28402"/>
                  </a:lnTo>
                  <a:lnTo>
                    <a:pt x="205313" y="12972"/>
                  </a:lnTo>
                  <a:lnTo>
                    <a:pt x="251517" y="3330"/>
                  </a:lnTo>
                  <a:lnTo>
                    <a:pt x="300227" y="0"/>
                  </a:lnTo>
                  <a:lnTo>
                    <a:pt x="348938" y="3330"/>
                  </a:lnTo>
                  <a:lnTo>
                    <a:pt x="395142" y="12972"/>
                  </a:lnTo>
                  <a:lnTo>
                    <a:pt x="438222" y="28402"/>
                  </a:lnTo>
                  <a:lnTo>
                    <a:pt x="477560" y="49097"/>
                  </a:lnTo>
                  <a:lnTo>
                    <a:pt x="512540" y="74533"/>
                  </a:lnTo>
                  <a:lnTo>
                    <a:pt x="542543" y="104186"/>
                  </a:lnTo>
                  <a:lnTo>
                    <a:pt x="566954" y="137534"/>
                  </a:lnTo>
                  <a:lnTo>
                    <a:pt x="585155" y="174052"/>
                  </a:lnTo>
                  <a:lnTo>
                    <a:pt x="596527" y="213218"/>
                  </a:lnTo>
                  <a:lnTo>
                    <a:pt x="600455" y="254507"/>
                  </a:lnTo>
                  <a:lnTo>
                    <a:pt x="596527" y="295797"/>
                  </a:lnTo>
                  <a:lnTo>
                    <a:pt x="585155" y="334963"/>
                  </a:lnTo>
                  <a:lnTo>
                    <a:pt x="566954" y="371481"/>
                  </a:lnTo>
                  <a:lnTo>
                    <a:pt x="542544" y="404829"/>
                  </a:lnTo>
                  <a:lnTo>
                    <a:pt x="512540" y="434482"/>
                  </a:lnTo>
                  <a:lnTo>
                    <a:pt x="477560" y="459918"/>
                  </a:lnTo>
                  <a:lnTo>
                    <a:pt x="438222" y="480613"/>
                  </a:lnTo>
                  <a:lnTo>
                    <a:pt x="395142" y="496043"/>
                  </a:lnTo>
                  <a:lnTo>
                    <a:pt x="348938" y="505685"/>
                  </a:lnTo>
                  <a:lnTo>
                    <a:pt x="300227" y="509015"/>
                  </a:lnTo>
                  <a:lnTo>
                    <a:pt x="251517" y="505685"/>
                  </a:lnTo>
                  <a:lnTo>
                    <a:pt x="205313" y="496043"/>
                  </a:lnTo>
                  <a:lnTo>
                    <a:pt x="162233" y="480613"/>
                  </a:lnTo>
                  <a:lnTo>
                    <a:pt x="122895" y="459918"/>
                  </a:lnTo>
                  <a:lnTo>
                    <a:pt x="87915" y="434482"/>
                  </a:lnTo>
                  <a:lnTo>
                    <a:pt x="57911" y="404829"/>
                  </a:lnTo>
                  <a:lnTo>
                    <a:pt x="33501" y="371481"/>
                  </a:lnTo>
                  <a:lnTo>
                    <a:pt x="15300" y="334963"/>
                  </a:lnTo>
                  <a:lnTo>
                    <a:pt x="3928" y="295797"/>
                  </a:lnTo>
                  <a:lnTo>
                    <a:pt x="0" y="254507"/>
                  </a:lnTo>
                  <a:close/>
                </a:path>
              </a:pathLst>
            </a:custGeom>
            <a:ln w="2895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735568" y="3425952"/>
              <a:ext cx="1495425" cy="646430"/>
            </a:xfrm>
            <a:custGeom>
              <a:avLst/>
              <a:gdLst/>
              <a:ahLst/>
              <a:cxnLst/>
              <a:rect l="l" t="t" r="r" b="b"/>
              <a:pathLst>
                <a:path w="1495425" h="646429">
                  <a:moveTo>
                    <a:pt x="1495044" y="0"/>
                  </a:moveTo>
                  <a:lnTo>
                    <a:pt x="0" y="0"/>
                  </a:lnTo>
                  <a:lnTo>
                    <a:pt x="0" y="646176"/>
                  </a:lnTo>
                  <a:lnTo>
                    <a:pt x="1495044" y="646176"/>
                  </a:lnTo>
                  <a:lnTo>
                    <a:pt x="14950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741292" y="2010536"/>
          <a:ext cx="8216900" cy="2052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2135"/>
                <a:gridCol w="1408430"/>
                <a:gridCol w="1624965"/>
                <a:gridCol w="110489"/>
                <a:gridCol w="1513839"/>
                <a:gridCol w="1624964"/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Marketing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Finance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HR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Total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Salaries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200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300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100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600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FDFA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Agency</a:t>
                      </a:r>
                      <a:r>
                        <a:rPr sz="18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payments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500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100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500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1100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FDFA0"/>
                    </a:solidFill>
                  </a:tcPr>
                </a:tc>
              </a:tr>
              <a:tr h="295910"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Other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expenses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300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100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ts val="199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200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7EBF5"/>
                    </a:solidFill>
                  </a:tcPr>
                </a:tc>
                <a:tc hMerge="1"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600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0">
                <a:tc vMerge="1"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 vMerge="1"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 vMerge="1"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A4C248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A4C248"/>
                      </a:solidFill>
                      <a:prstDash val="solid"/>
                    </a:lnL>
                    <a:lnR w="12700">
                      <a:solidFill>
                        <a:srgbClr val="A4C248"/>
                      </a:solidFill>
                      <a:prstDash val="solid"/>
                    </a:lnR>
                    <a:lnT w="12700">
                      <a:solidFill>
                        <a:srgbClr val="A4C248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Total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1000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FDFA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500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FDF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A4C248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FDFA0"/>
                    </a:solidFill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1815"/>
                        </a:lnSpc>
                      </a:pPr>
                      <a:r>
                        <a:rPr sz="1800" b="1" dirty="0">
                          <a:latin typeface="Calibri" panose="020F0502020204030204"/>
                          <a:cs typeface="Calibri" panose="020F0502020204030204"/>
                        </a:rPr>
                        <a:t>This</a:t>
                      </a:r>
                      <a:r>
                        <a:rPr sz="1800" b="1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b="1" dirty="0">
                          <a:latin typeface="Calibri" panose="020F0502020204030204"/>
                          <a:cs typeface="Calibri" panose="020F0502020204030204"/>
                        </a:rPr>
                        <a:t>total</a:t>
                      </a:r>
                      <a:r>
                        <a:rPr sz="1800" b="1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b="1" spc="-20" dirty="0">
                          <a:latin typeface="Calibri" panose="020F0502020204030204"/>
                          <a:cs typeface="Calibri" panose="020F0502020204030204"/>
                        </a:rPr>
                        <a:t>will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A4C248"/>
                      </a:solidFill>
                      <a:prstDash val="solid"/>
                    </a:lnL>
                    <a:lnR w="28575">
                      <a:solidFill>
                        <a:srgbClr val="AFDFA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2300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4" marB="0">
                    <a:lnL w="28575">
                      <a:solidFill>
                        <a:srgbClr val="AFDFA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0066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12700">
                      <a:solidFill>
                        <a:srgbClr val="A4C248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ts val="1055"/>
                        </a:lnSpc>
                      </a:pPr>
                      <a:r>
                        <a:rPr sz="1800" b="1" dirty="0">
                          <a:latin typeface="Calibri" panose="020F0502020204030204"/>
                          <a:cs typeface="Calibri" panose="020F0502020204030204"/>
                        </a:rPr>
                        <a:t>be</a:t>
                      </a:r>
                      <a:r>
                        <a:rPr sz="1800" b="1" spc="-1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b="1" spc="-20" dirty="0">
                          <a:latin typeface="Calibri" panose="020F0502020204030204"/>
                          <a:cs typeface="Calibri" panose="020F0502020204030204"/>
                        </a:rPr>
                        <a:t>used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A4C248"/>
                      </a:solidFill>
                      <a:prstDash val="solid"/>
                    </a:lnL>
                    <a:lnR w="12700">
                      <a:solidFill>
                        <a:srgbClr val="A4C248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A4C24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A4C248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3722496" y="4180332"/>
          <a:ext cx="6591300" cy="1482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2135"/>
                <a:gridCol w="1408430"/>
                <a:gridCol w="1624965"/>
                <a:gridCol w="1624964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Marketing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Finance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HR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Salaries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9%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13%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4%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Agency</a:t>
                      </a:r>
                      <a:r>
                        <a:rPr sz="18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payments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22%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4%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22%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Other</a:t>
                      </a:r>
                      <a:r>
                        <a:rPr sz="18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latin typeface="Calibri" panose="020F0502020204030204"/>
                          <a:cs typeface="Calibri" panose="020F0502020204030204"/>
                        </a:rPr>
                        <a:t>expenses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9D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13%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4%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 panose="020F0502020204030204"/>
                          <a:cs typeface="Calibri" panose="020F0502020204030204"/>
                        </a:rPr>
                        <a:t>9%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spc="-2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Sets</a:t>
            </a:r>
            <a:endParaRPr spc="-2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71143" y="3031363"/>
            <a:ext cx="9518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What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6864" y="1342644"/>
            <a:ext cx="6826250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5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A</a:t>
            </a:r>
            <a:r>
              <a:rPr sz="18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subset</a:t>
            </a:r>
            <a:r>
              <a:rPr sz="18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data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based</a:t>
            </a:r>
            <a:r>
              <a:rPr sz="18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on</a:t>
            </a:r>
            <a:r>
              <a:rPr sz="18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some</a:t>
            </a:r>
            <a:r>
              <a:rPr sz="18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conditions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90607" y="3149600"/>
            <a:ext cx="1443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List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all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states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47538" y="5210378"/>
            <a:ext cx="23634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States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with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more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than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50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customers/</a:t>
            </a:r>
            <a:r>
              <a:rPr sz="18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employees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140452" y="2331720"/>
            <a:ext cx="4377055" cy="2975610"/>
            <a:chOff x="5140452" y="2331720"/>
            <a:chExt cx="4377055" cy="2975610"/>
          </a:xfrm>
        </p:grpSpPr>
        <p:sp>
          <p:nvSpPr>
            <p:cNvPr id="9" name="object 9"/>
            <p:cNvSpPr/>
            <p:nvPr/>
          </p:nvSpPr>
          <p:spPr>
            <a:xfrm>
              <a:off x="5146548" y="2337816"/>
              <a:ext cx="4364990" cy="2022475"/>
            </a:xfrm>
            <a:custGeom>
              <a:avLst/>
              <a:gdLst/>
              <a:ahLst/>
              <a:cxnLst/>
              <a:rect l="l" t="t" r="r" b="b"/>
              <a:pathLst>
                <a:path w="4364990" h="2022475">
                  <a:moveTo>
                    <a:pt x="4364736" y="0"/>
                  </a:moveTo>
                  <a:lnTo>
                    <a:pt x="0" y="0"/>
                  </a:lnTo>
                  <a:lnTo>
                    <a:pt x="0" y="2022348"/>
                  </a:lnTo>
                  <a:lnTo>
                    <a:pt x="4364736" y="2022348"/>
                  </a:lnTo>
                  <a:lnTo>
                    <a:pt x="4364736" y="0"/>
                  </a:lnTo>
                  <a:close/>
                </a:path>
              </a:pathLst>
            </a:custGeom>
            <a:solidFill>
              <a:srgbClr val="C7E2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146548" y="2337816"/>
              <a:ext cx="4364990" cy="2022475"/>
            </a:xfrm>
            <a:custGeom>
              <a:avLst/>
              <a:gdLst/>
              <a:ahLst/>
              <a:cxnLst/>
              <a:rect l="l" t="t" r="r" b="b"/>
              <a:pathLst>
                <a:path w="4364990" h="2022475">
                  <a:moveTo>
                    <a:pt x="0" y="2022348"/>
                  </a:moveTo>
                  <a:lnTo>
                    <a:pt x="4364736" y="2022348"/>
                  </a:lnTo>
                  <a:lnTo>
                    <a:pt x="4364736" y="0"/>
                  </a:lnTo>
                  <a:lnTo>
                    <a:pt x="0" y="0"/>
                  </a:lnTo>
                  <a:lnTo>
                    <a:pt x="0" y="2022348"/>
                  </a:lnTo>
                  <a:close/>
                </a:path>
              </a:pathLst>
            </a:custGeom>
            <a:ln w="12192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038088" y="2808732"/>
              <a:ext cx="1080770" cy="1080770"/>
            </a:xfrm>
            <a:custGeom>
              <a:avLst/>
              <a:gdLst/>
              <a:ahLst/>
              <a:cxnLst/>
              <a:rect l="l" t="t" r="r" b="b"/>
              <a:pathLst>
                <a:path w="1080770" h="1080770">
                  <a:moveTo>
                    <a:pt x="540258" y="0"/>
                  </a:moveTo>
                  <a:lnTo>
                    <a:pt x="491091" y="2208"/>
                  </a:lnTo>
                  <a:lnTo>
                    <a:pt x="443159" y="8706"/>
                  </a:lnTo>
                  <a:lnTo>
                    <a:pt x="396654" y="19302"/>
                  </a:lnTo>
                  <a:lnTo>
                    <a:pt x="351765" y="33806"/>
                  </a:lnTo>
                  <a:lnTo>
                    <a:pt x="308685" y="52026"/>
                  </a:lnTo>
                  <a:lnTo>
                    <a:pt x="267603" y="73772"/>
                  </a:lnTo>
                  <a:lnTo>
                    <a:pt x="228710" y="98854"/>
                  </a:lnTo>
                  <a:lnTo>
                    <a:pt x="192198" y="127079"/>
                  </a:lnTo>
                  <a:lnTo>
                    <a:pt x="158257" y="158257"/>
                  </a:lnTo>
                  <a:lnTo>
                    <a:pt x="127079" y="192198"/>
                  </a:lnTo>
                  <a:lnTo>
                    <a:pt x="98854" y="228710"/>
                  </a:lnTo>
                  <a:lnTo>
                    <a:pt x="73772" y="267603"/>
                  </a:lnTo>
                  <a:lnTo>
                    <a:pt x="52026" y="308685"/>
                  </a:lnTo>
                  <a:lnTo>
                    <a:pt x="33806" y="351765"/>
                  </a:lnTo>
                  <a:lnTo>
                    <a:pt x="19302" y="396654"/>
                  </a:lnTo>
                  <a:lnTo>
                    <a:pt x="8706" y="443159"/>
                  </a:lnTo>
                  <a:lnTo>
                    <a:pt x="2208" y="491091"/>
                  </a:lnTo>
                  <a:lnTo>
                    <a:pt x="0" y="540257"/>
                  </a:lnTo>
                  <a:lnTo>
                    <a:pt x="2208" y="589424"/>
                  </a:lnTo>
                  <a:lnTo>
                    <a:pt x="8706" y="637356"/>
                  </a:lnTo>
                  <a:lnTo>
                    <a:pt x="19302" y="683861"/>
                  </a:lnTo>
                  <a:lnTo>
                    <a:pt x="33806" y="728750"/>
                  </a:lnTo>
                  <a:lnTo>
                    <a:pt x="52026" y="771830"/>
                  </a:lnTo>
                  <a:lnTo>
                    <a:pt x="73772" y="812912"/>
                  </a:lnTo>
                  <a:lnTo>
                    <a:pt x="98854" y="851805"/>
                  </a:lnTo>
                  <a:lnTo>
                    <a:pt x="127079" y="888317"/>
                  </a:lnTo>
                  <a:lnTo>
                    <a:pt x="158257" y="922258"/>
                  </a:lnTo>
                  <a:lnTo>
                    <a:pt x="192198" y="953436"/>
                  </a:lnTo>
                  <a:lnTo>
                    <a:pt x="228710" y="981661"/>
                  </a:lnTo>
                  <a:lnTo>
                    <a:pt x="267603" y="1006743"/>
                  </a:lnTo>
                  <a:lnTo>
                    <a:pt x="308685" y="1028489"/>
                  </a:lnTo>
                  <a:lnTo>
                    <a:pt x="351765" y="1046709"/>
                  </a:lnTo>
                  <a:lnTo>
                    <a:pt x="396654" y="1061213"/>
                  </a:lnTo>
                  <a:lnTo>
                    <a:pt x="443159" y="1071809"/>
                  </a:lnTo>
                  <a:lnTo>
                    <a:pt x="491091" y="1078307"/>
                  </a:lnTo>
                  <a:lnTo>
                    <a:pt x="540258" y="1080515"/>
                  </a:lnTo>
                  <a:lnTo>
                    <a:pt x="589424" y="1078307"/>
                  </a:lnTo>
                  <a:lnTo>
                    <a:pt x="637356" y="1071809"/>
                  </a:lnTo>
                  <a:lnTo>
                    <a:pt x="683861" y="1061213"/>
                  </a:lnTo>
                  <a:lnTo>
                    <a:pt x="728750" y="1046709"/>
                  </a:lnTo>
                  <a:lnTo>
                    <a:pt x="771830" y="1028489"/>
                  </a:lnTo>
                  <a:lnTo>
                    <a:pt x="812912" y="1006743"/>
                  </a:lnTo>
                  <a:lnTo>
                    <a:pt x="851805" y="981661"/>
                  </a:lnTo>
                  <a:lnTo>
                    <a:pt x="888317" y="953436"/>
                  </a:lnTo>
                  <a:lnTo>
                    <a:pt x="922258" y="922258"/>
                  </a:lnTo>
                  <a:lnTo>
                    <a:pt x="953436" y="888317"/>
                  </a:lnTo>
                  <a:lnTo>
                    <a:pt x="981661" y="851805"/>
                  </a:lnTo>
                  <a:lnTo>
                    <a:pt x="1006743" y="812912"/>
                  </a:lnTo>
                  <a:lnTo>
                    <a:pt x="1028489" y="771830"/>
                  </a:lnTo>
                  <a:lnTo>
                    <a:pt x="1046709" y="728750"/>
                  </a:lnTo>
                  <a:lnTo>
                    <a:pt x="1061213" y="683861"/>
                  </a:lnTo>
                  <a:lnTo>
                    <a:pt x="1071809" y="637356"/>
                  </a:lnTo>
                  <a:lnTo>
                    <a:pt x="1078307" y="589424"/>
                  </a:lnTo>
                  <a:lnTo>
                    <a:pt x="1080515" y="540257"/>
                  </a:lnTo>
                  <a:lnTo>
                    <a:pt x="1078307" y="491091"/>
                  </a:lnTo>
                  <a:lnTo>
                    <a:pt x="1071809" y="443159"/>
                  </a:lnTo>
                  <a:lnTo>
                    <a:pt x="1061213" y="396654"/>
                  </a:lnTo>
                  <a:lnTo>
                    <a:pt x="1046709" y="351765"/>
                  </a:lnTo>
                  <a:lnTo>
                    <a:pt x="1028489" y="308685"/>
                  </a:lnTo>
                  <a:lnTo>
                    <a:pt x="1006743" y="267603"/>
                  </a:lnTo>
                  <a:lnTo>
                    <a:pt x="981661" y="228710"/>
                  </a:lnTo>
                  <a:lnTo>
                    <a:pt x="953436" y="192198"/>
                  </a:lnTo>
                  <a:lnTo>
                    <a:pt x="922258" y="158257"/>
                  </a:lnTo>
                  <a:lnTo>
                    <a:pt x="888317" y="127079"/>
                  </a:lnTo>
                  <a:lnTo>
                    <a:pt x="851805" y="98854"/>
                  </a:lnTo>
                  <a:lnTo>
                    <a:pt x="812912" y="73772"/>
                  </a:lnTo>
                  <a:lnTo>
                    <a:pt x="771830" y="52026"/>
                  </a:lnTo>
                  <a:lnTo>
                    <a:pt x="728750" y="33806"/>
                  </a:lnTo>
                  <a:lnTo>
                    <a:pt x="683861" y="19302"/>
                  </a:lnTo>
                  <a:lnTo>
                    <a:pt x="637356" y="8706"/>
                  </a:lnTo>
                  <a:lnTo>
                    <a:pt x="589424" y="2208"/>
                  </a:lnTo>
                  <a:lnTo>
                    <a:pt x="540258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038088" y="2808732"/>
              <a:ext cx="1080770" cy="1080770"/>
            </a:xfrm>
            <a:custGeom>
              <a:avLst/>
              <a:gdLst/>
              <a:ahLst/>
              <a:cxnLst/>
              <a:rect l="l" t="t" r="r" b="b"/>
              <a:pathLst>
                <a:path w="1080770" h="1080770">
                  <a:moveTo>
                    <a:pt x="0" y="540257"/>
                  </a:moveTo>
                  <a:lnTo>
                    <a:pt x="2208" y="491091"/>
                  </a:lnTo>
                  <a:lnTo>
                    <a:pt x="8706" y="443159"/>
                  </a:lnTo>
                  <a:lnTo>
                    <a:pt x="19302" y="396654"/>
                  </a:lnTo>
                  <a:lnTo>
                    <a:pt x="33806" y="351765"/>
                  </a:lnTo>
                  <a:lnTo>
                    <a:pt x="52026" y="308685"/>
                  </a:lnTo>
                  <a:lnTo>
                    <a:pt x="73772" y="267603"/>
                  </a:lnTo>
                  <a:lnTo>
                    <a:pt x="98854" y="228710"/>
                  </a:lnTo>
                  <a:lnTo>
                    <a:pt x="127079" y="192198"/>
                  </a:lnTo>
                  <a:lnTo>
                    <a:pt x="158257" y="158257"/>
                  </a:lnTo>
                  <a:lnTo>
                    <a:pt x="192198" y="127079"/>
                  </a:lnTo>
                  <a:lnTo>
                    <a:pt x="228710" y="98854"/>
                  </a:lnTo>
                  <a:lnTo>
                    <a:pt x="267603" y="73772"/>
                  </a:lnTo>
                  <a:lnTo>
                    <a:pt x="308685" y="52026"/>
                  </a:lnTo>
                  <a:lnTo>
                    <a:pt x="351765" y="33806"/>
                  </a:lnTo>
                  <a:lnTo>
                    <a:pt x="396654" y="19302"/>
                  </a:lnTo>
                  <a:lnTo>
                    <a:pt x="443159" y="8706"/>
                  </a:lnTo>
                  <a:lnTo>
                    <a:pt x="491091" y="2208"/>
                  </a:lnTo>
                  <a:lnTo>
                    <a:pt x="540258" y="0"/>
                  </a:lnTo>
                  <a:lnTo>
                    <a:pt x="589424" y="2208"/>
                  </a:lnTo>
                  <a:lnTo>
                    <a:pt x="637356" y="8706"/>
                  </a:lnTo>
                  <a:lnTo>
                    <a:pt x="683861" y="19302"/>
                  </a:lnTo>
                  <a:lnTo>
                    <a:pt x="728750" y="33806"/>
                  </a:lnTo>
                  <a:lnTo>
                    <a:pt x="771830" y="52026"/>
                  </a:lnTo>
                  <a:lnTo>
                    <a:pt x="812912" y="73772"/>
                  </a:lnTo>
                  <a:lnTo>
                    <a:pt x="851805" y="98854"/>
                  </a:lnTo>
                  <a:lnTo>
                    <a:pt x="888317" y="127079"/>
                  </a:lnTo>
                  <a:lnTo>
                    <a:pt x="922258" y="158257"/>
                  </a:lnTo>
                  <a:lnTo>
                    <a:pt x="953436" y="192198"/>
                  </a:lnTo>
                  <a:lnTo>
                    <a:pt x="981661" y="228710"/>
                  </a:lnTo>
                  <a:lnTo>
                    <a:pt x="1006743" y="267603"/>
                  </a:lnTo>
                  <a:lnTo>
                    <a:pt x="1028489" y="308685"/>
                  </a:lnTo>
                  <a:lnTo>
                    <a:pt x="1046709" y="351765"/>
                  </a:lnTo>
                  <a:lnTo>
                    <a:pt x="1061213" y="396654"/>
                  </a:lnTo>
                  <a:lnTo>
                    <a:pt x="1071809" y="443159"/>
                  </a:lnTo>
                  <a:lnTo>
                    <a:pt x="1078307" y="491091"/>
                  </a:lnTo>
                  <a:lnTo>
                    <a:pt x="1080515" y="540257"/>
                  </a:lnTo>
                  <a:lnTo>
                    <a:pt x="1078307" y="589424"/>
                  </a:lnTo>
                  <a:lnTo>
                    <a:pt x="1071809" y="637356"/>
                  </a:lnTo>
                  <a:lnTo>
                    <a:pt x="1061213" y="683861"/>
                  </a:lnTo>
                  <a:lnTo>
                    <a:pt x="1046709" y="728750"/>
                  </a:lnTo>
                  <a:lnTo>
                    <a:pt x="1028489" y="771830"/>
                  </a:lnTo>
                  <a:lnTo>
                    <a:pt x="1006743" y="812912"/>
                  </a:lnTo>
                  <a:lnTo>
                    <a:pt x="981661" y="851805"/>
                  </a:lnTo>
                  <a:lnTo>
                    <a:pt x="953436" y="888317"/>
                  </a:lnTo>
                  <a:lnTo>
                    <a:pt x="922258" y="922258"/>
                  </a:lnTo>
                  <a:lnTo>
                    <a:pt x="888317" y="953436"/>
                  </a:lnTo>
                  <a:lnTo>
                    <a:pt x="851805" y="981661"/>
                  </a:lnTo>
                  <a:lnTo>
                    <a:pt x="812912" y="1006743"/>
                  </a:lnTo>
                  <a:lnTo>
                    <a:pt x="771830" y="1028489"/>
                  </a:lnTo>
                  <a:lnTo>
                    <a:pt x="728750" y="1046709"/>
                  </a:lnTo>
                  <a:lnTo>
                    <a:pt x="683861" y="1061213"/>
                  </a:lnTo>
                  <a:lnTo>
                    <a:pt x="637356" y="1071809"/>
                  </a:lnTo>
                  <a:lnTo>
                    <a:pt x="589424" y="1078307"/>
                  </a:lnTo>
                  <a:lnTo>
                    <a:pt x="540258" y="1080515"/>
                  </a:lnTo>
                  <a:lnTo>
                    <a:pt x="491091" y="1078307"/>
                  </a:lnTo>
                  <a:lnTo>
                    <a:pt x="443159" y="1071809"/>
                  </a:lnTo>
                  <a:lnTo>
                    <a:pt x="396654" y="1061213"/>
                  </a:lnTo>
                  <a:lnTo>
                    <a:pt x="351765" y="1046709"/>
                  </a:lnTo>
                  <a:lnTo>
                    <a:pt x="308685" y="1028489"/>
                  </a:lnTo>
                  <a:lnTo>
                    <a:pt x="267603" y="1006743"/>
                  </a:lnTo>
                  <a:lnTo>
                    <a:pt x="228710" y="981661"/>
                  </a:lnTo>
                  <a:lnTo>
                    <a:pt x="192198" y="953436"/>
                  </a:lnTo>
                  <a:lnTo>
                    <a:pt x="158257" y="922258"/>
                  </a:lnTo>
                  <a:lnTo>
                    <a:pt x="127079" y="888317"/>
                  </a:lnTo>
                  <a:lnTo>
                    <a:pt x="98854" y="851805"/>
                  </a:lnTo>
                  <a:lnTo>
                    <a:pt x="73772" y="812912"/>
                  </a:lnTo>
                  <a:lnTo>
                    <a:pt x="52026" y="771830"/>
                  </a:lnTo>
                  <a:lnTo>
                    <a:pt x="33806" y="728750"/>
                  </a:lnTo>
                  <a:lnTo>
                    <a:pt x="19302" y="683861"/>
                  </a:lnTo>
                  <a:lnTo>
                    <a:pt x="8706" y="637356"/>
                  </a:lnTo>
                  <a:lnTo>
                    <a:pt x="2208" y="589424"/>
                  </a:lnTo>
                  <a:lnTo>
                    <a:pt x="0" y="540257"/>
                  </a:lnTo>
                  <a:close/>
                </a:path>
              </a:pathLst>
            </a:custGeom>
            <a:ln w="12192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541008" y="3547872"/>
              <a:ext cx="76200" cy="1759585"/>
            </a:xfrm>
            <a:custGeom>
              <a:avLst/>
              <a:gdLst/>
              <a:ahLst/>
              <a:cxnLst/>
              <a:rect l="l" t="t" r="r" b="b"/>
              <a:pathLst>
                <a:path w="76200" h="1759585">
                  <a:moveTo>
                    <a:pt x="31750" y="1683130"/>
                  </a:moveTo>
                  <a:lnTo>
                    <a:pt x="0" y="1683130"/>
                  </a:lnTo>
                  <a:lnTo>
                    <a:pt x="38100" y="1759330"/>
                  </a:lnTo>
                  <a:lnTo>
                    <a:pt x="69850" y="1695830"/>
                  </a:lnTo>
                  <a:lnTo>
                    <a:pt x="31750" y="1695830"/>
                  </a:lnTo>
                  <a:lnTo>
                    <a:pt x="31750" y="1683130"/>
                  </a:lnTo>
                  <a:close/>
                </a:path>
                <a:path w="76200" h="1759585">
                  <a:moveTo>
                    <a:pt x="44450" y="0"/>
                  </a:moveTo>
                  <a:lnTo>
                    <a:pt x="31750" y="0"/>
                  </a:lnTo>
                  <a:lnTo>
                    <a:pt x="31750" y="1695830"/>
                  </a:lnTo>
                  <a:lnTo>
                    <a:pt x="44450" y="1695830"/>
                  </a:lnTo>
                  <a:lnTo>
                    <a:pt x="44450" y="0"/>
                  </a:lnTo>
                  <a:close/>
                </a:path>
                <a:path w="76200" h="1759585">
                  <a:moveTo>
                    <a:pt x="76200" y="1683130"/>
                  </a:moveTo>
                  <a:lnTo>
                    <a:pt x="44450" y="1683130"/>
                  </a:lnTo>
                  <a:lnTo>
                    <a:pt x="44450" y="1695830"/>
                  </a:lnTo>
                  <a:lnTo>
                    <a:pt x="69850" y="1695830"/>
                  </a:lnTo>
                  <a:lnTo>
                    <a:pt x="76200" y="168313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spc="-2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Sets</a:t>
            </a:r>
            <a:endParaRPr spc="-2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248867" y="3031363"/>
            <a:ext cx="7975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5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Why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6864" y="1342644"/>
            <a:ext cx="6826250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5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Sets</a:t>
            </a:r>
            <a:r>
              <a:rPr sz="18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are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created</a:t>
            </a:r>
            <a:r>
              <a:rPr sz="18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based</a:t>
            </a:r>
            <a:r>
              <a:rPr sz="1800"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on</a:t>
            </a:r>
            <a:r>
              <a:rPr sz="18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a</a:t>
            </a:r>
            <a:r>
              <a:rPr sz="18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condition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06239" y="4822952"/>
            <a:ext cx="48971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57175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Either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select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manually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or </a:t>
            </a:r>
            <a:r>
              <a:rPr sz="1800" dirty="0">
                <a:latin typeface="Calibri" panose="020F0502020204030204"/>
                <a:cs typeface="Calibri" panose="020F0502020204030204"/>
              </a:rPr>
              <a:t>Specify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condition,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 panose="020F0502020204030204"/>
                <a:cs typeface="Calibri" panose="020F0502020204030204"/>
              </a:rPr>
              <a:t>If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true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–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that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element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is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part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Set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or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set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 panose="020F0502020204030204"/>
                <a:cs typeface="Calibri" panose="020F0502020204030204"/>
              </a:rPr>
              <a:t>If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False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–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that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element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is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part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Set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B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or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OUT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set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40452" y="2331720"/>
            <a:ext cx="4377055" cy="2034539"/>
            <a:chOff x="5140452" y="2331720"/>
            <a:chExt cx="4377055" cy="2034539"/>
          </a:xfrm>
        </p:grpSpPr>
        <p:sp>
          <p:nvSpPr>
            <p:cNvPr id="8" name="object 8"/>
            <p:cNvSpPr/>
            <p:nvPr/>
          </p:nvSpPr>
          <p:spPr>
            <a:xfrm>
              <a:off x="5146548" y="2337816"/>
              <a:ext cx="4364990" cy="2022475"/>
            </a:xfrm>
            <a:custGeom>
              <a:avLst/>
              <a:gdLst/>
              <a:ahLst/>
              <a:cxnLst/>
              <a:rect l="l" t="t" r="r" b="b"/>
              <a:pathLst>
                <a:path w="4364990" h="2022475">
                  <a:moveTo>
                    <a:pt x="4364736" y="0"/>
                  </a:moveTo>
                  <a:lnTo>
                    <a:pt x="0" y="0"/>
                  </a:lnTo>
                  <a:lnTo>
                    <a:pt x="0" y="2022348"/>
                  </a:lnTo>
                  <a:lnTo>
                    <a:pt x="4364736" y="2022348"/>
                  </a:lnTo>
                  <a:lnTo>
                    <a:pt x="4364736" y="0"/>
                  </a:lnTo>
                  <a:close/>
                </a:path>
              </a:pathLst>
            </a:custGeom>
            <a:solidFill>
              <a:srgbClr val="C7E2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146548" y="2337816"/>
              <a:ext cx="4364990" cy="2022475"/>
            </a:xfrm>
            <a:custGeom>
              <a:avLst/>
              <a:gdLst/>
              <a:ahLst/>
              <a:cxnLst/>
              <a:rect l="l" t="t" r="r" b="b"/>
              <a:pathLst>
                <a:path w="4364990" h="2022475">
                  <a:moveTo>
                    <a:pt x="0" y="2022348"/>
                  </a:moveTo>
                  <a:lnTo>
                    <a:pt x="4364736" y="2022348"/>
                  </a:lnTo>
                  <a:lnTo>
                    <a:pt x="4364736" y="0"/>
                  </a:lnTo>
                  <a:lnTo>
                    <a:pt x="0" y="0"/>
                  </a:lnTo>
                  <a:lnTo>
                    <a:pt x="0" y="2022348"/>
                  </a:lnTo>
                  <a:close/>
                </a:path>
              </a:pathLst>
            </a:custGeom>
            <a:ln w="12192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038088" y="2808732"/>
              <a:ext cx="1080770" cy="1080770"/>
            </a:xfrm>
            <a:custGeom>
              <a:avLst/>
              <a:gdLst/>
              <a:ahLst/>
              <a:cxnLst/>
              <a:rect l="l" t="t" r="r" b="b"/>
              <a:pathLst>
                <a:path w="1080770" h="1080770">
                  <a:moveTo>
                    <a:pt x="540258" y="0"/>
                  </a:moveTo>
                  <a:lnTo>
                    <a:pt x="491091" y="2208"/>
                  </a:lnTo>
                  <a:lnTo>
                    <a:pt x="443159" y="8706"/>
                  </a:lnTo>
                  <a:lnTo>
                    <a:pt x="396654" y="19302"/>
                  </a:lnTo>
                  <a:lnTo>
                    <a:pt x="351765" y="33806"/>
                  </a:lnTo>
                  <a:lnTo>
                    <a:pt x="308685" y="52026"/>
                  </a:lnTo>
                  <a:lnTo>
                    <a:pt x="267603" y="73772"/>
                  </a:lnTo>
                  <a:lnTo>
                    <a:pt x="228710" y="98854"/>
                  </a:lnTo>
                  <a:lnTo>
                    <a:pt x="192198" y="127079"/>
                  </a:lnTo>
                  <a:lnTo>
                    <a:pt x="158257" y="158257"/>
                  </a:lnTo>
                  <a:lnTo>
                    <a:pt x="127079" y="192198"/>
                  </a:lnTo>
                  <a:lnTo>
                    <a:pt x="98854" y="228710"/>
                  </a:lnTo>
                  <a:lnTo>
                    <a:pt x="73772" y="267603"/>
                  </a:lnTo>
                  <a:lnTo>
                    <a:pt x="52026" y="308685"/>
                  </a:lnTo>
                  <a:lnTo>
                    <a:pt x="33806" y="351765"/>
                  </a:lnTo>
                  <a:lnTo>
                    <a:pt x="19302" y="396654"/>
                  </a:lnTo>
                  <a:lnTo>
                    <a:pt x="8706" y="443159"/>
                  </a:lnTo>
                  <a:lnTo>
                    <a:pt x="2208" y="491091"/>
                  </a:lnTo>
                  <a:lnTo>
                    <a:pt x="0" y="540257"/>
                  </a:lnTo>
                  <a:lnTo>
                    <a:pt x="2208" y="589424"/>
                  </a:lnTo>
                  <a:lnTo>
                    <a:pt x="8706" y="637356"/>
                  </a:lnTo>
                  <a:lnTo>
                    <a:pt x="19302" y="683861"/>
                  </a:lnTo>
                  <a:lnTo>
                    <a:pt x="33806" y="728750"/>
                  </a:lnTo>
                  <a:lnTo>
                    <a:pt x="52026" y="771830"/>
                  </a:lnTo>
                  <a:lnTo>
                    <a:pt x="73772" y="812912"/>
                  </a:lnTo>
                  <a:lnTo>
                    <a:pt x="98854" y="851805"/>
                  </a:lnTo>
                  <a:lnTo>
                    <a:pt x="127079" y="888317"/>
                  </a:lnTo>
                  <a:lnTo>
                    <a:pt x="158257" y="922258"/>
                  </a:lnTo>
                  <a:lnTo>
                    <a:pt x="192198" y="953436"/>
                  </a:lnTo>
                  <a:lnTo>
                    <a:pt x="228710" y="981661"/>
                  </a:lnTo>
                  <a:lnTo>
                    <a:pt x="267603" y="1006743"/>
                  </a:lnTo>
                  <a:lnTo>
                    <a:pt x="308685" y="1028489"/>
                  </a:lnTo>
                  <a:lnTo>
                    <a:pt x="351765" y="1046709"/>
                  </a:lnTo>
                  <a:lnTo>
                    <a:pt x="396654" y="1061213"/>
                  </a:lnTo>
                  <a:lnTo>
                    <a:pt x="443159" y="1071809"/>
                  </a:lnTo>
                  <a:lnTo>
                    <a:pt x="491091" y="1078307"/>
                  </a:lnTo>
                  <a:lnTo>
                    <a:pt x="540258" y="1080515"/>
                  </a:lnTo>
                  <a:lnTo>
                    <a:pt x="589424" y="1078307"/>
                  </a:lnTo>
                  <a:lnTo>
                    <a:pt x="637356" y="1071809"/>
                  </a:lnTo>
                  <a:lnTo>
                    <a:pt x="683861" y="1061213"/>
                  </a:lnTo>
                  <a:lnTo>
                    <a:pt x="728750" y="1046709"/>
                  </a:lnTo>
                  <a:lnTo>
                    <a:pt x="771830" y="1028489"/>
                  </a:lnTo>
                  <a:lnTo>
                    <a:pt x="812912" y="1006743"/>
                  </a:lnTo>
                  <a:lnTo>
                    <a:pt x="851805" y="981661"/>
                  </a:lnTo>
                  <a:lnTo>
                    <a:pt x="888317" y="953436"/>
                  </a:lnTo>
                  <a:lnTo>
                    <a:pt x="922258" y="922258"/>
                  </a:lnTo>
                  <a:lnTo>
                    <a:pt x="953436" y="888317"/>
                  </a:lnTo>
                  <a:lnTo>
                    <a:pt x="981661" y="851805"/>
                  </a:lnTo>
                  <a:lnTo>
                    <a:pt x="1006743" y="812912"/>
                  </a:lnTo>
                  <a:lnTo>
                    <a:pt x="1028489" y="771830"/>
                  </a:lnTo>
                  <a:lnTo>
                    <a:pt x="1046709" y="728750"/>
                  </a:lnTo>
                  <a:lnTo>
                    <a:pt x="1061213" y="683861"/>
                  </a:lnTo>
                  <a:lnTo>
                    <a:pt x="1071809" y="637356"/>
                  </a:lnTo>
                  <a:lnTo>
                    <a:pt x="1078307" y="589424"/>
                  </a:lnTo>
                  <a:lnTo>
                    <a:pt x="1080515" y="540257"/>
                  </a:lnTo>
                  <a:lnTo>
                    <a:pt x="1078307" y="491091"/>
                  </a:lnTo>
                  <a:lnTo>
                    <a:pt x="1071809" y="443159"/>
                  </a:lnTo>
                  <a:lnTo>
                    <a:pt x="1061213" y="396654"/>
                  </a:lnTo>
                  <a:lnTo>
                    <a:pt x="1046709" y="351765"/>
                  </a:lnTo>
                  <a:lnTo>
                    <a:pt x="1028489" y="308685"/>
                  </a:lnTo>
                  <a:lnTo>
                    <a:pt x="1006743" y="267603"/>
                  </a:lnTo>
                  <a:lnTo>
                    <a:pt x="981661" y="228710"/>
                  </a:lnTo>
                  <a:lnTo>
                    <a:pt x="953436" y="192198"/>
                  </a:lnTo>
                  <a:lnTo>
                    <a:pt x="922258" y="158257"/>
                  </a:lnTo>
                  <a:lnTo>
                    <a:pt x="888317" y="127079"/>
                  </a:lnTo>
                  <a:lnTo>
                    <a:pt x="851805" y="98854"/>
                  </a:lnTo>
                  <a:lnTo>
                    <a:pt x="812912" y="73772"/>
                  </a:lnTo>
                  <a:lnTo>
                    <a:pt x="771830" y="52026"/>
                  </a:lnTo>
                  <a:lnTo>
                    <a:pt x="728750" y="33806"/>
                  </a:lnTo>
                  <a:lnTo>
                    <a:pt x="683861" y="19302"/>
                  </a:lnTo>
                  <a:lnTo>
                    <a:pt x="637356" y="8706"/>
                  </a:lnTo>
                  <a:lnTo>
                    <a:pt x="589424" y="2208"/>
                  </a:lnTo>
                  <a:lnTo>
                    <a:pt x="540258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038088" y="2808732"/>
              <a:ext cx="1080770" cy="1080770"/>
            </a:xfrm>
            <a:custGeom>
              <a:avLst/>
              <a:gdLst/>
              <a:ahLst/>
              <a:cxnLst/>
              <a:rect l="l" t="t" r="r" b="b"/>
              <a:pathLst>
                <a:path w="1080770" h="1080770">
                  <a:moveTo>
                    <a:pt x="0" y="540257"/>
                  </a:moveTo>
                  <a:lnTo>
                    <a:pt x="2208" y="491091"/>
                  </a:lnTo>
                  <a:lnTo>
                    <a:pt x="8706" y="443159"/>
                  </a:lnTo>
                  <a:lnTo>
                    <a:pt x="19302" y="396654"/>
                  </a:lnTo>
                  <a:lnTo>
                    <a:pt x="33806" y="351765"/>
                  </a:lnTo>
                  <a:lnTo>
                    <a:pt x="52026" y="308685"/>
                  </a:lnTo>
                  <a:lnTo>
                    <a:pt x="73772" y="267603"/>
                  </a:lnTo>
                  <a:lnTo>
                    <a:pt x="98854" y="228710"/>
                  </a:lnTo>
                  <a:lnTo>
                    <a:pt x="127079" y="192198"/>
                  </a:lnTo>
                  <a:lnTo>
                    <a:pt x="158257" y="158257"/>
                  </a:lnTo>
                  <a:lnTo>
                    <a:pt x="192198" y="127079"/>
                  </a:lnTo>
                  <a:lnTo>
                    <a:pt x="228710" y="98854"/>
                  </a:lnTo>
                  <a:lnTo>
                    <a:pt x="267603" y="73772"/>
                  </a:lnTo>
                  <a:lnTo>
                    <a:pt x="308685" y="52026"/>
                  </a:lnTo>
                  <a:lnTo>
                    <a:pt x="351765" y="33806"/>
                  </a:lnTo>
                  <a:lnTo>
                    <a:pt x="396654" y="19302"/>
                  </a:lnTo>
                  <a:lnTo>
                    <a:pt x="443159" y="8706"/>
                  </a:lnTo>
                  <a:lnTo>
                    <a:pt x="491091" y="2208"/>
                  </a:lnTo>
                  <a:lnTo>
                    <a:pt x="540258" y="0"/>
                  </a:lnTo>
                  <a:lnTo>
                    <a:pt x="589424" y="2208"/>
                  </a:lnTo>
                  <a:lnTo>
                    <a:pt x="637356" y="8706"/>
                  </a:lnTo>
                  <a:lnTo>
                    <a:pt x="683861" y="19302"/>
                  </a:lnTo>
                  <a:lnTo>
                    <a:pt x="728750" y="33806"/>
                  </a:lnTo>
                  <a:lnTo>
                    <a:pt x="771830" y="52026"/>
                  </a:lnTo>
                  <a:lnTo>
                    <a:pt x="812912" y="73772"/>
                  </a:lnTo>
                  <a:lnTo>
                    <a:pt x="851805" y="98854"/>
                  </a:lnTo>
                  <a:lnTo>
                    <a:pt x="888317" y="127079"/>
                  </a:lnTo>
                  <a:lnTo>
                    <a:pt x="922258" y="158257"/>
                  </a:lnTo>
                  <a:lnTo>
                    <a:pt x="953436" y="192198"/>
                  </a:lnTo>
                  <a:lnTo>
                    <a:pt x="981661" y="228710"/>
                  </a:lnTo>
                  <a:lnTo>
                    <a:pt x="1006743" y="267603"/>
                  </a:lnTo>
                  <a:lnTo>
                    <a:pt x="1028489" y="308685"/>
                  </a:lnTo>
                  <a:lnTo>
                    <a:pt x="1046709" y="351765"/>
                  </a:lnTo>
                  <a:lnTo>
                    <a:pt x="1061213" y="396654"/>
                  </a:lnTo>
                  <a:lnTo>
                    <a:pt x="1071809" y="443159"/>
                  </a:lnTo>
                  <a:lnTo>
                    <a:pt x="1078307" y="491091"/>
                  </a:lnTo>
                  <a:lnTo>
                    <a:pt x="1080515" y="540257"/>
                  </a:lnTo>
                  <a:lnTo>
                    <a:pt x="1078307" y="589424"/>
                  </a:lnTo>
                  <a:lnTo>
                    <a:pt x="1071809" y="637356"/>
                  </a:lnTo>
                  <a:lnTo>
                    <a:pt x="1061213" y="683861"/>
                  </a:lnTo>
                  <a:lnTo>
                    <a:pt x="1046709" y="728750"/>
                  </a:lnTo>
                  <a:lnTo>
                    <a:pt x="1028489" y="771830"/>
                  </a:lnTo>
                  <a:lnTo>
                    <a:pt x="1006743" y="812912"/>
                  </a:lnTo>
                  <a:lnTo>
                    <a:pt x="981661" y="851805"/>
                  </a:lnTo>
                  <a:lnTo>
                    <a:pt x="953436" y="888317"/>
                  </a:lnTo>
                  <a:lnTo>
                    <a:pt x="922258" y="922258"/>
                  </a:lnTo>
                  <a:lnTo>
                    <a:pt x="888317" y="953436"/>
                  </a:lnTo>
                  <a:lnTo>
                    <a:pt x="851805" y="981661"/>
                  </a:lnTo>
                  <a:lnTo>
                    <a:pt x="812912" y="1006743"/>
                  </a:lnTo>
                  <a:lnTo>
                    <a:pt x="771830" y="1028489"/>
                  </a:lnTo>
                  <a:lnTo>
                    <a:pt x="728750" y="1046709"/>
                  </a:lnTo>
                  <a:lnTo>
                    <a:pt x="683861" y="1061213"/>
                  </a:lnTo>
                  <a:lnTo>
                    <a:pt x="637356" y="1071809"/>
                  </a:lnTo>
                  <a:lnTo>
                    <a:pt x="589424" y="1078307"/>
                  </a:lnTo>
                  <a:lnTo>
                    <a:pt x="540258" y="1080515"/>
                  </a:lnTo>
                  <a:lnTo>
                    <a:pt x="491091" y="1078307"/>
                  </a:lnTo>
                  <a:lnTo>
                    <a:pt x="443159" y="1071809"/>
                  </a:lnTo>
                  <a:lnTo>
                    <a:pt x="396654" y="1061213"/>
                  </a:lnTo>
                  <a:lnTo>
                    <a:pt x="351765" y="1046709"/>
                  </a:lnTo>
                  <a:lnTo>
                    <a:pt x="308685" y="1028489"/>
                  </a:lnTo>
                  <a:lnTo>
                    <a:pt x="267603" y="1006743"/>
                  </a:lnTo>
                  <a:lnTo>
                    <a:pt x="228710" y="981661"/>
                  </a:lnTo>
                  <a:lnTo>
                    <a:pt x="192198" y="953436"/>
                  </a:lnTo>
                  <a:lnTo>
                    <a:pt x="158257" y="922258"/>
                  </a:lnTo>
                  <a:lnTo>
                    <a:pt x="127079" y="888317"/>
                  </a:lnTo>
                  <a:lnTo>
                    <a:pt x="98854" y="851805"/>
                  </a:lnTo>
                  <a:lnTo>
                    <a:pt x="73772" y="812912"/>
                  </a:lnTo>
                  <a:lnTo>
                    <a:pt x="52026" y="771830"/>
                  </a:lnTo>
                  <a:lnTo>
                    <a:pt x="33806" y="728750"/>
                  </a:lnTo>
                  <a:lnTo>
                    <a:pt x="19302" y="683861"/>
                  </a:lnTo>
                  <a:lnTo>
                    <a:pt x="8706" y="637356"/>
                  </a:lnTo>
                  <a:lnTo>
                    <a:pt x="2208" y="589424"/>
                  </a:lnTo>
                  <a:lnTo>
                    <a:pt x="0" y="540257"/>
                  </a:lnTo>
                  <a:close/>
                </a:path>
              </a:pathLst>
            </a:custGeom>
            <a:ln w="12192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446773" y="3182492"/>
            <a:ext cx="224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21701" y="3149600"/>
            <a:ext cx="429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 panose="020F0502020204030204"/>
                <a:cs typeface="Calibri" panose="020F0502020204030204"/>
              </a:rPr>
              <a:t>OUT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spc="-2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Sets</a:t>
            </a:r>
            <a:endParaRPr spc="-2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248867" y="3031363"/>
            <a:ext cx="7975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5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Why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6864" y="1342644"/>
            <a:ext cx="6826250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5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Sets</a:t>
            </a:r>
            <a:r>
              <a:rPr sz="18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can</a:t>
            </a:r>
            <a:r>
              <a:rPr sz="18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be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used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to</a:t>
            </a:r>
            <a:r>
              <a:rPr sz="18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compare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vs</a:t>
            </a:r>
            <a:r>
              <a:rPr sz="18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OUT</a:t>
            </a:r>
            <a:r>
              <a:rPr sz="18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performance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06239" y="4822952"/>
            <a:ext cx="635381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Example: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Compare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sum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sales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top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3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states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vs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all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other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states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–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Top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3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 states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 panose="020F0502020204030204"/>
                <a:cs typeface="Calibri" panose="020F0502020204030204"/>
              </a:rPr>
              <a:t>OUT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–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All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other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states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40452" y="2331720"/>
            <a:ext cx="4377055" cy="2034539"/>
            <a:chOff x="5140452" y="2331720"/>
            <a:chExt cx="4377055" cy="2034539"/>
          </a:xfrm>
        </p:grpSpPr>
        <p:sp>
          <p:nvSpPr>
            <p:cNvPr id="8" name="object 8"/>
            <p:cNvSpPr/>
            <p:nvPr/>
          </p:nvSpPr>
          <p:spPr>
            <a:xfrm>
              <a:off x="5146548" y="2337816"/>
              <a:ext cx="4364990" cy="2022475"/>
            </a:xfrm>
            <a:custGeom>
              <a:avLst/>
              <a:gdLst/>
              <a:ahLst/>
              <a:cxnLst/>
              <a:rect l="l" t="t" r="r" b="b"/>
              <a:pathLst>
                <a:path w="4364990" h="2022475">
                  <a:moveTo>
                    <a:pt x="4364736" y="0"/>
                  </a:moveTo>
                  <a:lnTo>
                    <a:pt x="0" y="0"/>
                  </a:lnTo>
                  <a:lnTo>
                    <a:pt x="0" y="2022348"/>
                  </a:lnTo>
                  <a:lnTo>
                    <a:pt x="4364736" y="2022348"/>
                  </a:lnTo>
                  <a:lnTo>
                    <a:pt x="4364736" y="0"/>
                  </a:lnTo>
                  <a:close/>
                </a:path>
              </a:pathLst>
            </a:custGeom>
            <a:solidFill>
              <a:srgbClr val="C7E2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146548" y="2337816"/>
              <a:ext cx="4364990" cy="2022475"/>
            </a:xfrm>
            <a:custGeom>
              <a:avLst/>
              <a:gdLst/>
              <a:ahLst/>
              <a:cxnLst/>
              <a:rect l="l" t="t" r="r" b="b"/>
              <a:pathLst>
                <a:path w="4364990" h="2022475">
                  <a:moveTo>
                    <a:pt x="0" y="2022348"/>
                  </a:moveTo>
                  <a:lnTo>
                    <a:pt x="4364736" y="2022348"/>
                  </a:lnTo>
                  <a:lnTo>
                    <a:pt x="4364736" y="0"/>
                  </a:lnTo>
                  <a:lnTo>
                    <a:pt x="0" y="0"/>
                  </a:lnTo>
                  <a:lnTo>
                    <a:pt x="0" y="2022348"/>
                  </a:lnTo>
                  <a:close/>
                </a:path>
              </a:pathLst>
            </a:custGeom>
            <a:ln w="12192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038088" y="2808732"/>
              <a:ext cx="1080770" cy="1080770"/>
            </a:xfrm>
            <a:custGeom>
              <a:avLst/>
              <a:gdLst/>
              <a:ahLst/>
              <a:cxnLst/>
              <a:rect l="l" t="t" r="r" b="b"/>
              <a:pathLst>
                <a:path w="1080770" h="1080770">
                  <a:moveTo>
                    <a:pt x="540258" y="0"/>
                  </a:moveTo>
                  <a:lnTo>
                    <a:pt x="491091" y="2208"/>
                  </a:lnTo>
                  <a:lnTo>
                    <a:pt x="443159" y="8706"/>
                  </a:lnTo>
                  <a:lnTo>
                    <a:pt x="396654" y="19302"/>
                  </a:lnTo>
                  <a:lnTo>
                    <a:pt x="351765" y="33806"/>
                  </a:lnTo>
                  <a:lnTo>
                    <a:pt x="308685" y="52026"/>
                  </a:lnTo>
                  <a:lnTo>
                    <a:pt x="267603" y="73772"/>
                  </a:lnTo>
                  <a:lnTo>
                    <a:pt x="228710" y="98854"/>
                  </a:lnTo>
                  <a:lnTo>
                    <a:pt x="192198" y="127079"/>
                  </a:lnTo>
                  <a:lnTo>
                    <a:pt x="158257" y="158257"/>
                  </a:lnTo>
                  <a:lnTo>
                    <a:pt x="127079" y="192198"/>
                  </a:lnTo>
                  <a:lnTo>
                    <a:pt x="98854" y="228710"/>
                  </a:lnTo>
                  <a:lnTo>
                    <a:pt x="73772" y="267603"/>
                  </a:lnTo>
                  <a:lnTo>
                    <a:pt x="52026" y="308685"/>
                  </a:lnTo>
                  <a:lnTo>
                    <a:pt x="33806" y="351765"/>
                  </a:lnTo>
                  <a:lnTo>
                    <a:pt x="19302" y="396654"/>
                  </a:lnTo>
                  <a:lnTo>
                    <a:pt x="8706" y="443159"/>
                  </a:lnTo>
                  <a:lnTo>
                    <a:pt x="2208" y="491091"/>
                  </a:lnTo>
                  <a:lnTo>
                    <a:pt x="0" y="540257"/>
                  </a:lnTo>
                  <a:lnTo>
                    <a:pt x="2208" y="589424"/>
                  </a:lnTo>
                  <a:lnTo>
                    <a:pt x="8706" y="637356"/>
                  </a:lnTo>
                  <a:lnTo>
                    <a:pt x="19302" y="683861"/>
                  </a:lnTo>
                  <a:lnTo>
                    <a:pt x="33806" y="728750"/>
                  </a:lnTo>
                  <a:lnTo>
                    <a:pt x="52026" y="771830"/>
                  </a:lnTo>
                  <a:lnTo>
                    <a:pt x="73772" y="812912"/>
                  </a:lnTo>
                  <a:lnTo>
                    <a:pt x="98854" y="851805"/>
                  </a:lnTo>
                  <a:lnTo>
                    <a:pt x="127079" y="888317"/>
                  </a:lnTo>
                  <a:lnTo>
                    <a:pt x="158257" y="922258"/>
                  </a:lnTo>
                  <a:lnTo>
                    <a:pt x="192198" y="953436"/>
                  </a:lnTo>
                  <a:lnTo>
                    <a:pt x="228710" y="981661"/>
                  </a:lnTo>
                  <a:lnTo>
                    <a:pt x="267603" y="1006743"/>
                  </a:lnTo>
                  <a:lnTo>
                    <a:pt x="308685" y="1028489"/>
                  </a:lnTo>
                  <a:lnTo>
                    <a:pt x="351765" y="1046709"/>
                  </a:lnTo>
                  <a:lnTo>
                    <a:pt x="396654" y="1061213"/>
                  </a:lnTo>
                  <a:lnTo>
                    <a:pt x="443159" y="1071809"/>
                  </a:lnTo>
                  <a:lnTo>
                    <a:pt x="491091" y="1078307"/>
                  </a:lnTo>
                  <a:lnTo>
                    <a:pt x="540258" y="1080515"/>
                  </a:lnTo>
                  <a:lnTo>
                    <a:pt x="589424" y="1078307"/>
                  </a:lnTo>
                  <a:lnTo>
                    <a:pt x="637356" y="1071809"/>
                  </a:lnTo>
                  <a:lnTo>
                    <a:pt x="683861" y="1061213"/>
                  </a:lnTo>
                  <a:lnTo>
                    <a:pt x="728750" y="1046709"/>
                  </a:lnTo>
                  <a:lnTo>
                    <a:pt x="771830" y="1028489"/>
                  </a:lnTo>
                  <a:lnTo>
                    <a:pt x="812912" y="1006743"/>
                  </a:lnTo>
                  <a:lnTo>
                    <a:pt x="851805" y="981661"/>
                  </a:lnTo>
                  <a:lnTo>
                    <a:pt x="888317" y="953436"/>
                  </a:lnTo>
                  <a:lnTo>
                    <a:pt x="922258" y="922258"/>
                  </a:lnTo>
                  <a:lnTo>
                    <a:pt x="953436" y="888317"/>
                  </a:lnTo>
                  <a:lnTo>
                    <a:pt x="981661" y="851805"/>
                  </a:lnTo>
                  <a:lnTo>
                    <a:pt x="1006743" y="812912"/>
                  </a:lnTo>
                  <a:lnTo>
                    <a:pt x="1028489" y="771830"/>
                  </a:lnTo>
                  <a:lnTo>
                    <a:pt x="1046709" y="728750"/>
                  </a:lnTo>
                  <a:lnTo>
                    <a:pt x="1061213" y="683861"/>
                  </a:lnTo>
                  <a:lnTo>
                    <a:pt x="1071809" y="637356"/>
                  </a:lnTo>
                  <a:lnTo>
                    <a:pt x="1078307" y="589424"/>
                  </a:lnTo>
                  <a:lnTo>
                    <a:pt x="1080515" y="540257"/>
                  </a:lnTo>
                  <a:lnTo>
                    <a:pt x="1078307" y="491091"/>
                  </a:lnTo>
                  <a:lnTo>
                    <a:pt x="1071809" y="443159"/>
                  </a:lnTo>
                  <a:lnTo>
                    <a:pt x="1061213" y="396654"/>
                  </a:lnTo>
                  <a:lnTo>
                    <a:pt x="1046709" y="351765"/>
                  </a:lnTo>
                  <a:lnTo>
                    <a:pt x="1028489" y="308685"/>
                  </a:lnTo>
                  <a:lnTo>
                    <a:pt x="1006743" y="267603"/>
                  </a:lnTo>
                  <a:lnTo>
                    <a:pt x="981661" y="228710"/>
                  </a:lnTo>
                  <a:lnTo>
                    <a:pt x="953436" y="192198"/>
                  </a:lnTo>
                  <a:lnTo>
                    <a:pt x="922258" y="158257"/>
                  </a:lnTo>
                  <a:lnTo>
                    <a:pt x="888317" y="127079"/>
                  </a:lnTo>
                  <a:lnTo>
                    <a:pt x="851805" y="98854"/>
                  </a:lnTo>
                  <a:lnTo>
                    <a:pt x="812912" y="73772"/>
                  </a:lnTo>
                  <a:lnTo>
                    <a:pt x="771830" y="52026"/>
                  </a:lnTo>
                  <a:lnTo>
                    <a:pt x="728750" y="33806"/>
                  </a:lnTo>
                  <a:lnTo>
                    <a:pt x="683861" y="19302"/>
                  </a:lnTo>
                  <a:lnTo>
                    <a:pt x="637356" y="8706"/>
                  </a:lnTo>
                  <a:lnTo>
                    <a:pt x="589424" y="2208"/>
                  </a:lnTo>
                  <a:lnTo>
                    <a:pt x="540258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038088" y="2808732"/>
              <a:ext cx="1080770" cy="1080770"/>
            </a:xfrm>
            <a:custGeom>
              <a:avLst/>
              <a:gdLst/>
              <a:ahLst/>
              <a:cxnLst/>
              <a:rect l="l" t="t" r="r" b="b"/>
              <a:pathLst>
                <a:path w="1080770" h="1080770">
                  <a:moveTo>
                    <a:pt x="0" y="540257"/>
                  </a:moveTo>
                  <a:lnTo>
                    <a:pt x="2208" y="491091"/>
                  </a:lnTo>
                  <a:lnTo>
                    <a:pt x="8706" y="443159"/>
                  </a:lnTo>
                  <a:lnTo>
                    <a:pt x="19302" y="396654"/>
                  </a:lnTo>
                  <a:lnTo>
                    <a:pt x="33806" y="351765"/>
                  </a:lnTo>
                  <a:lnTo>
                    <a:pt x="52026" y="308685"/>
                  </a:lnTo>
                  <a:lnTo>
                    <a:pt x="73772" y="267603"/>
                  </a:lnTo>
                  <a:lnTo>
                    <a:pt x="98854" y="228710"/>
                  </a:lnTo>
                  <a:lnTo>
                    <a:pt x="127079" y="192198"/>
                  </a:lnTo>
                  <a:lnTo>
                    <a:pt x="158257" y="158257"/>
                  </a:lnTo>
                  <a:lnTo>
                    <a:pt x="192198" y="127079"/>
                  </a:lnTo>
                  <a:lnTo>
                    <a:pt x="228710" y="98854"/>
                  </a:lnTo>
                  <a:lnTo>
                    <a:pt x="267603" y="73772"/>
                  </a:lnTo>
                  <a:lnTo>
                    <a:pt x="308685" y="52026"/>
                  </a:lnTo>
                  <a:lnTo>
                    <a:pt x="351765" y="33806"/>
                  </a:lnTo>
                  <a:lnTo>
                    <a:pt x="396654" y="19302"/>
                  </a:lnTo>
                  <a:lnTo>
                    <a:pt x="443159" y="8706"/>
                  </a:lnTo>
                  <a:lnTo>
                    <a:pt x="491091" y="2208"/>
                  </a:lnTo>
                  <a:lnTo>
                    <a:pt x="540258" y="0"/>
                  </a:lnTo>
                  <a:lnTo>
                    <a:pt x="589424" y="2208"/>
                  </a:lnTo>
                  <a:lnTo>
                    <a:pt x="637356" y="8706"/>
                  </a:lnTo>
                  <a:lnTo>
                    <a:pt x="683861" y="19302"/>
                  </a:lnTo>
                  <a:lnTo>
                    <a:pt x="728750" y="33806"/>
                  </a:lnTo>
                  <a:lnTo>
                    <a:pt x="771830" y="52026"/>
                  </a:lnTo>
                  <a:lnTo>
                    <a:pt x="812912" y="73772"/>
                  </a:lnTo>
                  <a:lnTo>
                    <a:pt x="851805" y="98854"/>
                  </a:lnTo>
                  <a:lnTo>
                    <a:pt x="888317" y="127079"/>
                  </a:lnTo>
                  <a:lnTo>
                    <a:pt x="922258" y="158257"/>
                  </a:lnTo>
                  <a:lnTo>
                    <a:pt x="953436" y="192198"/>
                  </a:lnTo>
                  <a:lnTo>
                    <a:pt x="981661" y="228710"/>
                  </a:lnTo>
                  <a:lnTo>
                    <a:pt x="1006743" y="267603"/>
                  </a:lnTo>
                  <a:lnTo>
                    <a:pt x="1028489" y="308685"/>
                  </a:lnTo>
                  <a:lnTo>
                    <a:pt x="1046709" y="351765"/>
                  </a:lnTo>
                  <a:lnTo>
                    <a:pt x="1061213" y="396654"/>
                  </a:lnTo>
                  <a:lnTo>
                    <a:pt x="1071809" y="443159"/>
                  </a:lnTo>
                  <a:lnTo>
                    <a:pt x="1078307" y="491091"/>
                  </a:lnTo>
                  <a:lnTo>
                    <a:pt x="1080515" y="540257"/>
                  </a:lnTo>
                  <a:lnTo>
                    <a:pt x="1078307" y="589424"/>
                  </a:lnTo>
                  <a:lnTo>
                    <a:pt x="1071809" y="637356"/>
                  </a:lnTo>
                  <a:lnTo>
                    <a:pt x="1061213" y="683861"/>
                  </a:lnTo>
                  <a:lnTo>
                    <a:pt x="1046709" y="728750"/>
                  </a:lnTo>
                  <a:lnTo>
                    <a:pt x="1028489" y="771830"/>
                  </a:lnTo>
                  <a:lnTo>
                    <a:pt x="1006743" y="812912"/>
                  </a:lnTo>
                  <a:lnTo>
                    <a:pt x="981661" y="851805"/>
                  </a:lnTo>
                  <a:lnTo>
                    <a:pt x="953436" y="888317"/>
                  </a:lnTo>
                  <a:lnTo>
                    <a:pt x="922258" y="922258"/>
                  </a:lnTo>
                  <a:lnTo>
                    <a:pt x="888317" y="953436"/>
                  </a:lnTo>
                  <a:lnTo>
                    <a:pt x="851805" y="981661"/>
                  </a:lnTo>
                  <a:lnTo>
                    <a:pt x="812912" y="1006743"/>
                  </a:lnTo>
                  <a:lnTo>
                    <a:pt x="771830" y="1028489"/>
                  </a:lnTo>
                  <a:lnTo>
                    <a:pt x="728750" y="1046709"/>
                  </a:lnTo>
                  <a:lnTo>
                    <a:pt x="683861" y="1061213"/>
                  </a:lnTo>
                  <a:lnTo>
                    <a:pt x="637356" y="1071809"/>
                  </a:lnTo>
                  <a:lnTo>
                    <a:pt x="589424" y="1078307"/>
                  </a:lnTo>
                  <a:lnTo>
                    <a:pt x="540258" y="1080515"/>
                  </a:lnTo>
                  <a:lnTo>
                    <a:pt x="491091" y="1078307"/>
                  </a:lnTo>
                  <a:lnTo>
                    <a:pt x="443159" y="1071809"/>
                  </a:lnTo>
                  <a:lnTo>
                    <a:pt x="396654" y="1061213"/>
                  </a:lnTo>
                  <a:lnTo>
                    <a:pt x="351765" y="1046709"/>
                  </a:lnTo>
                  <a:lnTo>
                    <a:pt x="308685" y="1028489"/>
                  </a:lnTo>
                  <a:lnTo>
                    <a:pt x="267603" y="1006743"/>
                  </a:lnTo>
                  <a:lnTo>
                    <a:pt x="228710" y="981661"/>
                  </a:lnTo>
                  <a:lnTo>
                    <a:pt x="192198" y="953436"/>
                  </a:lnTo>
                  <a:lnTo>
                    <a:pt x="158257" y="922258"/>
                  </a:lnTo>
                  <a:lnTo>
                    <a:pt x="127079" y="888317"/>
                  </a:lnTo>
                  <a:lnTo>
                    <a:pt x="98854" y="851805"/>
                  </a:lnTo>
                  <a:lnTo>
                    <a:pt x="73772" y="812912"/>
                  </a:lnTo>
                  <a:lnTo>
                    <a:pt x="52026" y="771830"/>
                  </a:lnTo>
                  <a:lnTo>
                    <a:pt x="33806" y="728750"/>
                  </a:lnTo>
                  <a:lnTo>
                    <a:pt x="19302" y="683861"/>
                  </a:lnTo>
                  <a:lnTo>
                    <a:pt x="8706" y="637356"/>
                  </a:lnTo>
                  <a:lnTo>
                    <a:pt x="2208" y="589424"/>
                  </a:lnTo>
                  <a:lnTo>
                    <a:pt x="0" y="540257"/>
                  </a:lnTo>
                  <a:close/>
                </a:path>
              </a:pathLst>
            </a:custGeom>
            <a:ln w="12192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446773" y="3182492"/>
            <a:ext cx="224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21701" y="3149600"/>
            <a:ext cx="429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 panose="020F0502020204030204"/>
                <a:cs typeface="Calibri" panose="020F0502020204030204"/>
              </a:rPr>
              <a:t>OUT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spc="-2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Sets</a:t>
            </a:r>
            <a:endParaRPr spc="-2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248867" y="3031363"/>
            <a:ext cx="7975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5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Why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6864" y="1342644"/>
            <a:ext cx="6826250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5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Sets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can</a:t>
            </a:r>
            <a:r>
              <a:rPr sz="18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be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used</a:t>
            </a:r>
            <a:r>
              <a:rPr sz="18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combine</a:t>
            </a:r>
            <a:r>
              <a:rPr sz="18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sets</a:t>
            </a:r>
            <a:r>
              <a:rPr sz="18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as</a:t>
            </a:r>
            <a:r>
              <a:rPr sz="18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per</a:t>
            </a:r>
            <a:r>
              <a:rPr sz="18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set</a:t>
            </a:r>
            <a:r>
              <a:rPr sz="18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theory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728715" y="2331720"/>
            <a:ext cx="3907790" cy="2473325"/>
            <a:chOff x="5728715" y="2331720"/>
            <a:chExt cx="3907790" cy="2473325"/>
          </a:xfrm>
        </p:grpSpPr>
        <p:sp>
          <p:nvSpPr>
            <p:cNvPr id="7" name="object 7"/>
            <p:cNvSpPr/>
            <p:nvPr/>
          </p:nvSpPr>
          <p:spPr>
            <a:xfrm>
              <a:off x="5882639" y="2337816"/>
              <a:ext cx="3347085" cy="2022475"/>
            </a:xfrm>
            <a:custGeom>
              <a:avLst/>
              <a:gdLst/>
              <a:ahLst/>
              <a:cxnLst/>
              <a:rect l="l" t="t" r="r" b="b"/>
              <a:pathLst>
                <a:path w="3347084" h="2022475">
                  <a:moveTo>
                    <a:pt x="3346704" y="0"/>
                  </a:moveTo>
                  <a:lnTo>
                    <a:pt x="0" y="0"/>
                  </a:lnTo>
                  <a:lnTo>
                    <a:pt x="0" y="2022348"/>
                  </a:lnTo>
                  <a:lnTo>
                    <a:pt x="3346704" y="2022348"/>
                  </a:lnTo>
                  <a:lnTo>
                    <a:pt x="3346704" y="0"/>
                  </a:lnTo>
                  <a:close/>
                </a:path>
              </a:pathLst>
            </a:custGeom>
            <a:solidFill>
              <a:srgbClr val="C7E2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882639" y="2337816"/>
              <a:ext cx="3347085" cy="2022475"/>
            </a:xfrm>
            <a:custGeom>
              <a:avLst/>
              <a:gdLst/>
              <a:ahLst/>
              <a:cxnLst/>
              <a:rect l="l" t="t" r="r" b="b"/>
              <a:pathLst>
                <a:path w="3347084" h="2022475">
                  <a:moveTo>
                    <a:pt x="0" y="2022348"/>
                  </a:moveTo>
                  <a:lnTo>
                    <a:pt x="3346704" y="2022348"/>
                  </a:lnTo>
                  <a:lnTo>
                    <a:pt x="3346704" y="0"/>
                  </a:lnTo>
                  <a:lnTo>
                    <a:pt x="0" y="0"/>
                  </a:lnTo>
                  <a:lnTo>
                    <a:pt x="0" y="2022348"/>
                  </a:lnTo>
                  <a:close/>
                </a:path>
              </a:pathLst>
            </a:custGeom>
            <a:ln w="12192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321551" y="2601468"/>
              <a:ext cx="1304925" cy="1287780"/>
            </a:xfrm>
            <a:custGeom>
              <a:avLst/>
              <a:gdLst/>
              <a:ahLst/>
              <a:cxnLst/>
              <a:rect l="l" t="t" r="r" b="b"/>
              <a:pathLst>
                <a:path w="1304925" h="1287779">
                  <a:moveTo>
                    <a:pt x="652272" y="0"/>
                  </a:moveTo>
                  <a:lnTo>
                    <a:pt x="603584" y="1766"/>
                  </a:lnTo>
                  <a:lnTo>
                    <a:pt x="555870" y="6981"/>
                  </a:lnTo>
                  <a:lnTo>
                    <a:pt x="509255" y="15521"/>
                  </a:lnTo>
                  <a:lnTo>
                    <a:pt x="463865" y="27262"/>
                  </a:lnTo>
                  <a:lnTo>
                    <a:pt x="419826" y="42078"/>
                  </a:lnTo>
                  <a:lnTo>
                    <a:pt x="377264" y="59846"/>
                  </a:lnTo>
                  <a:lnTo>
                    <a:pt x="336306" y="80440"/>
                  </a:lnTo>
                  <a:lnTo>
                    <a:pt x="297076" y="103737"/>
                  </a:lnTo>
                  <a:lnTo>
                    <a:pt x="259702" y="129611"/>
                  </a:lnTo>
                  <a:lnTo>
                    <a:pt x="224309" y="157938"/>
                  </a:lnTo>
                  <a:lnTo>
                    <a:pt x="191023" y="188595"/>
                  </a:lnTo>
                  <a:lnTo>
                    <a:pt x="159971" y="221455"/>
                  </a:lnTo>
                  <a:lnTo>
                    <a:pt x="131278" y="256394"/>
                  </a:lnTo>
                  <a:lnTo>
                    <a:pt x="105070" y="293289"/>
                  </a:lnTo>
                  <a:lnTo>
                    <a:pt x="81473" y="332015"/>
                  </a:lnTo>
                  <a:lnTo>
                    <a:pt x="60614" y="372446"/>
                  </a:lnTo>
                  <a:lnTo>
                    <a:pt x="42618" y="414459"/>
                  </a:lnTo>
                  <a:lnTo>
                    <a:pt x="27611" y="457929"/>
                  </a:lnTo>
                  <a:lnTo>
                    <a:pt x="15720" y="502732"/>
                  </a:lnTo>
                  <a:lnTo>
                    <a:pt x="7070" y="548743"/>
                  </a:lnTo>
                  <a:lnTo>
                    <a:pt x="1788" y="595837"/>
                  </a:lnTo>
                  <a:lnTo>
                    <a:pt x="0" y="643890"/>
                  </a:lnTo>
                  <a:lnTo>
                    <a:pt x="1788" y="691942"/>
                  </a:lnTo>
                  <a:lnTo>
                    <a:pt x="7070" y="739036"/>
                  </a:lnTo>
                  <a:lnTo>
                    <a:pt x="15720" y="785047"/>
                  </a:lnTo>
                  <a:lnTo>
                    <a:pt x="27611" y="829850"/>
                  </a:lnTo>
                  <a:lnTo>
                    <a:pt x="42618" y="873320"/>
                  </a:lnTo>
                  <a:lnTo>
                    <a:pt x="60614" y="915333"/>
                  </a:lnTo>
                  <a:lnTo>
                    <a:pt x="81473" y="955764"/>
                  </a:lnTo>
                  <a:lnTo>
                    <a:pt x="105070" y="994490"/>
                  </a:lnTo>
                  <a:lnTo>
                    <a:pt x="131278" y="1031385"/>
                  </a:lnTo>
                  <a:lnTo>
                    <a:pt x="159971" y="1066324"/>
                  </a:lnTo>
                  <a:lnTo>
                    <a:pt x="191023" y="1099185"/>
                  </a:lnTo>
                  <a:lnTo>
                    <a:pt x="224309" y="1129841"/>
                  </a:lnTo>
                  <a:lnTo>
                    <a:pt x="259702" y="1158168"/>
                  </a:lnTo>
                  <a:lnTo>
                    <a:pt x="297076" y="1184042"/>
                  </a:lnTo>
                  <a:lnTo>
                    <a:pt x="336306" y="1207339"/>
                  </a:lnTo>
                  <a:lnTo>
                    <a:pt x="377264" y="1227933"/>
                  </a:lnTo>
                  <a:lnTo>
                    <a:pt x="419826" y="1245701"/>
                  </a:lnTo>
                  <a:lnTo>
                    <a:pt x="463865" y="1260517"/>
                  </a:lnTo>
                  <a:lnTo>
                    <a:pt x="509255" y="1272258"/>
                  </a:lnTo>
                  <a:lnTo>
                    <a:pt x="555870" y="1280798"/>
                  </a:lnTo>
                  <a:lnTo>
                    <a:pt x="603584" y="1286013"/>
                  </a:lnTo>
                  <a:lnTo>
                    <a:pt x="652272" y="1287780"/>
                  </a:lnTo>
                  <a:lnTo>
                    <a:pt x="700959" y="1286013"/>
                  </a:lnTo>
                  <a:lnTo>
                    <a:pt x="748673" y="1280798"/>
                  </a:lnTo>
                  <a:lnTo>
                    <a:pt x="795288" y="1272258"/>
                  </a:lnTo>
                  <a:lnTo>
                    <a:pt x="840678" y="1260517"/>
                  </a:lnTo>
                  <a:lnTo>
                    <a:pt x="884717" y="1245701"/>
                  </a:lnTo>
                  <a:lnTo>
                    <a:pt x="927279" y="1227933"/>
                  </a:lnTo>
                  <a:lnTo>
                    <a:pt x="968237" y="1207339"/>
                  </a:lnTo>
                  <a:lnTo>
                    <a:pt x="1007467" y="1184042"/>
                  </a:lnTo>
                  <a:lnTo>
                    <a:pt x="1044841" y="1158168"/>
                  </a:lnTo>
                  <a:lnTo>
                    <a:pt x="1080234" y="1129841"/>
                  </a:lnTo>
                  <a:lnTo>
                    <a:pt x="1113520" y="1099185"/>
                  </a:lnTo>
                  <a:lnTo>
                    <a:pt x="1144572" y="1066324"/>
                  </a:lnTo>
                  <a:lnTo>
                    <a:pt x="1173265" y="1031385"/>
                  </a:lnTo>
                  <a:lnTo>
                    <a:pt x="1199473" y="994490"/>
                  </a:lnTo>
                  <a:lnTo>
                    <a:pt x="1223070" y="955764"/>
                  </a:lnTo>
                  <a:lnTo>
                    <a:pt x="1243929" y="915333"/>
                  </a:lnTo>
                  <a:lnTo>
                    <a:pt x="1261925" y="873320"/>
                  </a:lnTo>
                  <a:lnTo>
                    <a:pt x="1276932" y="829850"/>
                  </a:lnTo>
                  <a:lnTo>
                    <a:pt x="1288823" y="785047"/>
                  </a:lnTo>
                  <a:lnTo>
                    <a:pt x="1297473" y="739036"/>
                  </a:lnTo>
                  <a:lnTo>
                    <a:pt x="1302755" y="691942"/>
                  </a:lnTo>
                  <a:lnTo>
                    <a:pt x="1304544" y="643890"/>
                  </a:lnTo>
                  <a:lnTo>
                    <a:pt x="1302755" y="595837"/>
                  </a:lnTo>
                  <a:lnTo>
                    <a:pt x="1297473" y="548743"/>
                  </a:lnTo>
                  <a:lnTo>
                    <a:pt x="1288823" y="502732"/>
                  </a:lnTo>
                  <a:lnTo>
                    <a:pt x="1276932" y="457929"/>
                  </a:lnTo>
                  <a:lnTo>
                    <a:pt x="1261925" y="414459"/>
                  </a:lnTo>
                  <a:lnTo>
                    <a:pt x="1243929" y="372446"/>
                  </a:lnTo>
                  <a:lnTo>
                    <a:pt x="1223070" y="332015"/>
                  </a:lnTo>
                  <a:lnTo>
                    <a:pt x="1199473" y="293289"/>
                  </a:lnTo>
                  <a:lnTo>
                    <a:pt x="1173265" y="256394"/>
                  </a:lnTo>
                  <a:lnTo>
                    <a:pt x="1144572" y="221455"/>
                  </a:lnTo>
                  <a:lnTo>
                    <a:pt x="1113520" y="188595"/>
                  </a:lnTo>
                  <a:lnTo>
                    <a:pt x="1080234" y="157938"/>
                  </a:lnTo>
                  <a:lnTo>
                    <a:pt x="1044841" y="129611"/>
                  </a:lnTo>
                  <a:lnTo>
                    <a:pt x="1007467" y="103737"/>
                  </a:lnTo>
                  <a:lnTo>
                    <a:pt x="968237" y="80440"/>
                  </a:lnTo>
                  <a:lnTo>
                    <a:pt x="927279" y="59846"/>
                  </a:lnTo>
                  <a:lnTo>
                    <a:pt x="884717" y="42078"/>
                  </a:lnTo>
                  <a:lnTo>
                    <a:pt x="840678" y="27262"/>
                  </a:lnTo>
                  <a:lnTo>
                    <a:pt x="795288" y="15521"/>
                  </a:lnTo>
                  <a:lnTo>
                    <a:pt x="748673" y="6981"/>
                  </a:lnTo>
                  <a:lnTo>
                    <a:pt x="700959" y="1766"/>
                  </a:lnTo>
                  <a:lnTo>
                    <a:pt x="652272" y="0"/>
                  </a:lnTo>
                  <a:close/>
                </a:path>
              </a:pathLst>
            </a:custGeom>
            <a:solidFill>
              <a:srgbClr val="0E6EC5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321551" y="2601468"/>
              <a:ext cx="1304925" cy="1287780"/>
            </a:xfrm>
            <a:custGeom>
              <a:avLst/>
              <a:gdLst/>
              <a:ahLst/>
              <a:cxnLst/>
              <a:rect l="l" t="t" r="r" b="b"/>
              <a:pathLst>
                <a:path w="1304925" h="1287779">
                  <a:moveTo>
                    <a:pt x="0" y="643890"/>
                  </a:moveTo>
                  <a:lnTo>
                    <a:pt x="1788" y="595837"/>
                  </a:lnTo>
                  <a:lnTo>
                    <a:pt x="7070" y="548743"/>
                  </a:lnTo>
                  <a:lnTo>
                    <a:pt x="15720" y="502732"/>
                  </a:lnTo>
                  <a:lnTo>
                    <a:pt x="27611" y="457929"/>
                  </a:lnTo>
                  <a:lnTo>
                    <a:pt x="42618" y="414459"/>
                  </a:lnTo>
                  <a:lnTo>
                    <a:pt x="60614" y="372446"/>
                  </a:lnTo>
                  <a:lnTo>
                    <a:pt x="81473" y="332015"/>
                  </a:lnTo>
                  <a:lnTo>
                    <a:pt x="105070" y="293289"/>
                  </a:lnTo>
                  <a:lnTo>
                    <a:pt x="131278" y="256394"/>
                  </a:lnTo>
                  <a:lnTo>
                    <a:pt x="159971" y="221455"/>
                  </a:lnTo>
                  <a:lnTo>
                    <a:pt x="191023" y="188595"/>
                  </a:lnTo>
                  <a:lnTo>
                    <a:pt x="224309" y="157938"/>
                  </a:lnTo>
                  <a:lnTo>
                    <a:pt x="259702" y="129611"/>
                  </a:lnTo>
                  <a:lnTo>
                    <a:pt x="297076" y="103737"/>
                  </a:lnTo>
                  <a:lnTo>
                    <a:pt x="336306" y="80440"/>
                  </a:lnTo>
                  <a:lnTo>
                    <a:pt x="377264" y="59846"/>
                  </a:lnTo>
                  <a:lnTo>
                    <a:pt x="419826" y="42078"/>
                  </a:lnTo>
                  <a:lnTo>
                    <a:pt x="463865" y="27262"/>
                  </a:lnTo>
                  <a:lnTo>
                    <a:pt x="509255" y="15521"/>
                  </a:lnTo>
                  <a:lnTo>
                    <a:pt x="555870" y="6981"/>
                  </a:lnTo>
                  <a:lnTo>
                    <a:pt x="603584" y="1766"/>
                  </a:lnTo>
                  <a:lnTo>
                    <a:pt x="652272" y="0"/>
                  </a:lnTo>
                  <a:lnTo>
                    <a:pt x="700959" y="1766"/>
                  </a:lnTo>
                  <a:lnTo>
                    <a:pt x="748673" y="6981"/>
                  </a:lnTo>
                  <a:lnTo>
                    <a:pt x="795288" y="15521"/>
                  </a:lnTo>
                  <a:lnTo>
                    <a:pt x="840678" y="27262"/>
                  </a:lnTo>
                  <a:lnTo>
                    <a:pt x="884717" y="42078"/>
                  </a:lnTo>
                  <a:lnTo>
                    <a:pt x="927279" y="59846"/>
                  </a:lnTo>
                  <a:lnTo>
                    <a:pt x="968237" y="80440"/>
                  </a:lnTo>
                  <a:lnTo>
                    <a:pt x="1007467" y="103737"/>
                  </a:lnTo>
                  <a:lnTo>
                    <a:pt x="1044841" y="129611"/>
                  </a:lnTo>
                  <a:lnTo>
                    <a:pt x="1080234" y="157938"/>
                  </a:lnTo>
                  <a:lnTo>
                    <a:pt x="1113520" y="188595"/>
                  </a:lnTo>
                  <a:lnTo>
                    <a:pt x="1144572" y="221455"/>
                  </a:lnTo>
                  <a:lnTo>
                    <a:pt x="1173265" y="256394"/>
                  </a:lnTo>
                  <a:lnTo>
                    <a:pt x="1199473" y="293289"/>
                  </a:lnTo>
                  <a:lnTo>
                    <a:pt x="1223070" y="332015"/>
                  </a:lnTo>
                  <a:lnTo>
                    <a:pt x="1243929" y="372446"/>
                  </a:lnTo>
                  <a:lnTo>
                    <a:pt x="1261925" y="414459"/>
                  </a:lnTo>
                  <a:lnTo>
                    <a:pt x="1276932" y="457929"/>
                  </a:lnTo>
                  <a:lnTo>
                    <a:pt x="1288823" y="502732"/>
                  </a:lnTo>
                  <a:lnTo>
                    <a:pt x="1297473" y="548743"/>
                  </a:lnTo>
                  <a:lnTo>
                    <a:pt x="1302755" y="595837"/>
                  </a:lnTo>
                  <a:lnTo>
                    <a:pt x="1304544" y="643890"/>
                  </a:lnTo>
                  <a:lnTo>
                    <a:pt x="1302755" y="691942"/>
                  </a:lnTo>
                  <a:lnTo>
                    <a:pt x="1297473" y="739036"/>
                  </a:lnTo>
                  <a:lnTo>
                    <a:pt x="1288823" y="785047"/>
                  </a:lnTo>
                  <a:lnTo>
                    <a:pt x="1276932" y="829850"/>
                  </a:lnTo>
                  <a:lnTo>
                    <a:pt x="1261925" y="873320"/>
                  </a:lnTo>
                  <a:lnTo>
                    <a:pt x="1243929" y="915333"/>
                  </a:lnTo>
                  <a:lnTo>
                    <a:pt x="1223070" y="955764"/>
                  </a:lnTo>
                  <a:lnTo>
                    <a:pt x="1199473" y="994490"/>
                  </a:lnTo>
                  <a:lnTo>
                    <a:pt x="1173265" y="1031385"/>
                  </a:lnTo>
                  <a:lnTo>
                    <a:pt x="1144572" y="1066324"/>
                  </a:lnTo>
                  <a:lnTo>
                    <a:pt x="1113520" y="1099185"/>
                  </a:lnTo>
                  <a:lnTo>
                    <a:pt x="1080234" y="1129841"/>
                  </a:lnTo>
                  <a:lnTo>
                    <a:pt x="1044841" y="1158168"/>
                  </a:lnTo>
                  <a:lnTo>
                    <a:pt x="1007467" y="1184042"/>
                  </a:lnTo>
                  <a:lnTo>
                    <a:pt x="968237" y="1207339"/>
                  </a:lnTo>
                  <a:lnTo>
                    <a:pt x="927279" y="1227933"/>
                  </a:lnTo>
                  <a:lnTo>
                    <a:pt x="884717" y="1245701"/>
                  </a:lnTo>
                  <a:lnTo>
                    <a:pt x="840678" y="1260517"/>
                  </a:lnTo>
                  <a:lnTo>
                    <a:pt x="795288" y="1272258"/>
                  </a:lnTo>
                  <a:lnTo>
                    <a:pt x="748673" y="1280798"/>
                  </a:lnTo>
                  <a:lnTo>
                    <a:pt x="700959" y="1286013"/>
                  </a:lnTo>
                  <a:lnTo>
                    <a:pt x="652272" y="1287780"/>
                  </a:lnTo>
                  <a:lnTo>
                    <a:pt x="603584" y="1286013"/>
                  </a:lnTo>
                  <a:lnTo>
                    <a:pt x="555870" y="1280798"/>
                  </a:lnTo>
                  <a:lnTo>
                    <a:pt x="509255" y="1272258"/>
                  </a:lnTo>
                  <a:lnTo>
                    <a:pt x="463865" y="1260517"/>
                  </a:lnTo>
                  <a:lnTo>
                    <a:pt x="419826" y="1245701"/>
                  </a:lnTo>
                  <a:lnTo>
                    <a:pt x="377264" y="1227933"/>
                  </a:lnTo>
                  <a:lnTo>
                    <a:pt x="336306" y="1207339"/>
                  </a:lnTo>
                  <a:lnTo>
                    <a:pt x="297076" y="1184042"/>
                  </a:lnTo>
                  <a:lnTo>
                    <a:pt x="259702" y="1158168"/>
                  </a:lnTo>
                  <a:lnTo>
                    <a:pt x="224309" y="1129841"/>
                  </a:lnTo>
                  <a:lnTo>
                    <a:pt x="191023" y="1099185"/>
                  </a:lnTo>
                  <a:lnTo>
                    <a:pt x="159971" y="1066324"/>
                  </a:lnTo>
                  <a:lnTo>
                    <a:pt x="131278" y="1031385"/>
                  </a:lnTo>
                  <a:lnTo>
                    <a:pt x="105070" y="994490"/>
                  </a:lnTo>
                  <a:lnTo>
                    <a:pt x="81473" y="955764"/>
                  </a:lnTo>
                  <a:lnTo>
                    <a:pt x="60614" y="915333"/>
                  </a:lnTo>
                  <a:lnTo>
                    <a:pt x="42618" y="873320"/>
                  </a:lnTo>
                  <a:lnTo>
                    <a:pt x="27611" y="829850"/>
                  </a:lnTo>
                  <a:lnTo>
                    <a:pt x="15720" y="785047"/>
                  </a:lnTo>
                  <a:lnTo>
                    <a:pt x="7070" y="739036"/>
                  </a:lnTo>
                  <a:lnTo>
                    <a:pt x="1788" y="691942"/>
                  </a:lnTo>
                  <a:lnTo>
                    <a:pt x="0" y="643890"/>
                  </a:lnTo>
                  <a:close/>
                </a:path>
              </a:pathLst>
            </a:custGeom>
            <a:ln w="12192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289291" y="2598420"/>
              <a:ext cx="1304925" cy="1287780"/>
            </a:xfrm>
            <a:custGeom>
              <a:avLst/>
              <a:gdLst/>
              <a:ahLst/>
              <a:cxnLst/>
              <a:rect l="l" t="t" r="r" b="b"/>
              <a:pathLst>
                <a:path w="1304925" h="1287779">
                  <a:moveTo>
                    <a:pt x="652272" y="0"/>
                  </a:moveTo>
                  <a:lnTo>
                    <a:pt x="603584" y="1766"/>
                  </a:lnTo>
                  <a:lnTo>
                    <a:pt x="555870" y="6981"/>
                  </a:lnTo>
                  <a:lnTo>
                    <a:pt x="509255" y="15521"/>
                  </a:lnTo>
                  <a:lnTo>
                    <a:pt x="463865" y="27262"/>
                  </a:lnTo>
                  <a:lnTo>
                    <a:pt x="419826" y="42078"/>
                  </a:lnTo>
                  <a:lnTo>
                    <a:pt x="377264" y="59846"/>
                  </a:lnTo>
                  <a:lnTo>
                    <a:pt x="336306" y="80440"/>
                  </a:lnTo>
                  <a:lnTo>
                    <a:pt x="297076" y="103737"/>
                  </a:lnTo>
                  <a:lnTo>
                    <a:pt x="259702" y="129611"/>
                  </a:lnTo>
                  <a:lnTo>
                    <a:pt x="224309" y="157938"/>
                  </a:lnTo>
                  <a:lnTo>
                    <a:pt x="191023" y="188595"/>
                  </a:lnTo>
                  <a:lnTo>
                    <a:pt x="159971" y="221455"/>
                  </a:lnTo>
                  <a:lnTo>
                    <a:pt x="131278" y="256394"/>
                  </a:lnTo>
                  <a:lnTo>
                    <a:pt x="105070" y="293289"/>
                  </a:lnTo>
                  <a:lnTo>
                    <a:pt x="81473" y="332015"/>
                  </a:lnTo>
                  <a:lnTo>
                    <a:pt x="60614" y="372446"/>
                  </a:lnTo>
                  <a:lnTo>
                    <a:pt x="42618" y="414459"/>
                  </a:lnTo>
                  <a:lnTo>
                    <a:pt x="27611" y="457929"/>
                  </a:lnTo>
                  <a:lnTo>
                    <a:pt x="15720" y="502732"/>
                  </a:lnTo>
                  <a:lnTo>
                    <a:pt x="7070" y="548743"/>
                  </a:lnTo>
                  <a:lnTo>
                    <a:pt x="1788" y="595837"/>
                  </a:lnTo>
                  <a:lnTo>
                    <a:pt x="0" y="643889"/>
                  </a:lnTo>
                  <a:lnTo>
                    <a:pt x="1788" y="691942"/>
                  </a:lnTo>
                  <a:lnTo>
                    <a:pt x="7070" y="739036"/>
                  </a:lnTo>
                  <a:lnTo>
                    <a:pt x="15720" y="785047"/>
                  </a:lnTo>
                  <a:lnTo>
                    <a:pt x="27611" y="829850"/>
                  </a:lnTo>
                  <a:lnTo>
                    <a:pt x="42618" y="873320"/>
                  </a:lnTo>
                  <a:lnTo>
                    <a:pt x="60614" y="915333"/>
                  </a:lnTo>
                  <a:lnTo>
                    <a:pt x="81473" y="955764"/>
                  </a:lnTo>
                  <a:lnTo>
                    <a:pt x="105070" y="994490"/>
                  </a:lnTo>
                  <a:lnTo>
                    <a:pt x="131278" y="1031385"/>
                  </a:lnTo>
                  <a:lnTo>
                    <a:pt x="159971" y="1066324"/>
                  </a:lnTo>
                  <a:lnTo>
                    <a:pt x="191023" y="1099184"/>
                  </a:lnTo>
                  <a:lnTo>
                    <a:pt x="224309" y="1129841"/>
                  </a:lnTo>
                  <a:lnTo>
                    <a:pt x="259702" y="1158168"/>
                  </a:lnTo>
                  <a:lnTo>
                    <a:pt x="297076" y="1184042"/>
                  </a:lnTo>
                  <a:lnTo>
                    <a:pt x="336306" y="1207339"/>
                  </a:lnTo>
                  <a:lnTo>
                    <a:pt x="377264" y="1227933"/>
                  </a:lnTo>
                  <a:lnTo>
                    <a:pt x="419826" y="1245701"/>
                  </a:lnTo>
                  <a:lnTo>
                    <a:pt x="463865" y="1260517"/>
                  </a:lnTo>
                  <a:lnTo>
                    <a:pt x="509255" y="1272258"/>
                  </a:lnTo>
                  <a:lnTo>
                    <a:pt x="555870" y="1280798"/>
                  </a:lnTo>
                  <a:lnTo>
                    <a:pt x="603584" y="1286013"/>
                  </a:lnTo>
                  <a:lnTo>
                    <a:pt x="652272" y="1287779"/>
                  </a:lnTo>
                  <a:lnTo>
                    <a:pt x="700959" y="1286013"/>
                  </a:lnTo>
                  <a:lnTo>
                    <a:pt x="748673" y="1280798"/>
                  </a:lnTo>
                  <a:lnTo>
                    <a:pt x="795288" y="1272258"/>
                  </a:lnTo>
                  <a:lnTo>
                    <a:pt x="840678" y="1260517"/>
                  </a:lnTo>
                  <a:lnTo>
                    <a:pt x="884717" y="1245701"/>
                  </a:lnTo>
                  <a:lnTo>
                    <a:pt x="927279" y="1227933"/>
                  </a:lnTo>
                  <a:lnTo>
                    <a:pt x="968237" y="1207339"/>
                  </a:lnTo>
                  <a:lnTo>
                    <a:pt x="1007467" y="1184042"/>
                  </a:lnTo>
                  <a:lnTo>
                    <a:pt x="1044841" y="1158168"/>
                  </a:lnTo>
                  <a:lnTo>
                    <a:pt x="1080234" y="1129841"/>
                  </a:lnTo>
                  <a:lnTo>
                    <a:pt x="1113520" y="1099184"/>
                  </a:lnTo>
                  <a:lnTo>
                    <a:pt x="1144572" y="1066324"/>
                  </a:lnTo>
                  <a:lnTo>
                    <a:pt x="1173265" y="1031385"/>
                  </a:lnTo>
                  <a:lnTo>
                    <a:pt x="1199473" y="994490"/>
                  </a:lnTo>
                  <a:lnTo>
                    <a:pt x="1223070" y="955764"/>
                  </a:lnTo>
                  <a:lnTo>
                    <a:pt x="1243929" y="915333"/>
                  </a:lnTo>
                  <a:lnTo>
                    <a:pt x="1261925" y="873320"/>
                  </a:lnTo>
                  <a:lnTo>
                    <a:pt x="1276932" y="829850"/>
                  </a:lnTo>
                  <a:lnTo>
                    <a:pt x="1288823" y="785047"/>
                  </a:lnTo>
                  <a:lnTo>
                    <a:pt x="1297473" y="739036"/>
                  </a:lnTo>
                  <a:lnTo>
                    <a:pt x="1302755" y="691942"/>
                  </a:lnTo>
                  <a:lnTo>
                    <a:pt x="1304543" y="643889"/>
                  </a:lnTo>
                  <a:lnTo>
                    <a:pt x="1302755" y="595837"/>
                  </a:lnTo>
                  <a:lnTo>
                    <a:pt x="1297473" y="548743"/>
                  </a:lnTo>
                  <a:lnTo>
                    <a:pt x="1288823" y="502732"/>
                  </a:lnTo>
                  <a:lnTo>
                    <a:pt x="1276932" y="457929"/>
                  </a:lnTo>
                  <a:lnTo>
                    <a:pt x="1261925" y="414459"/>
                  </a:lnTo>
                  <a:lnTo>
                    <a:pt x="1243929" y="372446"/>
                  </a:lnTo>
                  <a:lnTo>
                    <a:pt x="1223070" y="332015"/>
                  </a:lnTo>
                  <a:lnTo>
                    <a:pt x="1199473" y="293289"/>
                  </a:lnTo>
                  <a:lnTo>
                    <a:pt x="1173265" y="256394"/>
                  </a:lnTo>
                  <a:lnTo>
                    <a:pt x="1144572" y="221455"/>
                  </a:lnTo>
                  <a:lnTo>
                    <a:pt x="1113520" y="188595"/>
                  </a:lnTo>
                  <a:lnTo>
                    <a:pt x="1080234" y="157938"/>
                  </a:lnTo>
                  <a:lnTo>
                    <a:pt x="1044841" y="129611"/>
                  </a:lnTo>
                  <a:lnTo>
                    <a:pt x="1007467" y="103737"/>
                  </a:lnTo>
                  <a:lnTo>
                    <a:pt x="968237" y="80440"/>
                  </a:lnTo>
                  <a:lnTo>
                    <a:pt x="927279" y="59846"/>
                  </a:lnTo>
                  <a:lnTo>
                    <a:pt x="884717" y="42078"/>
                  </a:lnTo>
                  <a:lnTo>
                    <a:pt x="840678" y="27262"/>
                  </a:lnTo>
                  <a:lnTo>
                    <a:pt x="795288" y="15521"/>
                  </a:lnTo>
                  <a:lnTo>
                    <a:pt x="748673" y="6981"/>
                  </a:lnTo>
                  <a:lnTo>
                    <a:pt x="700959" y="1766"/>
                  </a:lnTo>
                  <a:lnTo>
                    <a:pt x="652272" y="0"/>
                  </a:lnTo>
                  <a:close/>
                </a:path>
              </a:pathLst>
            </a:custGeom>
            <a:solidFill>
              <a:srgbClr val="FF0000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289291" y="2598420"/>
              <a:ext cx="1304925" cy="1287780"/>
            </a:xfrm>
            <a:custGeom>
              <a:avLst/>
              <a:gdLst/>
              <a:ahLst/>
              <a:cxnLst/>
              <a:rect l="l" t="t" r="r" b="b"/>
              <a:pathLst>
                <a:path w="1304925" h="1287779">
                  <a:moveTo>
                    <a:pt x="0" y="643889"/>
                  </a:moveTo>
                  <a:lnTo>
                    <a:pt x="1788" y="595837"/>
                  </a:lnTo>
                  <a:lnTo>
                    <a:pt x="7070" y="548743"/>
                  </a:lnTo>
                  <a:lnTo>
                    <a:pt x="15720" y="502732"/>
                  </a:lnTo>
                  <a:lnTo>
                    <a:pt x="27611" y="457929"/>
                  </a:lnTo>
                  <a:lnTo>
                    <a:pt x="42618" y="414459"/>
                  </a:lnTo>
                  <a:lnTo>
                    <a:pt x="60614" y="372446"/>
                  </a:lnTo>
                  <a:lnTo>
                    <a:pt x="81473" y="332015"/>
                  </a:lnTo>
                  <a:lnTo>
                    <a:pt x="105070" y="293289"/>
                  </a:lnTo>
                  <a:lnTo>
                    <a:pt x="131278" y="256394"/>
                  </a:lnTo>
                  <a:lnTo>
                    <a:pt x="159971" y="221455"/>
                  </a:lnTo>
                  <a:lnTo>
                    <a:pt x="191023" y="188595"/>
                  </a:lnTo>
                  <a:lnTo>
                    <a:pt x="224309" y="157938"/>
                  </a:lnTo>
                  <a:lnTo>
                    <a:pt x="259702" y="129611"/>
                  </a:lnTo>
                  <a:lnTo>
                    <a:pt x="297076" y="103737"/>
                  </a:lnTo>
                  <a:lnTo>
                    <a:pt x="336306" y="80440"/>
                  </a:lnTo>
                  <a:lnTo>
                    <a:pt x="377264" y="59846"/>
                  </a:lnTo>
                  <a:lnTo>
                    <a:pt x="419826" y="42078"/>
                  </a:lnTo>
                  <a:lnTo>
                    <a:pt x="463865" y="27262"/>
                  </a:lnTo>
                  <a:lnTo>
                    <a:pt x="509255" y="15521"/>
                  </a:lnTo>
                  <a:lnTo>
                    <a:pt x="555870" y="6981"/>
                  </a:lnTo>
                  <a:lnTo>
                    <a:pt x="603584" y="1766"/>
                  </a:lnTo>
                  <a:lnTo>
                    <a:pt x="652272" y="0"/>
                  </a:lnTo>
                  <a:lnTo>
                    <a:pt x="700959" y="1766"/>
                  </a:lnTo>
                  <a:lnTo>
                    <a:pt x="748673" y="6981"/>
                  </a:lnTo>
                  <a:lnTo>
                    <a:pt x="795288" y="15521"/>
                  </a:lnTo>
                  <a:lnTo>
                    <a:pt x="840678" y="27262"/>
                  </a:lnTo>
                  <a:lnTo>
                    <a:pt x="884717" y="42078"/>
                  </a:lnTo>
                  <a:lnTo>
                    <a:pt x="927279" y="59846"/>
                  </a:lnTo>
                  <a:lnTo>
                    <a:pt x="968237" y="80440"/>
                  </a:lnTo>
                  <a:lnTo>
                    <a:pt x="1007467" y="103737"/>
                  </a:lnTo>
                  <a:lnTo>
                    <a:pt x="1044841" y="129611"/>
                  </a:lnTo>
                  <a:lnTo>
                    <a:pt x="1080234" y="157938"/>
                  </a:lnTo>
                  <a:lnTo>
                    <a:pt x="1113520" y="188595"/>
                  </a:lnTo>
                  <a:lnTo>
                    <a:pt x="1144572" y="221455"/>
                  </a:lnTo>
                  <a:lnTo>
                    <a:pt x="1173265" y="256394"/>
                  </a:lnTo>
                  <a:lnTo>
                    <a:pt x="1199473" y="293289"/>
                  </a:lnTo>
                  <a:lnTo>
                    <a:pt x="1223070" y="332015"/>
                  </a:lnTo>
                  <a:lnTo>
                    <a:pt x="1243929" y="372446"/>
                  </a:lnTo>
                  <a:lnTo>
                    <a:pt x="1261925" y="414459"/>
                  </a:lnTo>
                  <a:lnTo>
                    <a:pt x="1276932" y="457929"/>
                  </a:lnTo>
                  <a:lnTo>
                    <a:pt x="1288823" y="502732"/>
                  </a:lnTo>
                  <a:lnTo>
                    <a:pt x="1297473" y="548743"/>
                  </a:lnTo>
                  <a:lnTo>
                    <a:pt x="1302755" y="595837"/>
                  </a:lnTo>
                  <a:lnTo>
                    <a:pt x="1304543" y="643889"/>
                  </a:lnTo>
                  <a:lnTo>
                    <a:pt x="1302755" y="691942"/>
                  </a:lnTo>
                  <a:lnTo>
                    <a:pt x="1297473" y="739036"/>
                  </a:lnTo>
                  <a:lnTo>
                    <a:pt x="1288823" y="785047"/>
                  </a:lnTo>
                  <a:lnTo>
                    <a:pt x="1276932" y="829850"/>
                  </a:lnTo>
                  <a:lnTo>
                    <a:pt x="1261925" y="873320"/>
                  </a:lnTo>
                  <a:lnTo>
                    <a:pt x="1243929" y="915333"/>
                  </a:lnTo>
                  <a:lnTo>
                    <a:pt x="1223070" y="955764"/>
                  </a:lnTo>
                  <a:lnTo>
                    <a:pt x="1199473" y="994490"/>
                  </a:lnTo>
                  <a:lnTo>
                    <a:pt x="1173265" y="1031385"/>
                  </a:lnTo>
                  <a:lnTo>
                    <a:pt x="1144572" y="1066324"/>
                  </a:lnTo>
                  <a:lnTo>
                    <a:pt x="1113520" y="1099184"/>
                  </a:lnTo>
                  <a:lnTo>
                    <a:pt x="1080234" y="1129841"/>
                  </a:lnTo>
                  <a:lnTo>
                    <a:pt x="1044841" y="1158168"/>
                  </a:lnTo>
                  <a:lnTo>
                    <a:pt x="1007467" y="1184042"/>
                  </a:lnTo>
                  <a:lnTo>
                    <a:pt x="968237" y="1207339"/>
                  </a:lnTo>
                  <a:lnTo>
                    <a:pt x="927279" y="1227933"/>
                  </a:lnTo>
                  <a:lnTo>
                    <a:pt x="884717" y="1245701"/>
                  </a:lnTo>
                  <a:lnTo>
                    <a:pt x="840678" y="1260517"/>
                  </a:lnTo>
                  <a:lnTo>
                    <a:pt x="795288" y="1272258"/>
                  </a:lnTo>
                  <a:lnTo>
                    <a:pt x="748673" y="1280798"/>
                  </a:lnTo>
                  <a:lnTo>
                    <a:pt x="700959" y="1286013"/>
                  </a:lnTo>
                  <a:lnTo>
                    <a:pt x="652272" y="1287779"/>
                  </a:lnTo>
                  <a:lnTo>
                    <a:pt x="603584" y="1286013"/>
                  </a:lnTo>
                  <a:lnTo>
                    <a:pt x="555870" y="1280798"/>
                  </a:lnTo>
                  <a:lnTo>
                    <a:pt x="509255" y="1272258"/>
                  </a:lnTo>
                  <a:lnTo>
                    <a:pt x="463865" y="1260517"/>
                  </a:lnTo>
                  <a:lnTo>
                    <a:pt x="419826" y="1245701"/>
                  </a:lnTo>
                  <a:lnTo>
                    <a:pt x="377264" y="1227933"/>
                  </a:lnTo>
                  <a:lnTo>
                    <a:pt x="336306" y="1207339"/>
                  </a:lnTo>
                  <a:lnTo>
                    <a:pt x="297076" y="1184042"/>
                  </a:lnTo>
                  <a:lnTo>
                    <a:pt x="259702" y="1158168"/>
                  </a:lnTo>
                  <a:lnTo>
                    <a:pt x="224309" y="1129841"/>
                  </a:lnTo>
                  <a:lnTo>
                    <a:pt x="191023" y="1099184"/>
                  </a:lnTo>
                  <a:lnTo>
                    <a:pt x="159971" y="1066324"/>
                  </a:lnTo>
                  <a:lnTo>
                    <a:pt x="131278" y="1031385"/>
                  </a:lnTo>
                  <a:lnTo>
                    <a:pt x="105070" y="994490"/>
                  </a:lnTo>
                  <a:lnTo>
                    <a:pt x="81473" y="955764"/>
                  </a:lnTo>
                  <a:lnTo>
                    <a:pt x="60614" y="915333"/>
                  </a:lnTo>
                  <a:lnTo>
                    <a:pt x="42618" y="873320"/>
                  </a:lnTo>
                  <a:lnTo>
                    <a:pt x="27611" y="829850"/>
                  </a:lnTo>
                  <a:lnTo>
                    <a:pt x="15720" y="785047"/>
                  </a:lnTo>
                  <a:lnTo>
                    <a:pt x="7070" y="739036"/>
                  </a:lnTo>
                  <a:lnTo>
                    <a:pt x="1788" y="691942"/>
                  </a:lnTo>
                  <a:lnTo>
                    <a:pt x="0" y="643889"/>
                  </a:lnTo>
                  <a:close/>
                </a:path>
              </a:pathLst>
            </a:custGeom>
            <a:ln w="12192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728716" y="3204971"/>
              <a:ext cx="3907790" cy="1599565"/>
            </a:xfrm>
            <a:custGeom>
              <a:avLst/>
              <a:gdLst/>
              <a:ahLst/>
              <a:cxnLst/>
              <a:rect l="l" t="t" r="r" b="b"/>
              <a:pathLst>
                <a:path w="3907790" h="1599564">
                  <a:moveTo>
                    <a:pt x="593090" y="45974"/>
                  </a:moveTo>
                  <a:lnTo>
                    <a:pt x="592963" y="33274"/>
                  </a:lnTo>
                  <a:lnTo>
                    <a:pt x="76123" y="39103"/>
                  </a:lnTo>
                  <a:lnTo>
                    <a:pt x="75819" y="7366"/>
                  </a:lnTo>
                  <a:lnTo>
                    <a:pt x="0" y="46228"/>
                  </a:lnTo>
                  <a:lnTo>
                    <a:pt x="76581" y="83566"/>
                  </a:lnTo>
                  <a:lnTo>
                    <a:pt x="76263" y="51943"/>
                  </a:lnTo>
                  <a:lnTo>
                    <a:pt x="76250" y="51803"/>
                  </a:lnTo>
                  <a:lnTo>
                    <a:pt x="593090" y="45974"/>
                  </a:lnTo>
                  <a:close/>
                </a:path>
                <a:path w="3907790" h="1599564">
                  <a:moveTo>
                    <a:pt x="1790700" y="1523365"/>
                  </a:moveTo>
                  <a:lnTo>
                    <a:pt x="1758950" y="1523365"/>
                  </a:lnTo>
                  <a:lnTo>
                    <a:pt x="1758950" y="143256"/>
                  </a:lnTo>
                  <a:lnTo>
                    <a:pt x="1746250" y="143256"/>
                  </a:lnTo>
                  <a:lnTo>
                    <a:pt x="1746250" y="1523365"/>
                  </a:lnTo>
                  <a:lnTo>
                    <a:pt x="1714500" y="1523365"/>
                  </a:lnTo>
                  <a:lnTo>
                    <a:pt x="1752600" y="1599565"/>
                  </a:lnTo>
                  <a:lnTo>
                    <a:pt x="1784350" y="1536065"/>
                  </a:lnTo>
                  <a:lnTo>
                    <a:pt x="1790700" y="1523365"/>
                  </a:lnTo>
                  <a:close/>
                </a:path>
                <a:path w="3907790" h="1599564">
                  <a:moveTo>
                    <a:pt x="3907536" y="38100"/>
                  </a:moveTo>
                  <a:lnTo>
                    <a:pt x="3894836" y="31750"/>
                  </a:lnTo>
                  <a:lnTo>
                    <a:pt x="3831336" y="0"/>
                  </a:lnTo>
                  <a:lnTo>
                    <a:pt x="3831336" y="31750"/>
                  </a:lnTo>
                  <a:lnTo>
                    <a:pt x="2865120" y="31750"/>
                  </a:lnTo>
                  <a:lnTo>
                    <a:pt x="2865120" y="44450"/>
                  </a:lnTo>
                  <a:lnTo>
                    <a:pt x="3831336" y="44450"/>
                  </a:lnTo>
                  <a:lnTo>
                    <a:pt x="3831336" y="76200"/>
                  </a:lnTo>
                  <a:lnTo>
                    <a:pt x="3894836" y="44450"/>
                  </a:lnTo>
                  <a:lnTo>
                    <a:pt x="3907536" y="3810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574796" y="2947161"/>
            <a:ext cx="20466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Customers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who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made </a:t>
            </a:r>
            <a:r>
              <a:rPr sz="1800" dirty="0">
                <a:latin typeface="Calibri" panose="020F0502020204030204"/>
                <a:cs typeface="Calibri" panose="020F0502020204030204"/>
              </a:rPr>
              <a:t>a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purchase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2020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16769" y="2937764"/>
            <a:ext cx="20478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Customers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who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made </a:t>
            </a:r>
            <a:r>
              <a:rPr sz="1800" dirty="0">
                <a:latin typeface="Calibri" panose="020F0502020204030204"/>
                <a:cs typeface="Calibri" panose="020F0502020204030204"/>
              </a:rPr>
              <a:t>a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purchase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2021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48171" y="4823841"/>
            <a:ext cx="204660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Customers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who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made </a:t>
            </a:r>
            <a:r>
              <a:rPr sz="1800" dirty="0">
                <a:latin typeface="Calibri" panose="020F0502020204030204"/>
                <a:cs typeface="Calibri" panose="020F0502020204030204"/>
              </a:rPr>
              <a:t>a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purchase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both, </a:t>
            </a:r>
            <a:r>
              <a:rPr sz="1800" dirty="0">
                <a:latin typeface="Calibri" panose="020F0502020204030204"/>
                <a:cs typeface="Calibri" panose="020F0502020204030204"/>
              </a:rPr>
              <a:t>2020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and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2021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spc="-2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Sets</a:t>
            </a:r>
            <a:endParaRPr spc="-2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248867" y="3031363"/>
            <a:ext cx="7975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5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Why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6864" y="1342644"/>
            <a:ext cx="6826250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5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Sets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can</a:t>
            </a:r>
            <a:r>
              <a:rPr sz="18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be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used</a:t>
            </a:r>
            <a:r>
              <a:rPr sz="18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combine</a:t>
            </a:r>
            <a:r>
              <a:rPr sz="18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sets</a:t>
            </a:r>
            <a:r>
              <a:rPr sz="18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as</a:t>
            </a:r>
            <a:r>
              <a:rPr sz="18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per</a:t>
            </a:r>
            <a:r>
              <a:rPr sz="18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set</a:t>
            </a:r>
            <a:r>
              <a:rPr sz="18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theory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889247" y="2240279"/>
            <a:ext cx="2273935" cy="1290955"/>
            <a:chOff x="3889247" y="2240279"/>
            <a:chExt cx="2273935" cy="1290955"/>
          </a:xfrm>
        </p:grpSpPr>
        <p:sp>
          <p:nvSpPr>
            <p:cNvPr id="7" name="object 7"/>
            <p:cNvSpPr/>
            <p:nvPr/>
          </p:nvSpPr>
          <p:spPr>
            <a:xfrm>
              <a:off x="3889247" y="2243327"/>
              <a:ext cx="1304925" cy="1287780"/>
            </a:xfrm>
            <a:custGeom>
              <a:avLst/>
              <a:gdLst/>
              <a:ahLst/>
              <a:cxnLst/>
              <a:rect l="l" t="t" r="r" b="b"/>
              <a:pathLst>
                <a:path w="1304925" h="1287779">
                  <a:moveTo>
                    <a:pt x="652272" y="0"/>
                  </a:moveTo>
                  <a:lnTo>
                    <a:pt x="603584" y="1766"/>
                  </a:lnTo>
                  <a:lnTo>
                    <a:pt x="555870" y="6981"/>
                  </a:lnTo>
                  <a:lnTo>
                    <a:pt x="509255" y="15521"/>
                  </a:lnTo>
                  <a:lnTo>
                    <a:pt x="463865" y="27262"/>
                  </a:lnTo>
                  <a:lnTo>
                    <a:pt x="419826" y="42078"/>
                  </a:lnTo>
                  <a:lnTo>
                    <a:pt x="377264" y="59846"/>
                  </a:lnTo>
                  <a:lnTo>
                    <a:pt x="336306" y="80440"/>
                  </a:lnTo>
                  <a:lnTo>
                    <a:pt x="297076" y="103737"/>
                  </a:lnTo>
                  <a:lnTo>
                    <a:pt x="259702" y="129611"/>
                  </a:lnTo>
                  <a:lnTo>
                    <a:pt x="224309" y="157938"/>
                  </a:lnTo>
                  <a:lnTo>
                    <a:pt x="191023" y="188595"/>
                  </a:lnTo>
                  <a:lnTo>
                    <a:pt x="159971" y="221455"/>
                  </a:lnTo>
                  <a:lnTo>
                    <a:pt x="131278" y="256394"/>
                  </a:lnTo>
                  <a:lnTo>
                    <a:pt x="105070" y="293289"/>
                  </a:lnTo>
                  <a:lnTo>
                    <a:pt x="81473" y="332015"/>
                  </a:lnTo>
                  <a:lnTo>
                    <a:pt x="60614" y="372446"/>
                  </a:lnTo>
                  <a:lnTo>
                    <a:pt x="42618" y="414459"/>
                  </a:lnTo>
                  <a:lnTo>
                    <a:pt x="27611" y="457929"/>
                  </a:lnTo>
                  <a:lnTo>
                    <a:pt x="15720" y="502732"/>
                  </a:lnTo>
                  <a:lnTo>
                    <a:pt x="7070" y="548743"/>
                  </a:lnTo>
                  <a:lnTo>
                    <a:pt x="1788" y="595837"/>
                  </a:lnTo>
                  <a:lnTo>
                    <a:pt x="0" y="643889"/>
                  </a:lnTo>
                  <a:lnTo>
                    <a:pt x="1788" y="691942"/>
                  </a:lnTo>
                  <a:lnTo>
                    <a:pt x="7070" y="739036"/>
                  </a:lnTo>
                  <a:lnTo>
                    <a:pt x="15720" y="785047"/>
                  </a:lnTo>
                  <a:lnTo>
                    <a:pt x="27611" y="829850"/>
                  </a:lnTo>
                  <a:lnTo>
                    <a:pt x="42618" y="873320"/>
                  </a:lnTo>
                  <a:lnTo>
                    <a:pt x="60614" y="915333"/>
                  </a:lnTo>
                  <a:lnTo>
                    <a:pt x="81473" y="955764"/>
                  </a:lnTo>
                  <a:lnTo>
                    <a:pt x="105070" y="994490"/>
                  </a:lnTo>
                  <a:lnTo>
                    <a:pt x="131278" y="1031385"/>
                  </a:lnTo>
                  <a:lnTo>
                    <a:pt x="159971" y="1066324"/>
                  </a:lnTo>
                  <a:lnTo>
                    <a:pt x="191023" y="1099185"/>
                  </a:lnTo>
                  <a:lnTo>
                    <a:pt x="224309" y="1129841"/>
                  </a:lnTo>
                  <a:lnTo>
                    <a:pt x="259702" y="1158168"/>
                  </a:lnTo>
                  <a:lnTo>
                    <a:pt x="297076" y="1184042"/>
                  </a:lnTo>
                  <a:lnTo>
                    <a:pt x="336306" y="1207339"/>
                  </a:lnTo>
                  <a:lnTo>
                    <a:pt x="377264" y="1227933"/>
                  </a:lnTo>
                  <a:lnTo>
                    <a:pt x="419826" y="1245701"/>
                  </a:lnTo>
                  <a:lnTo>
                    <a:pt x="463865" y="1260517"/>
                  </a:lnTo>
                  <a:lnTo>
                    <a:pt x="509255" y="1272258"/>
                  </a:lnTo>
                  <a:lnTo>
                    <a:pt x="555870" y="1280798"/>
                  </a:lnTo>
                  <a:lnTo>
                    <a:pt x="603584" y="1286013"/>
                  </a:lnTo>
                  <a:lnTo>
                    <a:pt x="652272" y="1287780"/>
                  </a:lnTo>
                  <a:lnTo>
                    <a:pt x="700959" y="1286013"/>
                  </a:lnTo>
                  <a:lnTo>
                    <a:pt x="748673" y="1280798"/>
                  </a:lnTo>
                  <a:lnTo>
                    <a:pt x="795288" y="1272258"/>
                  </a:lnTo>
                  <a:lnTo>
                    <a:pt x="840678" y="1260517"/>
                  </a:lnTo>
                  <a:lnTo>
                    <a:pt x="884717" y="1245701"/>
                  </a:lnTo>
                  <a:lnTo>
                    <a:pt x="927279" y="1227933"/>
                  </a:lnTo>
                  <a:lnTo>
                    <a:pt x="968237" y="1207339"/>
                  </a:lnTo>
                  <a:lnTo>
                    <a:pt x="1007467" y="1184042"/>
                  </a:lnTo>
                  <a:lnTo>
                    <a:pt x="1044841" y="1158168"/>
                  </a:lnTo>
                  <a:lnTo>
                    <a:pt x="1080234" y="1129841"/>
                  </a:lnTo>
                  <a:lnTo>
                    <a:pt x="1113520" y="1099184"/>
                  </a:lnTo>
                  <a:lnTo>
                    <a:pt x="1144572" y="1066324"/>
                  </a:lnTo>
                  <a:lnTo>
                    <a:pt x="1173265" y="1031385"/>
                  </a:lnTo>
                  <a:lnTo>
                    <a:pt x="1199473" y="994490"/>
                  </a:lnTo>
                  <a:lnTo>
                    <a:pt x="1223070" y="955764"/>
                  </a:lnTo>
                  <a:lnTo>
                    <a:pt x="1243929" y="915333"/>
                  </a:lnTo>
                  <a:lnTo>
                    <a:pt x="1261925" y="873320"/>
                  </a:lnTo>
                  <a:lnTo>
                    <a:pt x="1276932" y="829850"/>
                  </a:lnTo>
                  <a:lnTo>
                    <a:pt x="1288823" y="785047"/>
                  </a:lnTo>
                  <a:lnTo>
                    <a:pt x="1297473" y="739036"/>
                  </a:lnTo>
                  <a:lnTo>
                    <a:pt x="1302755" y="691942"/>
                  </a:lnTo>
                  <a:lnTo>
                    <a:pt x="1304543" y="643889"/>
                  </a:lnTo>
                  <a:lnTo>
                    <a:pt x="1302755" y="595837"/>
                  </a:lnTo>
                  <a:lnTo>
                    <a:pt x="1297473" y="548743"/>
                  </a:lnTo>
                  <a:lnTo>
                    <a:pt x="1288823" y="502732"/>
                  </a:lnTo>
                  <a:lnTo>
                    <a:pt x="1276932" y="457929"/>
                  </a:lnTo>
                  <a:lnTo>
                    <a:pt x="1261925" y="414459"/>
                  </a:lnTo>
                  <a:lnTo>
                    <a:pt x="1243929" y="372446"/>
                  </a:lnTo>
                  <a:lnTo>
                    <a:pt x="1223070" y="332015"/>
                  </a:lnTo>
                  <a:lnTo>
                    <a:pt x="1199473" y="293289"/>
                  </a:lnTo>
                  <a:lnTo>
                    <a:pt x="1173265" y="256394"/>
                  </a:lnTo>
                  <a:lnTo>
                    <a:pt x="1144572" y="221455"/>
                  </a:lnTo>
                  <a:lnTo>
                    <a:pt x="1113520" y="188595"/>
                  </a:lnTo>
                  <a:lnTo>
                    <a:pt x="1080234" y="157938"/>
                  </a:lnTo>
                  <a:lnTo>
                    <a:pt x="1044841" y="129611"/>
                  </a:lnTo>
                  <a:lnTo>
                    <a:pt x="1007467" y="103737"/>
                  </a:lnTo>
                  <a:lnTo>
                    <a:pt x="968237" y="80440"/>
                  </a:lnTo>
                  <a:lnTo>
                    <a:pt x="927279" y="59846"/>
                  </a:lnTo>
                  <a:lnTo>
                    <a:pt x="884717" y="42078"/>
                  </a:lnTo>
                  <a:lnTo>
                    <a:pt x="840678" y="27262"/>
                  </a:lnTo>
                  <a:lnTo>
                    <a:pt x="795288" y="15521"/>
                  </a:lnTo>
                  <a:lnTo>
                    <a:pt x="748673" y="6981"/>
                  </a:lnTo>
                  <a:lnTo>
                    <a:pt x="700959" y="1766"/>
                  </a:lnTo>
                  <a:lnTo>
                    <a:pt x="652272" y="0"/>
                  </a:lnTo>
                  <a:close/>
                </a:path>
              </a:pathLst>
            </a:custGeom>
            <a:solidFill>
              <a:srgbClr val="0E6EC5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856987" y="2240279"/>
              <a:ext cx="1306195" cy="1287780"/>
            </a:xfrm>
            <a:custGeom>
              <a:avLst/>
              <a:gdLst/>
              <a:ahLst/>
              <a:cxnLst/>
              <a:rect l="l" t="t" r="r" b="b"/>
              <a:pathLst>
                <a:path w="1306195" h="1287779">
                  <a:moveTo>
                    <a:pt x="653034" y="0"/>
                  </a:moveTo>
                  <a:lnTo>
                    <a:pt x="604294" y="1766"/>
                  </a:lnTo>
                  <a:lnTo>
                    <a:pt x="556529" y="6981"/>
                  </a:lnTo>
                  <a:lnTo>
                    <a:pt x="509862" y="15521"/>
                  </a:lnTo>
                  <a:lnTo>
                    <a:pt x="464422" y="27262"/>
                  </a:lnTo>
                  <a:lnTo>
                    <a:pt x="420333" y="42078"/>
                  </a:lnTo>
                  <a:lnTo>
                    <a:pt x="377722" y="59846"/>
                  </a:lnTo>
                  <a:lnTo>
                    <a:pt x="336716" y="80440"/>
                  </a:lnTo>
                  <a:lnTo>
                    <a:pt x="297441" y="103737"/>
                  </a:lnTo>
                  <a:lnTo>
                    <a:pt x="260023" y="129611"/>
                  </a:lnTo>
                  <a:lnTo>
                    <a:pt x="224587" y="157938"/>
                  </a:lnTo>
                  <a:lnTo>
                    <a:pt x="191262" y="188595"/>
                  </a:lnTo>
                  <a:lnTo>
                    <a:pt x="160171" y="221455"/>
                  </a:lnTo>
                  <a:lnTo>
                    <a:pt x="131443" y="256394"/>
                  </a:lnTo>
                  <a:lnTo>
                    <a:pt x="105202" y="293289"/>
                  </a:lnTo>
                  <a:lnTo>
                    <a:pt x="81576" y="332015"/>
                  </a:lnTo>
                  <a:lnTo>
                    <a:pt x="60691" y="372446"/>
                  </a:lnTo>
                  <a:lnTo>
                    <a:pt x="42672" y="414459"/>
                  </a:lnTo>
                  <a:lnTo>
                    <a:pt x="27647" y="457929"/>
                  </a:lnTo>
                  <a:lnTo>
                    <a:pt x="15740" y="502732"/>
                  </a:lnTo>
                  <a:lnTo>
                    <a:pt x="7080" y="548743"/>
                  </a:lnTo>
                  <a:lnTo>
                    <a:pt x="1791" y="595837"/>
                  </a:lnTo>
                  <a:lnTo>
                    <a:pt x="0" y="643890"/>
                  </a:lnTo>
                  <a:lnTo>
                    <a:pt x="1791" y="691942"/>
                  </a:lnTo>
                  <a:lnTo>
                    <a:pt x="7080" y="739036"/>
                  </a:lnTo>
                  <a:lnTo>
                    <a:pt x="15740" y="785047"/>
                  </a:lnTo>
                  <a:lnTo>
                    <a:pt x="27647" y="829850"/>
                  </a:lnTo>
                  <a:lnTo>
                    <a:pt x="42672" y="873320"/>
                  </a:lnTo>
                  <a:lnTo>
                    <a:pt x="60691" y="915333"/>
                  </a:lnTo>
                  <a:lnTo>
                    <a:pt x="81576" y="955764"/>
                  </a:lnTo>
                  <a:lnTo>
                    <a:pt x="105202" y="994490"/>
                  </a:lnTo>
                  <a:lnTo>
                    <a:pt x="131443" y="1031385"/>
                  </a:lnTo>
                  <a:lnTo>
                    <a:pt x="160171" y="1066324"/>
                  </a:lnTo>
                  <a:lnTo>
                    <a:pt x="191261" y="1099185"/>
                  </a:lnTo>
                  <a:lnTo>
                    <a:pt x="224587" y="1129841"/>
                  </a:lnTo>
                  <a:lnTo>
                    <a:pt x="260023" y="1158168"/>
                  </a:lnTo>
                  <a:lnTo>
                    <a:pt x="297441" y="1184042"/>
                  </a:lnTo>
                  <a:lnTo>
                    <a:pt x="336716" y="1207339"/>
                  </a:lnTo>
                  <a:lnTo>
                    <a:pt x="377722" y="1227933"/>
                  </a:lnTo>
                  <a:lnTo>
                    <a:pt x="420333" y="1245701"/>
                  </a:lnTo>
                  <a:lnTo>
                    <a:pt x="464422" y="1260517"/>
                  </a:lnTo>
                  <a:lnTo>
                    <a:pt x="509862" y="1272258"/>
                  </a:lnTo>
                  <a:lnTo>
                    <a:pt x="556529" y="1280798"/>
                  </a:lnTo>
                  <a:lnTo>
                    <a:pt x="604294" y="1286013"/>
                  </a:lnTo>
                  <a:lnTo>
                    <a:pt x="653034" y="1287780"/>
                  </a:lnTo>
                  <a:lnTo>
                    <a:pt x="701773" y="1286013"/>
                  </a:lnTo>
                  <a:lnTo>
                    <a:pt x="749538" y="1280798"/>
                  </a:lnTo>
                  <a:lnTo>
                    <a:pt x="796205" y="1272258"/>
                  </a:lnTo>
                  <a:lnTo>
                    <a:pt x="841645" y="1260517"/>
                  </a:lnTo>
                  <a:lnTo>
                    <a:pt x="885734" y="1245701"/>
                  </a:lnTo>
                  <a:lnTo>
                    <a:pt x="928345" y="1227933"/>
                  </a:lnTo>
                  <a:lnTo>
                    <a:pt x="969351" y="1207339"/>
                  </a:lnTo>
                  <a:lnTo>
                    <a:pt x="1008626" y="1184042"/>
                  </a:lnTo>
                  <a:lnTo>
                    <a:pt x="1046044" y="1158168"/>
                  </a:lnTo>
                  <a:lnTo>
                    <a:pt x="1081480" y="1129841"/>
                  </a:lnTo>
                  <a:lnTo>
                    <a:pt x="1114805" y="1099185"/>
                  </a:lnTo>
                  <a:lnTo>
                    <a:pt x="1145896" y="1066324"/>
                  </a:lnTo>
                  <a:lnTo>
                    <a:pt x="1174624" y="1031385"/>
                  </a:lnTo>
                  <a:lnTo>
                    <a:pt x="1200865" y="994490"/>
                  </a:lnTo>
                  <a:lnTo>
                    <a:pt x="1224491" y="955764"/>
                  </a:lnTo>
                  <a:lnTo>
                    <a:pt x="1245376" y="915333"/>
                  </a:lnTo>
                  <a:lnTo>
                    <a:pt x="1263395" y="873320"/>
                  </a:lnTo>
                  <a:lnTo>
                    <a:pt x="1278420" y="829850"/>
                  </a:lnTo>
                  <a:lnTo>
                    <a:pt x="1290327" y="785047"/>
                  </a:lnTo>
                  <a:lnTo>
                    <a:pt x="1298987" y="739036"/>
                  </a:lnTo>
                  <a:lnTo>
                    <a:pt x="1304276" y="691942"/>
                  </a:lnTo>
                  <a:lnTo>
                    <a:pt x="1306067" y="643890"/>
                  </a:lnTo>
                  <a:lnTo>
                    <a:pt x="1304276" y="595837"/>
                  </a:lnTo>
                  <a:lnTo>
                    <a:pt x="1298987" y="548743"/>
                  </a:lnTo>
                  <a:lnTo>
                    <a:pt x="1290327" y="502732"/>
                  </a:lnTo>
                  <a:lnTo>
                    <a:pt x="1278420" y="457929"/>
                  </a:lnTo>
                  <a:lnTo>
                    <a:pt x="1263395" y="414459"/>
                  </a:lnTo>
                  <a:lnTo>
                    <a:pt x="1245376" y="372446"/>
                  </a:lnTo>
                  <a:lnTo>
                    <a:pt x="1224491" y="332015"/>
                  </a:lnTo>
                  <a:lnTo>
                    <a:pt x="1200865" y="293289"/>
                  </a:lnTo>
                  <a:lnTo>
                    <a:pt x="1174624" y="256394"/>
                  </a:lnTo>
                  <a:lnTo>
                    <a:pt x="1145896" y="221455"/>
                  </a:lnTo>
                  <a:lnTo>
                    <a:pt x="1114806" y="188595"/>
                  </a:lnTo>
                  <a:lnTo>
                    <a:pt x="1081480" y="157938"/>
                  </a:lnTo>
                  <a:lnTo>
                    <a:pt x="1046044" y="129611"/>
                  </a:lnTo>
                  <a:lnTo>
                    <a:pt x="1008626" y="103737"/>
                  </a:lnTo>
                  <a:lnTo>
                    <a:pt x="969351" y="80440"/>
                  </a:lnTo>
                  <a:lnTo>
                    <a:pt x="928345" y="59846"/>
                  </a:lnTo>
                  <a:lnTo>
                    <a:pt x="885734" y="42078"/>
                  </a:lnTo>
                  <a:lnTo>
                    <a:pt x="841645" y="27262"/>
                  </a:lnTo>
                  <a:lnTo>
                    <a:pt x="796205" y="15521"/>
                  </a:lnTo>
                  <a:lnTo>
                    <a:pt x="749538" y="6981"/>
                  </a:lnTo>
                  <a:lnTo>
                    <a:pt x="701773" y="1766"/>
                  </a:lnTo>
                  <a:lnTo>
                    <a:pt x="653034" y="0"/>
                  </a:lnTo>
                  <a:close/>
                </a:path>
              </a:pathLst>
            </a:custGeom>
            <a:solidFill>
              <a:srgbClr val="86B7E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8982456" y="2200655"/>
            <a:ext cx="2286000" cy="1303020"/>
            <a:chOff x="8982456" y="2200655"/>
            <a:chExt cx="2286000" cy="1303020"/>
          </a:xfrm>
        </p:grpSpPr>
        <p:sp>
          <p:nvSpPr>
            <p:cNvPr id="10" name="object 10"/>
            <p:cNvSpPr/>
            <p:nvPr/>
          </p:nvSpPr>
          <p:spPr>
            <a:xfrm>
              <a:off x="8988552" y="2206751"/>
              <a:ext cx="2273935" cy="1290955"/>
            </a:xfrm>
            <a:custGeom>
              <a:avLst/>
              <a:gdLst/>
              <a:ahLst/>
              <a:cxnLst/>
              <a:rect l="l" t="t" r="r" b="b"/>
              <a:pathLst>
                <a:path w="2273934" h="1290954">
                  <a:moveTo>
                    <a:pt x="0" y="646938"/>
                  </a:moveTo>
                  <a:lnTo>
                    <a:pt x="1791" y="598885"/>
                  </a:lnTo>
                  <a:lnTo>
                    <a:pt x="7080" y="551791"/>
                  </a:lnTo>
                  <a:lnTo>
                    <a:pt x="15740" y="505780"/>
                  </a:lnTo>
                  <a:lnTo>
                    <a:pt x="27647" y="460977"/>
                  </a:lnTo>
                  <a:lnTo>
                    <a:pt x="42672" y="417507"/>
                  </a:lnTo>
                  <a:lnTo>
                    <a:pt x="60691" y="375494"/>
                  </a:lnTo>
                  <a:lnTo>
                    <a:pt x="81576" y="335063"/>
                  </a:lnTo>
                  <a:lnTo>
                    <a:pt x="105202" y="296337"/>
                  </a:lnTo>
                  <a:lnTo>
                    <a:pt x="131443" y="259442"/>
                  </a:lnTo>
                  <a:lnTo>
                    <a:pt x="160171" y="224503"/>
                  </a:lnTo>
                  <a:lnTo>
                    <a:pt x="191261" y="191643"/>
                  </a:lnTo>
                  <a:lnTo>
                    <a:pt x="224587" y="160986"/>
                  </a:lnTo>
                  <a:lnTo>
                    <a:pt x="260023" y="132659"/>
                  </a:lnTo>
                  <a:lnTo>
                    <a:pt x="297441" y="106785"/>
                  </a:lnTo>
                  <a:lnTo>
                    <a:pt x="336716" y="83488"/>
                  </a:lnTo>
                  <a:lnTo>
                    <a:pt x="377722" y="62894"/>
                  </a:lnTo>
                  <a:lnTo>
                    <a:pt x="420333" y="45126"/>
                  </a:lnTo>
                  <a:lnTo>
                    <a:pt x="464422" y="30310"/>
                  </a:lnTo>
                  <a:lnTo>
                    <a:pt x="509862" y="18569"/>
                  </a:lnTo>
                  <a:lnTo>
                    <a:pt x="556529" y="10029"/>
                  </a:lnTo>
                  <a:lnTo>
                    <a:pt x="604294" y="4814"/>
                  </a:lnTo>
                  <a:lnTo>
                    <a:pt x="653033" y="3048"/>
                  </a:lnTo>
                  <a:lnTo>
                    <a:pt x="701773" y="4814"/>
                  </a:lnTo>
                  <a:lnTo>
                    <a:pt x="749538" y="10029"/>
                  </a:lnTo>
                  <a:lnTo>
                    <a:pt x="796205" y="18569"/>
                  </a:lnTo>
                  <a:lnTo>
                    <a:pt x="841645" y="30310"/>
                  </a:lnTo>
                  <a:lnTo>
                    <a:pt x="885734" y="45126"/>
                  </a:lnTo>
                  <a:lnTo>
                    <a:pt x="928345" y="62894"/>
                  </a:lnTo>
                  <a:lnTo>
                    <a:pt x="969351" y="83488"/>
                  </a:lnTo>
                  <a:lnTo>
                    <a:pt x="1008626" y="106785"/>
                  </a:lnTo>
                  <a:lnTo>
                    <a:pt x="1046044" y="132659"/>
                  </a:lnTo>
                  <a:lnTo>
                    <a:pt x="1081480" y="160986"/>
                  </a:lnTo>
                  <a:lnTo>
                    <a:pt x="1114805" y="191643"/>
                  </a:lnTo>
                  <a:lnTo>
                    <a:pt x="1145896" y="224503"/>
                  </a:lnTo>
                  <a:lnTo>
                    <a:pt x="1174624" y="259442"/>
                  </a:lnTo>
                  <a:lnTo>
                    <a:pt x="1200865" y="296337"/>
                  </a:lnTo>
                  <a:lnTo>
                    <a:pt x="1224491" y="335063"/>
                  </a:lnTo>
                  <a:lnTo>
                    <a:pt x="1245376" y="375494"/>
                  </a:lnTo>
                  <a:lnTo>
                    <a:pt x="1263395" y="417507"/>
                  </a:lnTo>
                  <a:lnTo>
                    <a:pt x="1278420" y="460977"/>
                  </a:lnTo>
                  <a:lnTo>
                    <a:pt x="1290327" y="505780"/>
                  </a:lnTo>
                  <a:lnTo>
                    <a:pt x="1298987" y="551791"/>
                  </a:lnTo>
                  <a:lnTo>
                    <a:pt x="1304276" y="598885"/>
                  </a:lnTo>
                  <a:lnTo>
                    <a:pt x="1306068" y="646938"/>
                  </a:lnTo>
                  <a:lnTo>
                    <a:pt x="1304276" y="694990"/>
                  </a:lnTo>
                  <a:lnTo>
                    <a:pt x="1298987" y="742084"/>
                  </a:lnTo>
                  <a:lnTo>
                    <a:pt x="1290327" y="788095"/>
                  </a:lnTo>
                  <a:lnTo>
                    <a:pt x="1278420" y="832898"/>
                  </a:lnTo>
                  <a:lnTo>
                    <a:pt x="1263395" y="876368"/>
                  </a:lnTo>
                  <a:lnTo>
                    <a:pt x="1245376" y="918381"/>
                  </a:lnTo>
                  <a:lnTo>
                    <a:pt x="1224491" y="958812"/>
                  </a:lnTo>
                  <a:lnTo>
                    <a:pt x="1200865" y="997538"/>
                  </a:lnTo>
                  <a:lnTo>
                    <a:pt x="1174624" y="1034433"/>
                  </a:lnTo>
                  <a:lnTo>
                    <a:pt x="1145896" y="1069372"/>
                  </a:lnTo>
                  <a:lnTo>
                    <a:pt x="1114806" y="1102232"/>
                  </a:lnTo>
                  <a:lnTo>
                    <a:pt x="1081480" y="1132889"/>
                  </a:lnTo>
                  <a:lnTo>
                    <a:pt x="1046044" y="1161216"/>
                  </a:lnTo>
                  <a:lnTo>
                    <a:pt x="1008626" y="1187090"/>
                  </a:lnTo>
                  <a:lnTo>
                    <a:pt x="969351" y="1210387"/>
                  </a:lnTo>
                  <a:lnTo>
                    <a:pt x="928345" y="1230981"/>
                  </a:lnTo>
                  <a:lnTo>
                    <a:pt x="885734" y="1248749"/>
                  </a:lnTo>
                  <a:lnTo>
                    <a:pt x="841645" y="1263565"/>
                  </a:lnTo>
                  <a:lnTo>
                    <a:pt x="796205" y="1275306"/>
                  </a:lnTo>
                  <a:lnTo>
                    <a:pt x="749538" y="1283846"/>
                  </a:lnTo>
                  <a:lnTo>
                    <a:pt x="701773" y="1289061"/>
                  </a:lnTo>
                  <a:lnTo>
                    <a:pt x="653033" y="1290827"/>
                  </a:lnTo>
                  <a:lnTo>
                    <a:pt x="604294" y="1289061"/>
                  </a:lnTo>
                  <a:lnTo>
                    <a:pt x="556529" y="1283846"/>
                  </a:lnTo>
                  <a:lnTo>
                    <a:pt x="509862" y="1275306"/>
                  </a:lnTo>
                  <a:lnTo>
                    <a:pt x="464422" y="1263565"/>
                  </a:lnTo>
                  <a:lnTo>
                    <a:pt x="420333" y="1248749"/>
                  </a:lnTo>
                  <a:lnTo>
                    <a:pt x="377722" y="1230981"/>
                  </a:lnTo>
                  <a:lnTo>
                    <a:pt x="336716" y="1210387"/>
                  </a:lnTo>
                  <a:lnTo>
                    <a:pt x="297441" y="1187090"/>
                  </a:lnTo>
                  <a:lnTo>
                    <a:pt x="260023" y="1161216"/>
                  </a:lnTo>
                  <a:lnTo>
                    <a:pt x="224587" y="1132889"/>
                  </a:lnTo>
                  <a:lnTo>
                    <a:pt x="191261" y="1102232"/>
                  </a:lnTo>
                  <a:lnTo>
                    <a:pt x="160171" y="1069372"/>
                  </a:lnTo>
                  <a:lnTo>
                    <a:pt x="131443" y="1034433"/>
                  </a:lnTo>
                  <a:lnTo>
                    <a:pt x="105202" y="997538"/>
                  </a:lnTo>
                  <a:lnTo>
                    <a:pt x="81576" y="958812"/>
                  </a:lnTo>
                  <a:lnTo>
                    <a:pt x="60691" y="918381"/>
                  </a:lnTo>
                  <a:lnTo>
                    <a:pt x="42672" y="876368"/>
                  </a:lnTo>
                  <a:lnTo>
                    <a:pt x="27647" y="832898"/>
                  </a:lnTo>
                  <a:lnTo>
                    <a:pt x="15740" y="788095"/>
                  </a:lnTo>
                  <a:lnTo>
                    <a:pt x="7080" y="742084"/>
                  </a:lnTo>
                  <a:lnTo>
                    <a:pt x="1791" y="694990"/>
                  </a:lnTo>
                  <a:lnTo>
                    <a:pt x="0" y="646938"/>
                  </a:lnTo>
                  <a:close/>
                </a:path>
                <a:path w="2273934" h="1290954">
                  <a:moveTo>
                    <a:pt x="969264" y="643889"/>
                  </a:moveTo>
                  <a:lnTo>
                    <a:pt x="971052" y="595837"/>
                  </a:lnTo>
                  <a:lnTo>
                    <a:pt x="976334" y="548743"/>
                  </a:lnTo>
                  <a:lnTo>
                    <a:pt x="984984" y="502732"/>
                  </a:lnTo>
                  <a:lnTo>
                    <a:pt x="996875" y="457929"/>
                  </a:lnTo>
                  <a:lnTo>
                    <a:pt x="1011882" y="414459"/>
                  </a:lnTo>
                  <a:lnTo>
                    <a:pt x="1029878" y="372446"/>
                  </a:lnTo>
                  <a:lnTo>
                    <a:pt x="1050737" y="332015"/>
                  </a:lnTo>
                  <a:lnTo>
                    <a:pt x="1074334" y="293289"/>
                  </a:lnTo>
                  <a:lnTo>
                    <a:pt x="1100542" y="256394"/>
                  </a:lnTo>
                  <a:lnTo>
                    <a:pt x="1129235" y="221455"/>
                  </a:lnTo>
                  <a:lnTo>
                    <a:pt x="1160287" y="188595"/>
                  </a:lnTo>
                  <a:lnTo>
                    <a:pt x="1193573" y="157938"/>
                  </a:lnTo>
                  <a:lnTo>
                    <a:pt x="1228966" y="129611"/>
                  </a:lnTo>
                  <a:lnTo>
                    <a:pt x="1266340" y="103737"/>
                  </a:lnTo>
                  <a:lnTo>
                    <a:pt x="1305570" y="80440"/>
                  </a:lnTo>
                  <a:lnTo>
                    <a:pt x="1346528" y="59846"/>
                  </a:lnTo>
                  <a:lnTo>
                    <a:pt x="1389090" y="42078"/>
                  </a:lnTo>
                  <a:lnTo>
                    <a:pt x="1433129" y="27262"/>
                  </a:lnTo>
                  <a:lnTo>
                    <a:pt x="1478519" y="15521"/>
                  </a:lnTo>
                  <a:lnTo>
                    <a:pt x="1525134" y="6981"/>
                  </a:lnTo>
                  <a:lnTo>
                    <a:pt x="1572848" y="1766"/>
                  </a:lnTo>
                  <a:lnTo>
                    <a:pt x="1621536" y="0"/>
                  </a:lnTo>
                  <a:lnTo>
                    <a:pt x="1670223" y="1766"/>
                  </a:lnTo>
                  <a:lnTo>
                    <a:pt x="1717937" y="6981"/>
                  </a:lnTo>
                  <a:lnTo>
                    <a:pt x="1764552" y="15521"/>
                  </a:lnTo>
                  <a:lnTo>
                    <a:pt x="1809942" y="27262"/>
                  </a:lnTo>
                  <a:lnTo>
                    <a:pt x="1853981" y="42078"/>
                  </a:lnTo>
                  <a:lnTo>
                    <a:pt x="1896543" y="59846"/>
                  </a:lnTo>
                  <a:lnTo>
                    <a:pt x="1937501" y="80440"/>
                  </a:lnTo>
                  <a:lnTo>
                    <a:pt x="1976731" y="103737"/>
                  </a:lnTo>
                  <a:lnTo>
                    <a:pt x="2014105" y="129611"/>
                  </a:lnTo>
                  <a:lnTo>
                    <a:pt x="2049498" y="157938"/>
                  </a:lnTo>
                  <a:lnTo>
                    <a:pt x="2082784" y="188595"/>
                  </a:lnTo>
                  <a:lnTo>
                    <a:pt x="2113836" y="221455"/>
                  </a:lnTo>
                  <a:lnTo>
                    <a:pt x="2142529" y="256394"/>
                  </a:lnTo>
                  <a:lnTo>
                    <a:pt x="2168737" y="293289"/>
                  </a:lnTo>
                  <a:lnTo>
                    <a:pt x="2192334" y="332015"/>
                  </a:lnTo>
                  <a:lnTo>
                    <a:pt x="2213193" y="372446"/>
                  </a:lnTo>
                  <a:lnTo>
                    <a:pt x="2231189" y="414459"/>
                  </a:lnTo>
                  <a:lnTo>
                    <a:pt x="2246196" y="457929"/>
                  </a:lnTo>
                  <a:lnTo>
                    <a:pt x="2258087" y="502732"/>
                  </a:lnTo>
                  <a:lnTo>
                    <a:pt x="2266737" y="548743"/>
                  </a:lnTo>
                  <a:lnTo>
                    <a:pt x="2272019" y="595837"/>
                  </a:lnTo>
                  <a:lnTo>
                    <a:pt x="2273807" y="643889"/>
                  </a:lnTo>
                  <a:lnTo>
                    <a:pt x="2272019" y="691942"/>
                  </a:lnTo>
                  <a:lnTo>
                    <a:pt x="2266737" y="739036"/>
                  </a:lnTo>
                  <a:lnTo>
                    <a:pt x="2258087" y="785047"/>
                  </a:lnTo>
                  <a:lnTo>
                    <a:pt x="2246196" y="829850"/>
                  </a:lnTo>
                  <a:lnTo>
                    <a:pt x="2231189" y="873320"/>
                  </a:lnTo>
                  <a:lnTo>
                    <a:pt x="2213193" y="915333"/>
                  </a:lnTo>
                  <a:lnTo>
                    <a:pt x="2192334" y="955764"/>
                  </a:lnTo>
                  <a:lnTo>
                    <a:pt x="2168737" y="994490"/>
                  </a:lnTo>
                  <a:lnTo>
                    <a:pt x="2142529" y="1031385"/>
                  </a:lnTo>
                  <a:lnTo>
                    <a:pt x="2113836" y="1066324"/>
                  </a:lnTo>
                  <a:lnTo>
                    <a:pt x="2082784" y="1099184"/>
                  </a:lnTo>
                  <a:lnTo>
                    <a:pt x="2049498" y="1129841"/>
                  </a:lnTo>
                  <a:lnTo>
                    <a:pt x="2014105" y="1158168"/>
                  </a:lnTo>
                  <a:lnTo>
                    <a:pt x="1976731" y="1184042"/>
                  </a:lnTo>
                  <a:lnTo>
                    <a:pt x="1937501" y="1207339"/>
                  </a:lnTo>
                  <a:lnTo>
                    <a:pt x="1896543" y="1227933"/>
                  </a:lnTo>
                  <a:lnTo>
                    <a:pt x="1853981" y="1245701"/>
                  </a:lnTo>
                  <a:lnTo>
                    <a:pt x="1809942" y="1260517"/>
                  </a:lnTo>
                  <a:lnTo>
                    <a:pt x="1764552" y="1272258"/>
                  </a:lnTo>
                  <a:lnTo>
                    <a:pt x="1717937" y="1280798"/>
                  </a:lnTo>
                  <a:lnTo>
                    <a:pt x="1670223" y="1286013"/>
                  </a:lnTo>
                  <a:lnTo>
                    <a:pt x="1621536" y="1287780"/>
                  </a:lnTo>
                  <a:lnTo>
                    <a:pt x="1572848" y="1286013"/>
                  </a:lnTo>
                  <a:lnTo>
                    <a:pt x="1525134" y="1280798"/>
                  </a:lnTo>
                  <a:lnTo>
                    <a:pt x="1478519" y="1272258"/>
                  </a:lnTo>
                  <a:lnTo>
                    <a:pt x="1433129" y="1260517"/>
                  </a:lnTo>
                  <a:lnTo>
                    <a:pt x="1389090" y="1245701"/>
                  </a:lnTo>
                  <a:lnTo>
                    <a:pt x="1346528" y="1227933"/>
                  </a:lnTo>
                  <a:lnTo>
                    <a:pt x="1305570" y="1207339"/>
                  </a:lnTo>
                  <a:lnTo>
                    <a:pt x="1266340" y="1184042"/>
                  </a:lnTo>
                  <a:lnTo>
                    <a:pt x="1228966" y="1158168"/>
                  </a:lnTo>
                  <a:lnTo>
                    <a:pt x="1193573" y="1129841"/>
                  </a:lnTo>
                  <a:lnTo>
                    <a:pt x="1160287" y="1099185"/>
                  </a:lnTo>
                  <a:lnTo>
                    <a:pt x="1129235" y="1066324"/>
                  </a:lnTo>
                  <a:lnTo>
                    <a:pt x="1100542" y="1031385"/>
                  </a:lnTo>
                  <a:lnTo>
                    <a:pt x="1074334" y="994490"/>
                  </a:lnTo>
                  <a:lnTo>
                    <a:pt x="1050737" y="955764"/>
                  </a:lnTo>
                  <a:lnTo>
                    <a:pt x="1029878" y="915333"/>
                  </a:lnTo>
                  <a:lnTo>
                    <a:pt x="1011882" y="873320"/>
                  </a:lnTo>
                  <a:lnTo>
                    <a:pt x="996875" y="829850"/>
                  </a:lnTo>
                  <a:lnTo>
                    <a:pt x="984984" y="785047"/>
                  </a:lnTo>
                  <a:lnTo>
                    <a:pt x="976334" y="739036"/>
                  </a:lnTo>
                  <a:lnTo>
                    <a:pt x="971052" y="691942"/>
                  </a:lnTo>
                  <a:lnTo>
                    <a:pt x="969264" y="643889"/>
                  </a:lnTo>
                  <a:close/>
                </a:path>
              </a:pathLst>
            </a:custGeom>
            <a:ln w="12192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973056" y="2432811"/>
              <a:ext cx="318770" cy="833119"/>
            </a:xfrm>
            <a:custGeom>
              <a:avLst/>
              <a:gdLst/>
              <a:ahLst/>
              <a:cxnLst/>
              <a:rect l="l" t="t" r="r" b="b"/>
              <a:pathLst>
                <a:path w="318770" h="833120">
                  <a:moveTo>
                    <a:pt x="237266" y="722629"/>
                  </a:moveTo>
                  <a:lnTo>
                    <a:pt x="57161" y="722629"/>
                  </a:lnTo>
                  <a:lnTo>
                    <a:pt x="59054" y="728979"/>
                  </a:lnTo>
                  <a:lnTo>
                    <a:pt x="60864" y="742949"/>
                  </a:lnTo>
                  <a:lnTo>
                    <a:pt x="61733" y="749299"/>
                  </a:lnTo>
                  <a:lnTo>
                    <a:pt x="62865" y="756919"/>
                  </a:lnTo>
                  <a:lnTo>
                    <a:pt x="64516" y="768349"/>
                  </a:lnTo>
                  <a:lnTo>
                    <a:pt x="63880" y="772159"/>
                  </a:lnTo>
                  <a:lnTo>
                    <a:pt x="72390" y="779779"/>
                  </a:lnTo>
                  <a:lnTo>
                    <a:pt x="74168" y="782319"/>
                  </a:lnTo>
                  <a:lnTo>
                    <a:pt x="80645" y="788669"/>
                  </a:lnTo>
                  <a:lnTo>
                    <a:pt x="83820" y="789939"/>
                  </a:lnTo>
                  <a:lnTo>
                    <a:pt x="90433" y="791209"/>
                  </a:lnTo>
                  <a:lnTo>
                    <a:pt x="110490" y="791209"/>
                  </a:lnTo>
                  <a:lnTo>
                    <a:pt x="112395" y="792479"/>
                  </a:lnTo>
                  <a:lnTo>
                    <a:pt x="114426" y="792479"/>
                  </a:lnTo>
                  <a:lnTo>
                    <a:pt x="116204" y="793749"/>
                  </a:lnTo>
                  <a:lnTo>
                    <a:pt x="120269" y="796289"/>
                  </a:lnTo>
                  <a:lnTo>
                    <a:pt x="127635" y="801369"/>
                  </a:lnTo>
                  <a:lnTo>
                    <a:pt x="131397" y="806449"/>
                  </a:lnTo>
                  <a:lnTo>
                    <a:pt x="131867" y="806449"/>
                  </a:lnTo>
                  <a:lnTo>
                    <a:pt x="137160" y="812799"/>
                  </a:lnTo>
                  <a:lnTo>
                    <a:pt x="138684" y="814069"/>
                  </a:lnTo>
                  <a:lnTo>
                    <a:pt x="139446" y="816609"/>
                  </a:lnTo>
                  <a:lnTo>
                    <a:pt x="140970" y="817879"/>
                  </a:lnTo>
                  <a:lnTo>
                    <a:pt x="142621" y="820419"/>
                  </a:lnTo>
                  <a:lnTo>
                    <a:pt x="144907" y="820419"/>
                  </a:lnTo>
                  <a:lnTo>
                    <a:pt x="146685" y="821689"/>
                  </a:lnTo>
                  <a:lnTo>
                    <a:pt x="152273" y="826769"/>
                  </a:lnTo>
                  <a:lnTo>
                    <a:pt x="152526" y="828039"/>
                  </a:lnTo>
                  <a:lnTo>
                    <a:pt x="156210" y="833119"/>
                  </a:lnTo>
                  <a:lnTo>
                    <a:pt x="160782" y="833119"/>
                  </a:lnTo>
                  <a:lnTo>
                    <a:pt x="161925" y="831849"/>
                  </a:lnTo>
                  <a:lnTo>
                    <a:pt x="164338" y="828039"/>
                  </a:lnTo>
                  <a:lnTo>
                    <a:pt x="163575" y="824229"/>
                  </a:lnTo>
                  <a:lnTo>
                    <a:pt x="165735" y="820419"/>
                  </a:lnTo>
                  <a:lnTo>
                    <a:pt x="167004" y="817879"/>
                  </a:lnTo>
                  <a:lnTo>
                    <a:pt x="168528" y="816609"/>
                  </a:lnTo>
                  <a:lnTo>
                    <a:pt x="170434" y="812799"/>
                  </a:lnTo>
                  <a:lnTo>
                    <a:pt x="170561" y="810259"/>
                  </a:lnTo>
                  <a:lnTo>
                    <a:pt x="171450" y="808989"/>
                  </a:lnTo>
                  <a:lnTo>
                    <a:pt x="184150" y="789939"/>
                  </a:lnTo>
                  <a:lnTo>
                    <a:pt x="185166" y="787399"/>
                  </a:lnTo>
                  <a:lnTo>
                    <a:pt x="188595" y="783589"/>
                  </a:lnTo>
                  <a:lnTo>
                    <a:pt x="190373" y="782319"/>
                  </a:lnTo>
                  <a:lnTo>
                    <a:pt x="192404" y="779779"/>
                  </a:lnTo>
                  <a:lnTo>
                    <a:pt x="194818" y="778509"/>
                  </a:lnTo>
                  <a:lnTo>
                    <a:pt x="197866" y="777239"/>
                  </a:lnTo>
                  <a:lnTo>
                    <a:pt x="200025" y="774699"/>
                  </a:lnTo>
                  <a:lnTo>
                    <a:pt x="204781" y="769619"/>
                  </a:lnTo>
                  <a:lnTo>
                    <a:pt x="203436" y="769619"/>
                  </a:lnTo>
                  <a:lnTo>
                    <a:pt x="203882" y="768349"/>
                  </a:lnTo>
                  <a:lnTo>
                    <a:pt x="204964" y="768349"/>
                  </a:lnTo>
                  <a:lnTo>
                    <a:pt x="209550" y="764539"/>
                  </a:lnTo>
                  <a:lnTo>
                    <a:pt x="210820" y="763269"/>
                  </a:lnTo>
                  <a:lnTo>
                    <a:pt x="211963" y="760729"/>
                  </a:lnTo>
                  <a:lnTo>
                    <a:pt x="213487" y="759459"/>
                  </a:lnTo>
                  <a:lnTo>
                    <a:pt x="215138" y="756919"/>
                  </a:lnTo>
                  <a:lnTo>
                    <a:pt x="217804" y="755649"/>
                  </a:lnTo>
                  <a:lnTo>
                    <a:pt x="219201" y="753109"/>
                  </a:lnTo>
                  <a:lnTo>
                    <a:pt x="222940" y="745489"/>
                  </a:lnTo>
                  <a:lnTo>
                    <a:pt x="223012" y="742949"/>
                  </a:lnTo>
                  <a:lnTo>
                    <a:pt x="223559" y="741679"/>
                  </a:lnTo>
                  <a:lnTo>
                    <a:pt x="228726" y="737869"/>
                  </a:lnTo>
                  <a:lnTo>
                    <a:pt x="232537" y="732789"/>
                  </a:lnTo>
                  <a:lnTo>
                    <a:pt x="233425" y="731519"/>
                  </a:lnTo>
                  <a:lnTo>
                    <a:pt x="236347" y="725169"/>
                  </a:lnTo>
                  <a:lnTo>
                    <a:pt x="237266" y="722629"/>
                  </a:lnTo>
                  <a:close/>
                </a:path>
                <a:path w="318770" h="833120">
                  <a:moveTo>
                    <a:pt x="204283" y="768916"/>
                  </a:moveTo>
                  <a:lnTo>
                    <a:pt x="203436" y="769619"/>
                  </a:lnTo>
                  <a:lnTo>
                    <a:pt x="204781" y="769619"/>
                  </a:lnTo>
                  <a:lnTo>
                    <a:pt x="204283" y="768916"/>
                  </a:lnTo>
                  <a:close/>
                </a:path>
                <a:path w="318770" h="833120">
                  <a:moveTo>
                    <a:pt x="204964" y="768349"/>
                  </a:moveTo>
                  <a:lnTo>
                    <a:pt x="203882" y="768349"/>
                  </a:lnTo>
                  <a:lnTo>
                    <a:pt x="204283" y="768916"/>
                  </a:lnTo>
                  <a:lnTo>
                    <a:pt x="204964" y="768349"/>
                  </a:lnTo>
                  <a:close/>
                </a:path>
                <a:path w="318770" h="833120">
                  <a:moveTo>
                    <a:pt x="243615" y="704849"/>
                  </a:moveTo>
                  <a:lnTo>
                    <a:pt x="48260" y="704849"/>
                  </a:lnTo>
                  <a:lnTo>
                    <a:pt x="52324" y="713739"/>
                  </a:lnTo>
                  <a:lnTo>
                    <a:pt x="52450" y="715009"/>
                  </a:lnTo>
                  <a:lnTo>
                    <a:pt x="53340" y="717549"/>
                  </a:lnTo>
                  <a:lnTo>
                    <a:pt x="56661" y="723899"/>
                  </a:lnTo>
                  <a:lnTo>
                    <a:pt x="57150" y="723899"/>
                  </a:lnTo>
                  <a:lnTo>
                    <a:pt x="57161" y="722629"/>
                  </a:lnTo>
                  <a:lnTo>
                    <a:pt x="237266" y="722629"/>
                  </a:lnTo>
                  <a:lnTo>
                    <a:pt x="238186" y="720089"/>
                  </a:lnTo>
                  <a:lnTo>
                    <a:pt x="238204" y="718819"/>
                  </a:lnTo>
                  <a:lnTo>
                    <a:pt x="238722" y="718819"/>
                  </a:lnTo>
                  <a:lnTo>
                    <a:pt x="242062" y="713739"/>
                  </a:lnTo>
                  <a:lnTo>
                    <a:pt x="243615" y="704849"/>
                  </a:lnTo>
                  <a:close/>
                </a:path>
                <a:path w="318770" h="833120">
                  <a:moveTo>
                    <a:pt x="147066" y="0"/>
                  </a:moveTo>
                  <a:lnTo>
                    <a:pt x="143764" y="2539"/>
                  </a:lnTo>
                  <a:lnTo>
                    <a:pt x="140970" y="3809"/>
                  </a:lnTo>
                  <a:lnTo>
                    <a:pt x="137160" y="6350"/>
                  </a:lnTo>
                  <a:lnTo>
                    <a:pt x="137007" y="10159"/>
                  </a:lnTo>
                  <a:lnTo>
                    <a:pt x="136905" y="12700"/>
                  </a:lnTo>
                  <a:lnTo>
                    <a:pt x="134239" y="17779"/>
                  </a:lnTo>
                  <a:lnTo>
                    <a:pt x="132461" y="19050"/>
                  </a:lnTo>
                  <a:lnTo>
                    <a:pt x="131445" y="21589"/>
                  </a:lnTo>
                  <a:lnTo>
                    <a:pt x="129794" y="25399"/>
                  </a:lnTo>
                  <a:lnTo>
                    <a:pt x="129921" y="29209"/>
                  </a:lnTo>
                  <a:lnTo>
                    <a:pt x="127635" y="33019"/>
                  </a:lnTo>
                  <a:lnTo>
                    <a:pt x="126365" y="34289"/>
                  </a:lnTo>
                  <a:lnTo>
                    <a:pt x="124841" y="36829"/>
                  </a:lnTo>
                  <a:lnTo>
                    <a:pt x="123825" y="38099"/>
                  </a:lnTo>
                  <a:lnTo>
                    <a:pt x="122174" y="41909"/>
                  </a:lnTo>
                  <a:lnTo>
                    <a:pt x="122300" y="46989"/>
                  </a:lnTo>
                  <a:lnTo>
                    <a:pt x="120015" y="49529"/>
                  </a:lnTo>
                  <a:lnTo>
                    <a:pt x="112395" y="60959"/>
                  </a:lnTo>
                  <a:lnTo>
                    <a:pt x="111760" y="63499"/>
                  </a:lnTo>
                  <a:lnTo>
                    <a:pt x="109982" y="72389"/>
                  </a:lnTo>
                  <a:lnTo>
                    <a:pt x="108585" y="74929"/>
                  </a:lnTo>
                  <a:lnTo>
                    <a:pt x="107569" y="77469"/>
                  </a:lnTo>
                  <a:lnTo>
                    <a:pt x="105791" y="78739"/>
                  </a:lnTo>
                  <a:lnTo>
                    <a:pt x="104775" y="80009"/>
                  </a:lnTo>
                  <a:lnTo>
                    <a:pt x="103886" y="82549"/>
                  </a:lnTo>
                  <a:lnTo>
                    <a:pt x="103886" y="85089"/>
                  </a:lnTo>
                  <a:lnTo>
                    <a:pt x="102870" y="86359"/>
                  </a:lnTo>
                  <a:lnTo>
                    <a:pt x="100711" y="90169"/>
                  </a:lnTo>
                  <a:lnTo>
                    <a:pt x="97282" y="93979"/>
                  </a:lnTo>
                  <a:lnTo>
                    <a:pt x="95250" y="97789"/>
                  </a:lnTo>
                  <a:lnTo>
                    <a:pt x="91535" y="105409"/>
                  </a:lnTo>
                  <a:lnTo>
                    <a:pt x="89785" y="106679"/>
                  </a:lnTo>
                  <a:lnTo>
                    <a:pt x="85725" y="111759"/>
                  </a:lnTo>
                  <a:lnTo>
                    <a:pt x="84200" y="115569"/>
                  </a:lnTo>
                  <a:lnTo>
                    <a:pt x="83693" y="119379"/>
                  </a:lnTo>
                  <a:lnTo>
                    <a:pt x="80010" y="123189"/>
                  </a:lnTo>
                  <a:lnTo>
                    <a:pt x="78359" y="124459"/>
                  </a:lnTo>
                  <a:lnTo>
                    <a:pt x="76200" y="125729"/>
                  </a:lnTo>
                  <a:lnTo>
                    <a:pt x="74295" y="126999"/>
                  </a:lnTo>
                  <a:lnTo>
                    <a:pt x="72038" y="133349"/>
                  </a:lnTo>
                  <a:lnTo>
                    <a:pt x="71008" y="137159"/>
                  </a:lnTo>
                  <a:lnTo>
                    <a:pt x="69240" y="139699"/>
                  </a:lnTo>
                  <a:lnTo>
                    <a:pt x="64770" y="143509"/>
                  </a:lnTo>
                  <a:lnTo>
                    <a:pt x="64135" y="146049"/>
                  </a:lnTo>
                  <a:lnTo>
                    <a:pt x="62357" y="153669"/>
                  </a:lnTo>
                  <a:lnTo>
                    <a:pt x="59944" y="158749"/>
                  </a:lnTo>
                  <a:lnTo>
                    <a:pt x="58039" y="160019"/>
                  </a:lnTo>
                  <a:lnTo>
                    <a:pt x="57150" y="162559"/>
                  </a:lnTo>
                  <a:lnTo>
                    <a:pt x="55499" y="166369"/>
                  </a:lnTo>
                  <a:lnTo>
                    <a:pt x="54610" y="170179"/>
                  </a:lnTo>
                  <a:lnTo>
                    <a:pt x="41275" y="210819"/>
                  </a:lnTo>
                  <a:lnTo>
                    <a:pt x="41148" y="212089"/>
                  </a:lnTo>
                  <a:lnTo>
                    <a:pt x="40004" y="214629"/>
                  </a:lnTo>
                  <a:lnTo>
                    <a:pt x="36195" y="219709"/>
                  </a:lnTo>
                  <a:lnTo>
                    <a:pt x="35560" y="222249"/>
                  </a:lnTo>
                  <a:lnTo>
                    <a:pt x="33782" y="229869"/>
                  </a:lnTo>
                  <a:lnTo>
                    <a:pt x="32385" y="233679"/>
                  </a:lnTo>
                  <a:lnTo>
                    <a:pt x="31369" y="234949"/>
                  </a:lnTo>
                  <a:lnTo>
                    <a:pt x="29464" y="236219"/>
                  </a:lnTo>
                  <a:lnTo>
                    <a:pt x="28575" y="238759"/>
                  </a:lnTo>
                  <a:lnTo>
                    <a:pt x="26924" y="242569"/>
                  </a:lnTo>
                  <a:lnTo>
                    <a:pt x="26035" y="246379"/>
                  </a:lnTo>
                  <a:lnTo>
                    <a:pt x="24129" y="252729"/>
                  </a:lnTo>
                  <a:lnTo>
                    <a:pt x="23241" y="253999"/>
                  </a:lnTo>
                  <a:lnTo>
                    <a:pt x="22225" y="259079"/>
                  </a:lnTo>
                  <a:lnTo>
                    <a:pt x="21717" y="262889"/>
                  </a:lnTo>
                  <a:lnTo>
                    <a:pt x="20954" y="265429"/>
                  </a:lnTo>
                  <a:lnTo>
                    <a:pt x="20447" y="267969"/>
                  </a:lnTo>
                  <a:lnTo>
                    <a:pt x="19430" y="269239"/>
                  </a:lnTo>
                  <a:lnTo>
                    <a:pt x="19050" y="271779"/>
                  </a:lnTo>
                  <a:lnTo>
                    <a:pt x="18161" y="275589"/>
                  </a:lnTo>
                  <a:lnTo>
                    <a:pt x="18034" y="279399"/>
                  </a:lnTo>
                  <a:lnTo>
                    <a:pt x="17145" y="283209"/>
                  </a:lnTo>
                  <a:lnTo>
                    <a:pt x="16128" y="287019"/>
                  </a:lnTo>
                  <a:lnTo>
                    <a:pt x="13335" y="294639"/>
                  </a:lnTo>
                  <a:lnTo>
                    <a:pt x="12700" y="300989"/>
                  </a:lnTo>
                  <a:lnTo>
                    <a:pt x="10033" y="317499"/>
                  </a:lnTo>
                  <a:lnTo>
                    <a:pt x="9525" y="318769"/>
                  </a:lnTo>
                  <a:lnTo>
                    <a:pt x="8763" y="321309"/>
                  </a:lnTo>
                  <a:lnTo>
                    <a:pt x="8127" y="323849"/>
                  </a:lnTo>
                  <a:lnTo>
                    <a:pt x="6221" y="334009"/>
                  </a:lnTo>
                  <a:lnTo>
                    <a:pt x="5857" y="335279"/>
                  </a:lnTo>
                  <a:lnTo>
                    <a:pt x="5423" y="336549"/>
                  </a:lnTo>
                  <a:lnTo>
                    <a:pt x="3810" y="341629"/>
                  </a:lnTo>
                  <a:lnTo>
                    <a:pt x="3175" y="347979"/>
                  </a:lnTo>
                  <a:lnTo>
                    <a:pt x="2794" y="353059"/>
                  </a:lnTo>
                  <a:lnTo>
                    <a:pt x="1524" y="361949"/>
                  </a:lnTo>
                  <a:lnTo>
                    <a:pt x="0" y="364489"/>
                  </a:lnTo>
                  <a:lnTo>
                    <a:pt x="96" y="407669"/>
                  </a:lnTo>
                  <a:lnTo>
                    <a:pt x="190" y="427989"/>
                  </a:lnTo>
                  <a:lnTo>
                    <a:pt x="404" y="458469"/>
                  </a:lnTo>
                  <a:lnTo>
                    <a:pt x="476" y="468629"/>
                  </a:lnTo>
                  <a:lnTo>
                    <a:pt x="714" y="488949"/>
                  </a:lnTo>
                  <a:lnTo>
                    <a:pt x="833" y="499109"/>
                  </a:lnTo>
                  <a:lnTo>
                    <a:pt x="952" y="509269"/>
                  </a:lnTo>
                  <a:lnTo>
                    <a:pt x="1056" y="518159"/>
                  </a:lnTo>
                  <a:lnTo>
                    <a:pt x="2032" y="579119"/>
                  </a:lnTo>
                  <a:lnTo>
                    <a:pt x="3428" y="581659"/>
                  </a:lnTo>
                  <a:lnTo>
                    <a:pt x="9525" y="585469"/>
                  </a:lnTo>
                  <a:lnTo>
                    <a:pt x="13080" y="589279"/>
                  </a:lnTo>
                  <a:lnTo>
                    <a:pt x="20954" y="593089"/>
                  </a:lnTo>
                  <a:lnTo>
                    <a:pt x="23495" y="596899"/>
                  </a:lnTo>
                  <a:lnTo>
                    <a:pt x="27686" y="600709"/>
                  </a:lnTo>
                  <a:lnTo>
                    <a:pt x="29914" y="612139"/>
                  </a:lnTo>
                  <a:lnTo>
                    <a:pt x="30622" y="614679"/>
                  </a:lnTo>
                  <a:lnTo>
                    <a:pt x="31736" y="618489"/>
                  </a:lnTo>
                  <a:lnTo>
                    <a:pt x="38100" y="637539"/>
                  </a:lnTo>
                  <a:lnTo>
                    <a:pt x="39506" y="652779"/>
                  </a:lnTo>
                  <a:lnTo>
                    <a:pt x="40528" y="662939"/>
                  </a:lnTo>
                  <a:lnTo>
                    <a:pt x="41910" y="671829"/>
                  </a:lnTo>
                  <a:lnTo>
                    <a:pt x="42545" y="674369"/>
                  </a:lnTo>
                  <a:lnTo>
                    <a:pt x="43434" y="678179"/>
                  </a:lnTo>
                  <a:lnTo>
                    <a:pt x="43815" y="680719"/>
                  </a:lnTo>
                  <a:lnTo>
                    <a:pt x="44703" y="687069"/>
                  </a:lnTo>
                  <a:lnTo>
                    <a:pt x="44703" y="693419"/>
                  </a:lnTo>
                  <a:lnTo>
                    <a:pt x="45720" y="699769"/>
                  </a:lnTo>
                  <a:lnTo>
                    <a:pt x="46736" y="707389"/>
                  </a:lnTo>
                  <a:lnTo>
                    <a:pt x="48260" y="704849"/>
                  </a:lnTo>
                  <a:lnTo>
                    <a:pt x="243615" y="704849"/>
                  </a:lnTo>
                  <a:lnTo>
                    <a:pt x="243919" y="703579"/>
                  </a:lnTo>
                  <a:lnTo>
                    <a:pt x="244723" y="702309"/>
                  </a:lnTo>
                  <a:lnTo>
                    <a:pt x="247776" y="694689"/>
                  </a:lnTo>
                  <a:lnTo>
                    <a:pt x="248539" y="692149"/>
                  </a:lnTo>
                  <a:lnTo>
                    <a:pt x="248920" y="689609"/>
                  </a:lnTo>
                  <a:lnTo>
                    <a:pt x="249682" y="687069"/>
                  </a:lnTo>
                  <a:lnTo>
                    <a:pt x="256032" y="668019"/>
                  </a:lnTo>
                  <a:lnTo>
                    <a:pt x="256794" y="665479"/>
                  </a:lnTo>
                  <a:lnTo>
                    <a:pt x="257301" y="664209"/>
                  </a:lnTo>
                  <a:lnTo>
                    <a:pt x="257937" y="661669"/>
                  </a:lnTo>
                  <a:lnTo>
                    <a:pt x="258445" y="659129"/>
                  </a:lnTo>
                  <a:lnTo>
                    <a:pt x="260350" y="652779"/>
                  </a:lnTo>
                  <a:lnTo>
                    <a:pt x="262254" y="648969"/>
                  </a:lnTo>
                  <a:lnTo>
                    <a:pt x="263017" y="645159"/>
                  </a:lnTo>
                  <a:lnTo>
                    <a:pt x="265148" y="631189"/>
                  </a:lnTo>
                  <a:lnTo>
                    <a:pt x="265719" y="631189"/>
                  </a:lnTo>
                  <a:lnTo>
                    <a:pt x="266826" y="627379"/>
                  </a:lnTo>
                  <a:lnTo>
                    <a:pt x="267589" y="624839"/>
                  </a:lnTo>
                  <a:lnTo>
                    <a:pt x="267843" y="621029"/>
                  </a:lnTo>
                  <a:lnTo>
                    <a:pt x="268732" y="618489"/>
                  </a:lnTo>
                  <a:lnTo>
                    <a:pt x="269113" y="615949"/>
                  </a:lnTo>
                  <a:lnTo>
                    <a:pt x="270001" y="614679"/>
                  </a:lnTo>
                  <a:lnTo>
                    <a:pt x="270637" y="612139"/>
                  </a:lnTo>
                  <a:lnTo>
                    <a:pt x="272669" y="604519"/>
                  </a:lnTo>
                  <a:lnTo>
                    <a:pt x="274447" y="596899"/>
                  </a:lnTo>
                  <a:lnTo>
                    <a:pt x="276987" y="586739"/>
                  </a:lnTo>
                  <a:lnTo>
                    <a:pt x="277368" y="584199"/>
                  </a:lnTo>
                  <a:lnTo>
                    <a:pt x="278257" y="581659"/>
                  </a:lnTo>
                  <a:lnTo>
                    <a:pt x="284607" y="562609"/>
                  </a:lnTo>
                  <a:lnTo>
                    <a:pt x="285369" y="561339"/>
                  </a:lnTo>
                  <a:lnTo>
                    <a:pt x="286512" y="556259"/>
                  </a:lnTo>
                  <a:lnTo>
                    <a:pt x="286766" y="553719"/>
                  </a:lnTo>
                  <a:lnTo>
                    <a:pt x="288798" y="548639"/>
                  </a:lnTo>
                  <a:lnTo>
                    <a:pt x="290449" y="546099"/>
                  </a:lnTo>
                  <a:lnTo>
                    <a:pt x="291592" y="543559"/>
                  </a:lnTo>
                  <a:lnTo>
                    <a:pt x="292989" y="539749"/>
                  </a:lnTo>
                  <a:lnTo>
                    <a:pt x="294132" y="535939"/>
                  </a:lnTo>
                  <a:lnTo>
                    <a:pt x="297942" y="524509"/>
                  </a:lnTo>
                  <a:lnTo>
                    <a:pt x="298830" y="523239"/>
                  </a:lnTo>
                  <a:lnTo>
                    <a:pt x="299212" y="520699"/>
                  </a:lnTo>
                  <a:lnTo>
                    <a:pt x="299847" y="518159"/>
                  </a:lnTo>
                  <a:lnTo>
                    <a:pt x="300100" y="514349"/>
                  </a:lnTo>
                  <a:lnTo>
                    <a:pt x="302005" y="509269"/>
                  </a:lnTo>
                  <a:lnTo>
                    <a:pt x="303911" y="506729"/>
                  </a:lnTo>
                  <a:lnTo>
                    <a:pt x="304926" y="504189"/>
                  </a:lnTo>
                  <a:lnTo>
                    <a:pt x="305816" y="501649"/>
                  </a:lnTo>
                  <a:lnTo>
                    <a:pt x="306070" y="499109"/>
                  </a:lnTo>
                  <a:lnTo>
                    <a:pt x="307975" y="492759"/>
                  </a:lnTo>
                  <a:lnTo>
                    <a:pt x="317928" y="427989"/>
                  </a:lnTo>
                  <a:lnTo>
                    <a:pt x="318547" y="407669"/>
                  </a:lnTo>
                  <a:lnTo>
                    <a:pt x="318071" y="384809"/>
                  </a:lnTo>
                  <a:lnTo>
                    <a:pt x="316229" y="342899"/>
                  </a:lnTo>
                  <a:lnTo>
                    <a:pt x="314960" y="340359"/>
                  </a:lnTo>
                  <a:lnTo>
                    <a:pt x="314451" y="337819"/>
                  </a:lnTo>
                  <a:lnTo>
                    <a:pt x="313690" y="335279"/>
                  </a:lnTo>
                  <a:lnTo>
                    <a:pt x="313309" y="331469"/>
                  </a:lnTo>
                  <a:lnTo>
                    <a:pt x="311403" y="325119"/>
                  </a:lnTo>
                  <a:lnTo>
                    <a:pt x="309625" y="321309"/>
                  </a:lnTo>
                  <a:lnTo>
                    <a:pt x="306957" y="309879"/>
                  </a:lnTo>
                  <a:lnTo>
                    <a:pt x="306593" y="308609"/>
                  </a:lnTo>
                  <a:lnTo>
                    <a:pt x="305397" y="306069"/>
                  </a:lnTo>
                  <a:lnTo>
                    <a:pt x="300227" y="292099"/>
                  </a:lnTo>
                  <a:lnTo>
                    <a:pt x="300227" y="289559"/>
                  </a:lnTo>
                  <a:lnTo>
                    <a:pt x="296418" y="279399"/>
                  </a:lnTo>
                  <a:lnTo>
                    <a:pt x="291846" y="274319"/>
                  </a:lnTo>
                  <a:lnTo>
                    <a:pt x="289687" y="267969"/>
                  </a:lnTo>
                  <a:lnTo>
                    <a:pt x="286129" y="256539"/>
                  </a:lnTo>
                  <a:lnTo>
                    <a:pt x="285561" y="256539"/>
                  </a:lnTo>
                  <a:lnTo>
                    <a:pt x="282067" y="248919"/>
                  </a:lnTo>
                  <a:lnTo>
                    <a:pt x="279029" y="240394"/>
                  </a:lnTo>
                  <a:lnTo>
                    <a:pt x="276351" y="234949"/>
                  </a:lnTo>
                  <a:lnTo>
                    <a:pt x="275209" y="229869"/>
                  </a:lnTo>
                  <a:lnTo>
                    <a:pt x="274700" y="224789"/>
                  </a:lnTo>
                  <a:lnTo>
                    <a:pt x="272542" y="219709"/>
                  </a:lnTo>
                  <a:lnTo>
                    <a:pt x="271399" y="217169"/>
                  </a:lnTo>
                  <a:lnTo>
                    <a:pt x="269748" y="214629"/>
                  </a:lnTo>
                  <a:lnTo>
                    <a:pt x="267208" y="208279"/>
                  </a:lnTo>
                  <a:lnTo>
                    <a:pt x="266700" y="204469"/>
                  </a:lnTo>
                  <a:lnTo>
                    <a:pt x="262445" y="195579"/>
                  </a:lnTo>
                  <a:lnTo>
                    <a:pt x="261302" y="193039"/>
                  </a:lnTo>
                  <a:lnTo>
                    <a:pt x="260064" y="191769"/>
                  </a:lnTo>
                  <a:lnTo>
                    <a:pt x="257301" y="187959"/>
                  </a:lnTo>
                  <a:lnTo>
                    <a:pt x="256667" y="185419"/>
                  </a:lnTo>
                  <a:lnTo>
                    <a:pt x="254762" y="176529"/>
                  </a:lnTo>
                  <a:lnTo>
                    <a:pt x="253492" y="173989"/>
                  </a:lnTo>
                  <a:lnTo>
                    <a:pt x="252475" y="171449"/>
                  </a:lnTo>
                  <a:lnTo>
                    <a:pt x="250698" y="170179"/>
                  </a:lnTo>
                  <a:lnTo>
                    <a:pt x="248793" y="166369"/>
                  </a:lnTo>
                  <a:lnTo>
                    <a:pt x="248666" y="163829"/>
                  </a:lnTo>
                  <a:lnTo>
                    <a:pt x="246125" y="158749"/>
                  </a:lnTo>
                  <a:lnTo>
                    <a:pt x="243840" y="156209"/>
                  </a:lnTo>
                  <a:lnTo>
                    <a:pt x="239268" y="148589"/>
                  </a:lnTo>
                  <a:lnTo>
                    <a:pt x="238251" y="146049"/>
                  </a:lnTo>
                  <a:lnTo>
                    <a:pt x="237363" y="143509"/>
                  </a:lnTo>
                  <a:lnTo>
                    <a:pt x="237236" y="140969"/>
                  </a:lnTo>
                  <a:lnTo>
                    <a:pt x="236347" y="139699"/>
                  </a:lnTo>
                  <a:lnTo>
                    <a:pt x="234061" y="135889"/>
                  </a:lnTo>
                  <a:lnTo>
                    <a:pt x="231267" y="132079"/>
                  </a:lnTo>
                  <a:lnTo>
                    <a:pt x="227457" y="126999"/>
                  </a:lnTo>
                  <a:lnTo>
                    <a:pt x="225933" y="124459"/>
                  </a:lnTo>
                  <a:lnTo>
                    <a:pt x="223012" y="119379"/>
                  </a:lnTo>
                  <a:lnTo>
                    <a:pt x="221234" y="114299"/>
                  </a:lnTo>
                  <a:lnTo>
                    <a:pt x="218059" y="109219"/>
                  </a:lnTo>
                  <a:lnTo>
                    <a:pt x="216408" y="107949"/>
                  </a:lnTo>
                  <a:lnTo>
                    <a:pt x="215392" y="105409"/>
                  </a:lnTo>
                  <a:lnTo>
                    <a:pt x="214375" y="104139"/>
                  </a:lnTo>
                  <a:lnTo>
                    <a:pt x="214375" y="101599"/>
                  </a:lnTo>
                  <a:lnTo>
                    <a:pt x="213487" y="99059"/>
                  </a:lnTo>
                  <a:lnTo>
                    <a:pt x="212344" y="97789"/>
                  </a:lnTo>
                  <a:lnTo>
                    <a:pt x="210947" y="95249"/>
                  </a:lnTo>
                  <a:lnTo>
                    <a:pt x="209550" y="93979"/>
                  </a:lnTo>
                  <a:lnTo>
                    <a:pt x="206628" y="90169"/>
                  </a:lnTo>
                  <a:lnTo>
                    <a:pt x="202692" y="85089"/>
                  </a:lnTo>
                  <a:lnTo>
                    <a:pt x="198627" y="78739"/>
                  </a:lnTo>
                  <a:lnTo>
                    <a:pt x="197739" y="74929"/>
                  </a:lnTo>
                  <a:lnTo>
                    <a:pt x="196215" y="72389"/>
                  </a:lnTo>
                  <a:lnTo>
                    <a:pt x="195199" y="71119"/>
                  </a:lnTo>
                  <a:lnTo>
                    <a:pt x="193548" y="69849"/>
                  </a:lnTo>
                  <a:lnTo>
                    <a:pt x="192404" y="67309"/>
                  </a:lnTo>
                  <a:lnTo>
                    <a:pt x="191516" y="66039"/>
                  </a:lnTo>
                  <a:lnTo>
                    <a:pt x="191516" y="63499"/>
                  </a:lnTo>
                  <a:lnTo>
                    <a:pt x="190500" y="60959"/>
                  </a:lnTo>
                  <a:lnTo>
                    <a:pt x="177800" y="41909"/>
                  </a:lnTo>
                  <a:lnTo>
                    <a:pt x="176275" y="40639"/>
                  </a:lnTo>
                  <a:lnTo>
                    <a:pt x="175260" y="38099"/>
                  </a:lnTo>
                  <a:lnTo>
                    <a:pt x="168973" y="25399"/>
                  </a:lnTo>
                  <a:lnTo>
                    <a:pt x="166901" y="22859"/>
                  </a:lnTo>
                  <a:lnTo>
                    <a:pt x="161925" y="17779"/>
                  </a:lnTo>
                  <a:lnTo>
                    <a:pt x="159639" y="10159"/>
                  </a:lnTo>
                  <a:lnTo>
                    <a:pt x="154050" y="5079"/>
                  </a:lnTo>
                  <a:lnTo>
                    <a:pt x="150495" y="2539"/>
                  </a:lnTo>
                  <a:lnTo>
                    <a:pt x="147066" y="0"/>
                  </a:lnTo>
                  <a:close/>
                </a:path>
                <a:path w="318770" h="833120">
                  <a:moveTo>
                    <a:pt x="265719" y="631189"/>
                  </a:moveTo>
                  <a:lnTo>
                    <a:pt x="265148" y="631189"/>
                  </a:lnTo>
                  <a:lnTo>
                    <a:pt x="264981" y="633729"/>
                  </a:lnTo>
                  <a:lnTo>
                    <a:pt x="265719" y="631189"/>
                  </a:lnTo>
                  <a:close/>
                </a:path>
                <a:path w="318770" h="833120">
                  <a:moveTo>
                    <a:pt x="285734" y="255269"/>
                  </a:moveTo>
                  <a:lnTo>
                    <a:pt x="285561" y="256539"/>
                  </a:lnTo>
                  <a:lnTo>
                    <a:pt x="286129" y="256539"/>
                  </a:lnTo>
                  <a:lnTo>
                    <a:pt x="285734" y="255269"/>
                  </a:lnTo>
                  <a:close/>
                </a:path>
              </a:pathLst>
            </a:custGeom>
            <a:solidFill>
              <a:srgbClr val="86B7E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6333744" y="4043171"/>
            <a:ext cx="2286000" cy="1303020"/>
            <a:chOff x="6333744" y="4043171"/>
            <a:chExt cx="2286000" cy="1303020"/>
          </a:xfrm>
        </p:grpSpPr>
        <p:sp>
          <p:nvSpPr>
            <p:cNvPr id="13" name="object 13"/>
            <p:cNvSpPr/>
            <p:nvPr/>
          </p:nvSpPr>
          <p:spPr>
            <a:xfrm>
              <a:off x="6339840" y="4052315"/>
              <a:ext cx="1304925" cy="1287780"/>
            </a:xfrm>
            <a:custGeom>
              <a:avLst/>
              <a:gdLst/>
              <a:ahLst/>
              <a:cxnLst/>
              <a:rect l="l" t="t" r="r" b="b"/>
              <a:pathLst>
                <a:path w="1304925" h="1287779">
                  <a:moveTo>
                    <a:pt x="652271" y="0"/>
                  </a:moveTo>
                  <a:lnTo>
                    <a:pt x="603584" y="1766"/>
                  </a:lnTo>
                  <a:lnTo>
                    <a:pt x="555870" y="6981"/>
                  </a:lnTo>
                  <a:lnTo>
                    <a:pt x="509255" y="15521"/>
                  </a:lnTo>
                  <a:lnTo>
                    <a:pt x="463865" y="27262"/>
                  </a:lnTo>
                  <a:lnTo>
                    <a:pt x="419826" y="42078"/>
                  </a:lnTo>
                  <a:lnTo>
                    <a:pt x="377264" y="59846"/>
                  </a:lnTo>
                  <a:lnTo>
                    <a:pt x="336306" y="80440"/>
                  </a:lnTo>
                  <a:lnTo>
                    <a:pt x="297076" y="103737"/>
                  </a:lnTo>
                  <a:lnTo>
                    <a:pt x="259702" y="129611"/>
                  </a:lnTo>
                  <a:lnTo>
                    <a:pt x="224309" y="157938"/>
                  </a:lnTo>
                  <a:lnTo>
                    <a:pt x="191023" y="188594"/>
                  </a:lnTo>
                  <a:lnTo>
                    <a:pt x="159971" y="221455"/>
                  </a:lnTo>
                  <a:lnTo>
                    <a:pt x="131278" y="256394"/>
                  </a:lnTo>
                  <a:lnTo>
                    <a:pt x="105070" y="293289"/>
                  </a:lnTo>
                  <a:lnTo>
                    <a:pt x="81473" y="332015"/>
                  </a:lnTo>
                  <a:lnTo>
                    <a:pt x="60614" y="372446"/>
                  </a:lnTo>
                  <a:lnTo>
                    <a:pt x="42618" y="414459"/>
                  </a:lnTo>
                  <a:lnTo>
                    <a:pt x="27611" y="457929"/>
                  </a:lnTo>
                  <a:lnTo>
                    <a:pt x="15720" y="502732"/>
                  </a:lnTo>
                  <a:lnTo>
                    <a:pt x="7070" y="548743"/>
                  </a:lnTo>
                  <a:lnTo>
                    <a:pt x="1788" y="595837"/>
                  </a:lnTo>
                  <a:lnTo>
                    <a:pt x="0" y="643889"/>
                  </a:lnTo>
                  <a:lnTo>
                    <a:pt x="1788" y="691942"/>
                  </a:lnTo>
                  <a:lnTo>
                    <a:pt x="7070" y="739036"/>
                  </a:lnTo>
                  <a:lnTo>
                    <a:pt x="15720" y="785047"/>
                  </a:lnTo>
                  <a:lnTo>
                    <a:pt x="27611" y="829850"/>
                  </a:lnTo>
                  <a:lnTo>
                    <a:pt x="42618" y="873320"/>
                  </a:lnTo>
                  <a:lnTo>
                    <a:pt x="60614" y="915333"/>
                  </a:lnTo>
                  <a:lnTo>
                    <a:pt x="81473" y="955764"/>
                  </a:lnTo>
                  <a:lnTo>
                    <a:pt x="105070" y="994490"/>
                  </a:lnTo>
                  <a:lnTo>
                    <a:pt x="131278" y="1031385"/>
                  </a:lnTo>
                  <a:lnTo>
                    <a:pt x="159971" y="1066324"/>
                  </a:lnTo>
                  <a:lnTo>
                    <a:pt x="191023" y="1099184"/>
                  </a:lnTo>
                  <a:lnTo>
                    <a:pt x="224309" y="1129841"/>
                  </a:lnTo>
                  <a:lnTo>
                    <a:pt x="259702" y="1158168"/>
                  </a:lnTo>
                  <a:lnTo>
                    <a:pt x="297076" y="1184042"/>
                  </a:lnTo>
                  <a:lnTo>
                    <a:pt x="336306" y="1207339"/>
                  </a:lnTo>
                  <a:lnTo>
                    <a:pt x="377264" y="1227933"/>
                  </a:lnTo>
                  <a:lnTo>
                    <a:pt x="419826" y="1245701"/>
                  </a:lnTo>
                  <a:lnTo>
                    <a:pt x="463865" y="1260517"/>
                  </a:lnTo>
                  <a:lnTo>
                    <a:pt x="509255" y="1272258"/>
                  </a:lnTo>
                  <a:lnTo>
                    <a:pt x="555870" y="1280798"/>
                  </a:lnTo>
                  <a:lnTo>
                    <a:pt x="603584" y="1286013"/>
                  </a:lnTo>
                  <a:lnTo>
                    <a:pt x="652271" y="1287779"/>
                  </a:lnTo>
                  <a:lnTo>
                    <a:pt x="700959" y="1286013"/>
                  </a:lnTo>
                  <a:lnTo>
                    <a:pt x="748673" y="1280798"/>
                  </a:lnTo>
                  <a:lnTo>
                    <a:pt x="795288" y="1272258"/>
                  </a:lnTo>
                  <a:lnTo>
                    <a:pt x="840678" y="1260517"/>
                  </a:lnTo>
                  <a:lnTo>
                    <a:pt x="884717" y="1245701"/>
                  </a:lnTo>
                  <a:lnTo>
                    <a:pt x="927279" y="1227933"/>
                  </a:lnTo>
                  <a:lnTo>
                    <a:pt x="968237" y="1207339"/>
                  </a:lnTo>
                  <a:lnTo>
                    <a:pt x="1007467" y="1184042"/>
                  </a:lnTo>
                  <a:lnTo>
                    <a:pt x="1044841" y="1158168"/>
                  </a:lnTo>
                  <a:lnTo>
                    <a:pt x="1080234" y="1129841"/>
                  </a:lnTo>
                  <a:lnTo>
                    <a:pt x="1113520" y="1099184"/>
                  </a:lnTo>
                  <a:lnTo>
                    <a:pt x="1144572" y="1066324"/>
                  </a:lnTo>
                  <a:lnTo>
                    <a:pt x="1173265" y="1031385"/>
                  </a:lnTo>
                  <a:lnTo>
                    <a:pt x="1199473" y="994490"/>
                  </a:lnTo>
                  <a:lnTo>
                    <a:pt x="1223070" y="955764"/>
                  </a:lnTo>
                  <a:lnTo>
                    <a:pt x="1243929" y="915333"/>
                  </a:lnTo>
                  <a:lnTo>
                    <a:pt x="1261925" y="873320"/>
                  </a:lnTo>
                  <a:lnTo>
                    <a:pt x="1276932" y="829850"/>
                  </a:lnTo>
                  <a:lnTo>
                    <a:pt x="1288823" y="785047"/>
                  </a:lnTo>
                  <a:lnTo>
                    <a:pt x="1297473" y="739036"/>
                  </a:lnTo>
                  <a:lnTo>
                    <a:pt x="1302755" y="691942"/>
                  </a:lnTo>
                  <a:lnTo>
                    <a:pt x="1304543" y="643889"/>
                  </a:lnTo>
                  <a:lnTo>
                    <a:pt x="1302755" y="595837"/>
                  </a:lnTo>
                  <a:lnTo>
                    <a:pt x="1297473" y="548743"/>
                  </a:lnTo>
                  <a:lnTo>
                    <a:pt x="1288823" y="502732"/>
                  </a:lnTo>
                  <a:lnTo>
                    <a:pt x="1276932" y="457929"/>
                  </a:lnTo>
                  <a:lnTo>
                    <a:pt x="1261925" y="414459"/>
                  </a:lnTo>
                  <a:lnTo>
                    <a:pt x="1243929" y="372446"/>
                  </a:lnTo>
                  <a:lnTo>
                    <a:pt x="1223070" y="332015"/>
                  </a:lnTo>
                  <a:lnTo>
                    <a:pt x="1199473" y="293289"/>
                  </a:lnTo>
                  <a:lnTo>
                    <a:pt x="1173265" y="256394"/>
                  </a:lnTo>
                  <a:lnTo>
                    <a:pt x="1144572" y="221455"/>
                  </a:lnTo>
                  <a:lnTo>
                    <a:pt x="1113520" y="188594"/>
                  </a:lnTo>
                  <a:lnTo>
                    <a:pt x="1080234" y="157938"/>
                  </a:lnTo>
                  <a:lnTo>
                    <a:pt x="1044841" y="129611"/>
                  </a:lnTo>
                  <a:lnTo>
                    <a:pt x="1007467" y="103737"/>
                  </a:lnTo>
                  <a:lnTo>
                    <a:pt x="968237" y="80440"/>
                  </a:lnTo>
                  <a:lnTo>
                    <a:pt x="927279" y="59846"/>
                  </a:lnTo>
                  <a:lnTo>
                    <a:pt x="884717" y="42078"/>
                  </a:lnTo>
                  <a:lnTo>
                    <a:pt x="840678" y="27262"/>
                  </a:lnTo>
                  <a:lnTo>
                    <a:pt x="795288" y="15521"/>
                  </a:lnTo>
                  <a:lnTo>
                    <a:pt x="748673" y="6981"/>
                  </a:lnTo>
                  <a:lnTo>
                    <a:pt x="700959" y="1766"/>
                  </a:lnTo>
                  <a:lnTo>
                    <a:pt x="652271" y="0"/>
                  </a:lnTo>
                  <a:close/>
                </a:path>
              </a:pathLst>
            </a:custGeom>
            <a:solidFill>
              <a:srgbClr val="0E6EC5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339840" y="4052315"/>
              <a:ext cx="1304925" cy="1287780"/>
            </a:xfrm>
            <a:custGeom>
              <a:avLst/>
              <a:gdLst/>
              <a:ahLst/>
              <a:cxnLst/>
              <a:rect l="l" t="t" r="r" b="b"/>
              <a:pathLst>
                <a:path w="1304925" h="1287779">
                  <a:moveTo>
                    <a:pt x="0" y="643889"/>
                  </a:moveTo>
                  <a:lnTo>
                    <a:pt x="1788" y="595837"/>
                  </a:lnTo>
                  <a:lnTo>
                    <a:pt x="7070" y="548743"/>
                  </a:lnTo>
                  <a:lnTo>
                    <a:pt x="15720" y="502732"/>
                  </a:lnTo>
                  <a:lnTo>
                    <a:pt x="27611" y="457929"/>
                  </a:lnTo>
                  <a:lnTo>
                    <a:pt x="42618" y="414459"/>
                  </a:lnTo>
                  <a:lnTo>
                    <a:pt x="60614" y="372446"/>
                  </a:lnTo>
                  <a:lnTo>
                    <a:pt x="81473" y="332015"/>
                  </a:lnTo>
                  <a:lnTo>
                    <a:pt x="105070" y="293289"/>
                  </a:lnTo>
                  <a:lnTo>
                    <a:pt x="131278" y="256394"/>
                  </a:lnTo>
                  <a:lnTo>
                    <a:pt x="159971" y="221455"/>
                  </a:lnTo>
                  <a:lnTo>
                    <a:pt x="191023" y="188594"/>
                  </a:lnTo>
                  <a:lnTo>
                    <a:pt x="224309" y="157938"/>
                  </a:lnTo>
                  <a:lnTo>
                    <a:pt x="259702" y="129611"/>
                  </a:lnTo>
                  <a:lnTo>
                    <a:pt x="297076" y="103737"/>
                  </a:lnTo>
                  <a:lnTo>
                    <a:pt x="336306" y="80440"/>
                  </a:lnTo>
                  <a:lnTo>
                    <a:pt x="377264" y="59846"/>
                  </a:lnTo>
                  <a:lnTo>
                    <a:pt x="419826" y="42078"/>
                  </a:lnTo>
                  <a:lnTo>
                    <a:pt x="463865" y="27262"/>
                  </a:lnTo>
                  <a:lnTo>
                    <a:pt x="509255" y="15521"/>
                  </a:lnTo>
                  <a:lnTo>
                    <a:pt x="555870" y="6981"/>
                  </a:lnTo>
                  <a:lnTo>
                    <a:pt x="603584" y="1766"/>
                  </a:lnTo>
                  <a:lnTo>
                    <a:pt x="652271" y="0"/>
                  </a:lnTo>
                  <a:lnTo>
                    <a:pt x="700959" y="1766"/>
                  </a:lnTo>
                  <a:lnTo>
                    <a:pt x="748673" y="6981"/>
                  </a:lnTo>
                  <a:lnTo>
                    <a:pt x="795288" y="15521"/>
                  </a:lnTo>
                  <a:lnTo>
                    <a:pt x="840678" y="27262"/>
                  </a:lnTo>
                  <a:lnTo>
                    <a:pt x="884717" y="42078"/>
                  </a:lnTo>
                  <a:lnTo>
                    <a:pt x="927279" y="59846"/>
                  </a:lnTo>
                  <a:lnTo>
                    <a:pt x="968237" y="80440"/>
                  </a:lnTo>
                  <a:lnTo>
                    <a:pt x="1007467" y="103737"/>
                  </a:lnTo>
                  <a:lnTo>
                    <a:pt x="1044841" y="129611"/>
                  </a:lnTo>
                  <a:lnTo>
                    <a:pt x="1080234" y="157938"/>
                  </a:lnTo>
                  <a:lnTo>
                    <a:pt x="1113520" y="188594"/>
                  </a:lnTo>
                  <a:lnTo>
                    <a:pt x="1144572" y="221455"/>
                  </a:lnTo>
                  <a:lnTo>
                    <a:pt x="1173265" y="256394"/>
                  </a:lnTo>
                  <a:lnTo>
                    <a:pt x="1199473" y="293289"/>
                  </a:lnTo>
                  <a:lnTo>
                    <a:pt x="1223070" y="332015"/>
                  </a:lnTo>
                  <a:lnTo>
                    <a:pt x="1243929" y="372446"/>
                  </a:lnTo>
                  <a:lnTo>
                    <a:pt x="1261925" y="414459"/>
                  </a:lnTo>
                  <a:lnTo>
                    <a:pt x="1276932" y="457929"/>
                  </a:lnTo>
                  <a:lnTo>
                    <a:pt x="1288823" y="502732"/>
                  </a:lnTo>
                  <a:lnTo>
                    <a:pt x="1297473" y="548743"/>
                  </a:lnTo>
                  <a:lnTo>
                    <a:pt x="1302755" y="595837"/>
                  </a:lnTo>
                  <a:lnTo>
                    <a:pt x="1304543" y="643889"/>
                  </a:lnTo>
                  <a:lnTo>
                    <a:pt x="1302755" y="691942"/>
                  </a:lnTo>
                  <a:lnTo>
                    <a:pt x="1297473" y="739036"/>
                  </a:lnTo>
                  <a:lnTo>
                    <a:pt x="1288823" y="785047"/>
                  </a:lnTo>
                  <a:lnTo>
                    <a:pt x="1276932" y="829850"/>
                  </a:lnTo>
                  <a:lnTo>
                    <a:pt x="1261925" y="873320"/>
                  </a:lnTo>
                  <a:lnTo>
                    <a:pt x="1243929" y="915333"/>
                  </a:lnTo>
                  <a:lnTo>
                    <a:pt x="1223070" y="955764"/>
                  </a:lnTo>
                  <a:lnTo>
                    <a:pt x="1199473" y="994490"/>
                  </a:lnTo>
                  <a:lnTo>
                    <a:pt x="1173265" y="1031385"/>
                  </a:lnTo>
                  <a:lnTo>
                    <a:pt x="1144572" y="1066324"/>
                  </a:lnTo>
                  <a:lnTo>
                    <a:pt x="1113520" y="1099184"/>
                  </a:lnTo>
                  <a:lnTo>
                    <a:pt x="1080234" y="1129841"/>
                  </a:lnTo>
                  <a:lnTo>
                    <a:pt x="1044841" y="1158168"/>
                  </a:lnTo>
                  <a:lnTo>
                    <a:pt x="1007467" y="1184042"/>
                  </a:lnTo>
                  <a:lnTo>
                    <a:pt x="968237" y="1207339"/>
                  </a:lnTo>
                  <a:lnTo>
                    <a:pt x="927279" y="1227933"/>
                  </a:lnTo>
                  <a:lnTo>
                    <a:pt x="884717" y="1245701"/>
                  </a:lnTo>
                  <a:lnTo>
                    <a:pt x="840678" y="1260517"/>
                  </a:lnTo>
                  <a:lnTo>
                    <a:pt x="795288" y="1272258"/>
                  </a:lnTo>
                  <a:lnTo>
                    <a:pt x="748673" y="1280798"/>
                  </a:lnTo>
                  <a:lnTo>
                    <a:pt x="700959" y="1286013"/>
                  </a:lnTo>
                  <a:lnTo>
                    <a:pt x="652271" y="1287779"/>
                  </a:lnTo>
                  <a:lnTo>
                    <a:pt x="603584" y="1286013"/>
                  </a:lnTo>
                  <a:lnTo>
                    <a:pt x="555870" y="1280798"/>
                  </a:lnTo>
                  <a:lnTo>
                    <a:pt x="509255" y="1272258"/>
                  </a:lnTo>
                  <a:lnTo>
                    <a:pt x="463865" y="1260517"/>
                  </a:lnTo>
                  <a:lnTo>
                    <a:pt x="419826" y="1245701"/>
                  </a:lnTo>
                  <a:lnTo>
                    <a:pt x="377264" y="1227933"/>
                  </a:lnTo>
                  <a:lnTo>
                    <a:pt x="336306" y="1207339"/>
                  </a:lnTo>
                  <a:lnTo>
                    <a:pt x="297076" y="1184042"/>
                  </a:lnTo>
                  <a:lnTo>
                    <a:pt x="259702" y="1158168"/>
                  </a:lnTo>
                  <a:lnTo>
                    <a:pt x="224309" y="1129841"/>
                  </a:lnTo>
                  <a:lnTo>
                    <a:pt x="191023" y="1099184"/>
                  </a:lnTo>
                  <a:lnTo>
                    <a:pt x="159971" y="1066324"/>
                  </a:lnTo>
                  <a:lnTo>
                    <a:pt x="131278" y="1031385"/>
                  </a:lnTo>
                  <a:lnTo>
                    <a:pt x="105070" y="994490"/>
                  </a:lnTo>
                  <a:lnTo>
                    <a:pt x="81473" y="955764"/>
                  </a:lnTo>
                  <a:lnTo>
                    <a:pt x="60614" y="915333"/>
                  </a:lnTo>
                  <a:lnTo>
                    <a:pt x="42618" y="873320"/>
                  </a:lnTo>
                  <a:lnTo>
                    <a:pt x="27611" y="829850"/>
                  </a:lnTo>
                  <a:lnTo>
                    <a:pt x="15720" y="785047"/>
                  </a:lnTo>
                  <a:lnTo>
                    <a:pt x="7070" y="739036"/>
                  </a:lnTo>
                  <a:lnTo>
                    <a:pt x="1788" y="691942"/>
                  </a:lnTo>
                  <a:lnTo>
                    <a:pt x="0" y="643889"/>
                  </a:lnTo>
                  <a:close/>
                </a:path>
              </a:pathLst>
            </a:custGeom>
            <a:ln w="12192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309104" y="4049267"/>
              <a:ext cx="1304925" cy="1287780"/>
            </a:xfrm>
            <a:custGeom>
              <a:avLst/>
              <a:gdLst/>
              <a:ahLst/>
              <a:cxnLst/>
              <a:rect l="l" t="t" r="r" b="b"/>
              <a:pathLst>
                <a:path w="1304925" h="1287779">
                  <a:moveTo>
                    <a:pt x="652272" y="0"/>
                  </a:moveTo>
                  <a:lnTo>
                    <a:pt x="603584" y="1766"/>
                  </a:lnTo>
                  <a:lnTo>
                    <a:pt x="555870" y="6981"/>
                  </a:lnTo>
                  <a:lnTo>
                    <a:pt x="509255" y="15521"/>
                  </a:lnTo>
                  <a:lnTo>
                    <a:pt x="463865" y="27262"/>
                  </a:lnTo>
                  <a:lnTo>
                    <a:pt x="419826" y="42078"/>
                  </a:lnTo>
                  <a:lnTo>
                    <a:pt x="377264" y="59846"/>
                  </a:lnTo>
                  <a:lnTo>
                    <a:pt x="336306" y="80440"/>
                  </a:lnTo>
                  <a:lnTo>
                    <a:pt x="297076" y="103737"/>
                  </a:lnTo>
                  <a:lnTo>
                    <a:pt x="259702" y="129611"/>
                  </a:lnTo>
                  <a:lnTo>
                    <a:pt x="224309" y="157938"/>
                  </a:lnTo>
                  <a:lnTo>
                    <a:pt x="191023" y="188594"/>
                  </a:lnTo>
                  <a:lnTo>
                    <a:pt x="159971" y="221455"/>
                  </a:lnTo>
                  <a:lnTo>
                    <a:pt x="131278" y="256394"/>
                  </a:lnTo>
                  <a:lnTo>
                    <a:pt x="105070" y="293289"/>
                  </a:lnTo>
                  <a:lnTo>
                    <a:pt x="81473" y="332015"/>
                  </a:lnTo>
                  <a:lnTo>
                    <a:pt x="60614" y="372446"/>
                  </a:lnTo>
                  <a:lnTo>
                    <a:pt x="42618" y="414459"/>
                  </a:lnTo>
                  <a:lnTo>
                    <a:pt x="27611" y="457929"/>
                  </a:lnTo>
                  <a:lnTo>
                    <a:pt x="15720" y="502732"/>
                  </a:lnTo>
                  <a:lnTo>
                    <a:pt x="7070" y="548743"/>
                  </a:lnTo>
                  <a:lnTo>
                    <a:pt x="1788" y="595837"/>
                  </a:lnTo>
                  <a:lnTo>
                    <a:pt x="0" y="643889"/>
                  </a:lnTo>
                  <a:lnTo>
                    <a:pt x="1788" y="691942"/>
                  </a:lnTo>
                  <a:lnTo>
                    <a:pt x="7070" y="739036"/>
                  </a:lnTo>
                  <a:lnTo>
                    <a:pt x="15720" y="785047"/>
                  </a:lnTo>
                  <a:lnTo>
                    <a:pt x="27611" y="829850"/>
                  </a:lnTo>
                  <a:lnTo>
                    <a:pt x="42618" y="873320"/>
                  </a:lnTo>
                  <a:lnTo>
                    <a:pt x="60614" y="915333"/>
                  </a:lnTo>
                  <a:lnTo>
                    <a:pt x="81473" y="955764"/>
                  </a:lnTo>
                  <a:lnTo>
                    <a:pt x="105070" y="994490"/>
                  </a:lnTo>
                  <a:lnTo>
                    <a:pt x="131278" y="1031385"/>
                  </a:lnTo>
                  <a:lnTo>
                    <a:pt x="159971" y="1066324"/>
                  </a:lnTo>
                  <a:lnTo>
                    <a:pt x="191023" y="1099184"/>
                  </a:lnTo>
                  <a:lnTo>
                    <a:pt x="224309" y="1129841"/>
                  </a:lnTo>
                  <a:lnTo>
                    <a:pt x="259702" y="1158168"/>
                  </a:lnTo>
                  <a:lnTo>
                    <a:pt x="297076" y="1184042"/>
                  </a:lnTo>
                  <a:lnTo>
                    <a:pt x="336306" y="1207339"/>
                  </a:lnTo>
                  <a:lnTo>
                    <a:pt x="377264" y="1227933"/>
                  </a:lnTo>
                  <a:lnTo>
                    <a:pt x="419826" y="1245701"/>
                  </a:lnTo>
                  <a:lnTo>
                    <a:pt x="463865" y="1260517"/>
                  </a:lnTo>
                  <a:lnTo>
                    <a:pt x="509255" y="1272258"/>
                  </a:lnTo>
                  <a:lnTo>
                    <a:pt x="555870" y="1280798"/>
                  </a:lnTo>
                  <a:lnTo>
                    <a:pt x="603584" y="1286013"/>
                  </a:lnTo>
                  <a:lnTo>
                    <a:pt x="652272" y="1287779"/>
                  </a:lnTo>
                  <a:lnTo>
                    <a:pt x="700959" y="1286013"/>
                  </a:lnTo>
                  <a:lnTo>
                    <a:pt x="748673" y="1280798"/>
                  </a:lnTo>
                  <a:lnTo>
                    <a:pt x="795288" y="1272258"/>
                  </a:lnTo>
                  <a:lnTo>
                    <a:pt x="840678" y="1260517"/>
                  </a:lnTo>
                  <a:lnTo>
                    <a:pt x="884717" y="1245701"/>
                  </a:lnTo>
                  <a:lnTo>
                    <a:pt x="927279" y="1227933"/>
                  </a:lnTo>
                  <a:lnTo>
                    <a:pt x="968237" y="1207339"/>
                  </a:lnTo>
                  <a:lnTo>
                    <a:pt x="1007467" y="1184042"/>
                  </a:lnTo>
                  <a:lnTo>
                    <a:pt x="1044841" y="1158168"/>
                  </a:lnTo>
                  <a:lnTo>
                    <a:pt x="1080234" y="1129841"/>
                  </a:lnTo>
                  <a:lnTo>
                    <a:pt x="1113520" y="1099184"/>
                  </a:lnTo>
                  <a:lnTo>
                    <a:pt x="1144572" y="1066324"/>
                  </a:lnTo>
                  <a:lnTo>
                    <a:pt x="1173265" y="1031385"/>
                  </a:lnTo>
                  <a:lnTo>
                    <a:pt x="1199473" y="994490"/>
                  </a:lnTo>
                  <a:lnTo>
                    <a:pt x="1223070" y="955764"/>
                  </a:lnTo>
                  <a:lnTo>
                    <a:pt x="1243929" y="915333"/>
                  </a:lnTo>
                  <a:lnTo>
                    <a:pt x="1261925" y="873320"/>
                  </a:lnTo>
                  <a:lnTo>
                    <a:pt x="1276932" y="829850"/>
                  </a:lnTo>
                  <a:lnTo>
                    <a:pt x="1288823" y="785047"/>
                  </a:lnTo>
                  <a:lnTo>
                    <a:pt x="1297473" y="739036"/>
                  </a:lnTo>
                  <a:lnTo>
                    <a:pt x="1302755" y="691942"/>
                  </a:lnTo>
                  <a:lnTo>
                    <a:pt x="1304544" y="643889"/>
                  </a:lnTo>
                  <a:lnTo>
                    <a:pt x="1302755" y="595837"/>
                  </a:lnTo>
                  <a:lnTo>
                    <a:pt x="1297473" y="548743"/>
                  </a:lnTo>
                  <a:lnTo>
                    <a:pt x="1288823" y="502732"/>
                  </a:lnTo>
                  <a:lnTo>
                    <a:pt x="1276932" y="457929"/>
                  </a:lnTo>
                  <a:lnTo>
                    <a:pt x="1261925" y="414459"/>
                  </a:lnTo>
                  <a:lnTo>
                    <a:pt x="1243929" y="372446"/>
                  </a:lnTo>
                  <a:lnTo>
                    <a:pt x="1223070" y="332015"/>
                  </a:lnTo>
                  <a:lnTo>
                    <a:pt x="1199473" y="293289"/>
                  </a:lnTo>
                  <a:lnTo>
                    <a:pt x="1173265" y="256394"/>
                  </a:lnTo>
                  <a:lnTo>
                    <a:pt x="1144572" y="221455"/>
                  </a:lnTo>
                  <a:lnTo>
                    <a:pt x="1113520" y="188594"/>
                  </a:lnTo>
                  <a:lnTo>
                    <a:pt x="1080234" y="157938"/>
                  </a:lnTo>
                  <a:lnTo>
                    <a:pt x="1044841" y="129611"/>
                  </a:lnTo>
                  <a:lnTo>
                    <a:pt x="1007467" y="103737"/>
                  </a:lnTo>
                  <a:lnTo>
                    <a:pt x="968237" y="80440"/>
                  </a:lnTo>
                  <a:lnTo>
                    <a:pt x="927279" y="59846"/>
                  </a:lnTo>
                  <a:lnTo>
                    <a:pt x="884717" y="42078"/>
                  </a:lnTo>
                  <a:lnTo>
                    <a:pt x="840678" y="27262"/>
                  </a:lnTo>
                  <a:lnTo>
                    <a:pt x="795288" y="15521"/>
                  </a:lnTo>
                  <a:lnTo>
                    <a:pt x="748673" y="6981"/>
                  </a:lnTo>
                  <a:lnTo>
                    <a:pt x="700959" y="1766"/>
                  </a:lnTo>
                  <a:lnTo>
                    <a:pt x="6522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309104" y="4049267"/>
              <a:ext cx="1304925" cy="1287780"/>
            </a:xfrm>
            <a:custGeom>
              <a:avLst/>
              <a:gdLst/>
              <a:ahLst/>
              <a:cxnLst/>
              <a:rect l="l" t="t" r="r" b="b"/>
              <a:pathLst>
                <a:path w="1304925" h="1287779">
                  <a:moveTo>
                    <a:pt x="0" y="643889"/>
                  </a:moveTo>
                  <a:lnTo>
                    <a:pt x="1788" y="595837"/>
                  </a:lnTo>
                  <a:lnTo>
                    <a:pt x="7070" y="548743"/>
                  </a:lnTo>
                  <a:lnTo>
                    <a:pt x="15720" y="502732"/>
                  </a:lnTo>
                  <a:lnTo>
                    <a:pt x="27611" y="457929"/>
                  </a:lnTo>
                  <a:lnTo>
                    <a:pt x="42618" y="414459"/>
                  </a:lnTo>
                  <a:lnTo>
                    <a:pt x="60614" y="372446"/>
                  </a:lnTo>
                  <a:lnTo>
                    <a:pt x="81473" y="332015"/>
                  </a:lnTo>
                  <a:lnTo>
                    <a:pt x="105070" y="293289"/>
                  </a:lnTo>
                  <a:lnTo>
                    <a:pt x="131278" y="256394"/>
                  </a:lnTo>
                  <a:lnTo>
                    <a:pt x="159971" y="221455"/>
                  </a:lnTo>
                  <a:lnTo>
                    <a:pt x="191023" y="188594"/>
                  </a:lnTo>
                  <a:lnTo>
                    <a:pt x="224309" y="157938"/>
                  </a:lnTo>
                  <a:lnTo>
                    <a:pt x="259702" y="129611"/>
                  </a:lnTo>
                  <a:lnTo>
                    <a:pt x="297076" y="103737"/>
                  </a:lnTo>
                  <a:lnTo>
                    <a:pt x="336306" y="80440"/>
                  </a:lnTo>
                  <a:lnTo>
                    <a:pt x="377264" y="59846"/>
                  </a:lnTo>
                  <a:lnTo>
                    <a:pt x="419826" y="42078"/>
                  </a:lnTo>
                  <a:lnTo>
                    <a:pt x="463865" y="27262"/>
                  </a:lnTo>
                  <a:lnTo>
                    <a:pt x="509255" y="15521"/>
                  </a:lnTo>
                  <a:lnTo>
                    <a:pt x="555870" y="6981"/>
                  </a:lnTo>
                  <a:lnTo>
                    <a:pt x="603584" y="1766"/>
                  </a:lnTo>
                  <a:lnTo>
                    <a:pt x="652272" y="0"/>
                  </a:lnTo>
                  <a:lnTo>
                    <a:pt x="700959" y="1766"/>
                  </a:lnTo>
                  <a:lnTo>
                    <a:pt x="748673" y="6981"/>
                  </a:lnTo>
                  <a:lnTo>
                    <a:pt x="795288" y="15521"/>
                  </a:lnTo>
                  <a:lnTo>
                    <a:pt x="840678" y="27262"/>
                  </a:lnTo>
                  <a:lnTo>
                    <a:pt x="884717" y="42078"/>
                  </a:lnTo>
                  <a:lnTo>
                    <a:pt x="927279" y="59846"/>
                  </a:lnTo>
                  <a:lnTo>
                    <a:pt x="968237" y="80440"/>
                  </a:lnTo>
                  <a:lnTo>
                    <a:pt x="1007467" y="103737"/>
                  </a:lnTo>
                  <a:lnTo>
                    <a:pt x="1044841" y="129611"/>
                  </a:lnTo>
                  <a:lnTo>
                    <a:pt x="1080234" y="157938"/>
                  </a:lnTo>
                  <a:lnTo>
                    <a:pt x="1113520" y="188594"/>
                  </a:lnTo>
                  <a:lnTo>
                    <a:pt x="1144572" y="221455"/>
                  </a:lnTo>
                  <a:lnTo>
                    <a:pt x="1173265" y="256394"/>
                  </a:lnTo>
                  <a:lnTo>
                    <a:pt x="1199473" y="293289"/>
                  </a:lnTo>
                  <a:lnTo>
                    <a:pt x="1223070" y="332015"/>
                  </a:lnTo>
                  <a:lnTo>
                    <a:pt x="1243929" y="372446"/>
                  </a:lnTo>
                  <a:lnTo>
                    <a:pt x="1261925" y="414459"/>
                  </a:lnTo>
                  <a:lnTo>
                    <a:pt x="1276932" y="457929"/>
                  </a:lnTo>
                  <a:lnTo>
                    <a:pt x="1288823" y="502732"/>
                  </a:lnTo>
                  <a:lnTo>
                    <a:pt x="1297473" y="548743"/>
                  </a:lnTo>
                  <a:lnTo>
                    <a:pt x="1302755" y="595837"/>
                  </a:lnTo>
                  <a:lnTo>
                    <a:pt x="1304544" y="643889"/>
                  </a:lnTo>
                  <a:lnTo>
                    <a:pt x="1302755" y="691942"/>
                  </a:lnTo>
                  <a:lnTo>
                    <a:pt x="1297473" y="739036"/>
                  </a:lnTo>
                  <a:lnTo>
                    <a:pt x="1288823" y="785047"/>
                  </a:lnTo>
                  <a:lnTo>
                    <a:pt x="1276932" y="829850"/>
                  </a:lnTo>
                  <a:lnTo>
                    <a:pt x="1261925" y="873320"/>
                  </a:lnTo>
                  <a:lnTo>
                    <a:pt x="1243929" y="915333"/>
                  </a:lnTo>
                  <a:lnTo>
                    <a:pt x="1223070" y="955764"/>
                  </a:lnTo>
                  <a:lnTo>
                    <a:pt x="1199473" y="994490"/>
                  </a:lnTo>
                  <a:lnTo>
                    <a:pt x="1173265" y="1031385"/>
                  </a:lnTo>
                  <a:lnTo>
                    <a:pt x="1144572" y="1066324"/>
                  </a:lnTo>
                  <a:lnTo>
                    <a:pt x="1113520" y="1099184"/>
                  </a:lnTo>
                  <a:lnTo>
                    <a:pt x="1080234" y="1129841"/>
                  </a:lnTo>
                  <a:lnTo>
                    <a:pt x="1044841" y="1158168"/>
                  </a:lnTo>
                  <a:lnTo>
                    <a:pt x="1007467" y="1184042"/>
                  </a:lnTo>
                  <a:lnTo>
                    <a:pt x="968237" y="1207339"/>
                  </a:lnTo>
                  <a:lnTo>
                    <a:pt x="927279" y="1227933"/>
                  </a:lnTo>
                  <a:lnTo>
                    <a:pt x="884717" y="1245701"/>
                  </a:lnTo>
                  <a:lnTo>
                    <a:pt x="840678" y="1260517"/>
                  </a:lnTo>
                  <a:lnTo>
                    <a:pt x="795288" y="1272258"/>
                  </a:lnTo>
                  <a:lnTo>
                    <a:pt x="748673" y="1280798"/>
                  </a:lnTo>
                  <a:lnTo>
                    <a:pt x="700959" y="1286013"/>
                  </a:lnTo>
                  <a:lnTo>
                    <a:pt x="652272" y="1287779"/>
                  </a:lnTo>
                  <a:lnTo>
                    <a:pt x="603584" y="1286013"/>
                  </a:lnTo>
                  <a:lnTo>
                    <a:pt x="555870" y="1280798"/>
                  </a:lnTo>
                  <a:lnTo>
                    <a:pt x="509255" y="1272258"/>
                  </a:lnTo>
                  <a:lnTo>
                    <a:pt x="463865" y="1260517"/>
                  </a:lnTo>
                  <a:lnTo>
                    <a:pt x="419826" y="1245701"/>
                  </a:lnTo>
                  <a:lnTo>
                    <a:pt x="377264" y="1227933"/>
                  </a:lnTo>
                  <a:lnTo>
                    <a:pt x="336306" y="1207339"/>
                  </a:lnTo>
                  <a:lnTo>
                    <a:pt x="297076" y="1184042"/>
                  </a:lnTo>
                  <a:lnTo>
                    <a:pt x="259702" y="1158168"/>
                  </a:lnTo>
                  <a:lnTo>
                    <a:pt x="224309" y="1129841"/>
                  </a:lnTo>
                  <a:lnTo>
                    <a:pt x="191023" y="1099184"/>
                  </a:lnTo>
                  <a:lnTo>
                    <a:pt x="159971" y="1066324"/>
                  </a:lnTo>
                  <a:lnTo>
                    <a:pt x="131278" y="1031385"/>
                  </a:lnTo>
                  <a:lnTo>
                    <a:pt x="105070" y="994490"/>
                  </a:lnTo>
                  <a:lnTo>
                    <a:pt x="81473" y="955764"/>
                  </a:lnTo>
                  <a:lnTo>
                    <a:pt x="60614" y="915333"/>
                  </a:lnTo>
                  <a:lnTo>
                    <a:pt x="42618" y="873320"/>
                  </a:lnTo>
                  <a:lnTo>
                    <a:pt x="27611" y="829850"/>
                  </a:lnTo>
                  <a:lnTo>
                    <a:pt x="15720" y="785047"/>
                  </a:lnTo>
                  <a:lnTo>
                    <a:pt x="7070" y="739036"/>
                  </a:lnTo>
                  <a:lnTo>
                    <a:pt x="1788" y="691942"/>
                  </a:lnTo>
                  <a:lnTo>
                    <a:pt x="0" y="643889"/>
                  </a:lnTo>
                  <a:close/>
                </a:path>
              </a:pathLst>
            </a:custGeom>
            <a:ln w="12192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4157853" y="3583940"/>
            <a:ext cx="19729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Union –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All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members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both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sets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069069" y="3515614"/>
            <a:ext cx="204088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Intersect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–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Shared </a:t>
            </a:r>
            <a:r>
              <a:rPr sz="1800" dirty="0">
                <a:latin typeface="Calibri" panose="020F0502020204030204"/>
                <a:cs typeface="Calibri" panose="020F0502020204030204"/>
              </a:rPr>
              <a:t>members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both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sets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16471" y="5437428"/>
            <a:ext cx="23672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Except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–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members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one </a:t>
            </a:r>
            <a:r>
              <a:rPr sz="1800" dirty="0">
                <a:latin typeface="Calibri" panose="020F0502020204030204"/>
                <a:cs typeface="Calibri" panose="020F0502020204030204"/>
              </a:rPr>
              <a:t>set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except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other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set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Box</a:t>
            </a:r>
            <a:r>
              <a:rPr spc="-114" dirty="0"/>
              <a:t> </a:t>
            </a:r>
            <a:r>
              <a:rPr spc="-20" dirty="0"/>
              <a:t>plot</a:t>
            </a:r>
            <a:endParaRPr spc="-20" dirty="0"/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71143" y="3031363"/>
            <a:ext cx="9518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What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752129" y="1650427"/>
            <a:ext cx="8221054" cy="3922116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Level</a:t>
            </a:r>
            <a:r>
              <a:rPr spc="-6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of</a:t>
            </a:r>
            <a:r>
              <a:rPr spc="-45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Detail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71143" y="3031363"/>
            <a:ext cx="9518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What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811523" y="2362835"/>
          <a:ext cx="3873500" cy="2873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0590"/>
                <a:gridCol w="1067435"/>
                <a:gridCol w="753110"/>
                <a:gridCol w="1051560"/>
              </a:tblGrid>
              <a:tr h="220345"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Exam</a:t>
                      </a:r>
                      <a:r>
                        <a:rPr sz="1400" b="1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Subject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Institute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Marks</a:t>
                      </a:r>
                      <a:r>
                        <a:rPr sz="1400" b="1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Scored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7E2F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Math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92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7E2F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Science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73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7E2F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English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86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7E2F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Math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66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7E2F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Science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52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7E2F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English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100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7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7E2F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Math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86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8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7E2F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Science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51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9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7E2F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English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99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marL="2540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10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7E2F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Math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67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marL="2540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11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C7E2F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Science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81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2540" algn="ctr">
                        <a:lnSpc>
                          <a:spcPts val="1655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12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7E2F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55"/>
                        </a:lnSpc>
                        <a:spcBef>
                          <a:spcPts val="20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English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20"/>
                        </a:spcBef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55"/>
                        </a:lnSpc>
                        <a:spcBef>
                          <a:spcPts val="20"/>
                        </a:spcBef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54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805291" y="5466969"/>
          <a:ext cx="2007235" cy="464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8335"/>
              </a:tblGrid>
              <a:tr h="232410">
                <a:tc>
                  <a:txBody>
                    <a:bodyPr/>
                    <a:lstStyle/>
                    <a:p>
                      <a:pPr marL="635" algn="ctr">
                        <a:lnSpc>
                          <a:spcPts val="1650"/>
                        </a:lnSpc>
                        <a:spcBef>
                          <a:spcPts val="80"/>
                        </a:spcBef>
                      </a:pPr>
                      <a:r>
                        <a:rPr sz="1400" b="1" spc="-20" dirty="0">
                          <a:latin typeface="Calibri" panose="020F0502020204030204"/>
                          <a:cs typeface="Calibri" panose="020F0502020204030204"/>
                        </a:rPr>
                        <a:t>Average</a:t>
                      </a:r>
                      <a:r>
                        <a:rPr sz="1400" b="1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400" b="1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Marks</a:t>
                      </a:r>
                      <a:r>
                        <a:rPr sz="1400" b="1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Scored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marL="635" algn="ctr">
                        <a:lnSpc>
                          <a:spcPts val="1650"/>
                        </a:lnSpc>
                        <a:spcBef>
                          <a:spcPts val="80"/>
                        </a:spcBef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75.6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405621" y="4045077"/>
          <a:ext cx="2865120" cy="8839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8855"/>
                <a:gridCol w="1777364"/>
              </a:tblGrid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Subject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b="1" spc="-20" dirty="0">
                          <a:latin typeface="Calibri" panose="020F0502020204030204"/>
                          <a:cs typeface="Calibri" panose="020F0502020204030204"/>
                        </a:rPr>
                        <a:t>Average</a:t>
                      </a:r>
                      <a:r>
                        <a:rPr sz="1400" b="1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Marks</a:t>
                      </a:r>
                      <a:r>
                        <a:rPr sz="1400" b="1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Scored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English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7E2F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84.8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marL="3810" algn="ctr">
                        <a:lnSpc>
                          <a:spcPts val="1640"/>
                        </a:lnSpc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Math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7E2F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77.8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marL="1905"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Science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7E2F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64.3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976616" y="2362835"/>
          <a:ext cx="3664585" cy="1010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6365"/>
                <a:gridCol w="1089024"/>
                <a:gridCol w="1089025"/>
              </a:tblGrid>
              <a:tr h="252095">
                <a:tc>
                  <a:txBody>
                    <a:bodyPr/>
                    <a:lstStyle/>
                    <a:p>
                      <a:pPr algn="ctr">
                        <a:lnSpc>
                          <a:spcPts val="1655"/>
                        </a:lnSpc>
                        <a:spcBef>
                          <a:spcPts val="235"/>
                        </a:spcBef>
                      </a:pP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Subject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5"/>
                        </a:lnSpc>
                        <a:spcBef>
                          <a:spcPts val="235"/>
                        </a:spcBef>
                      </a:pP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Institute</a:t>
                      </a:r>
                      <a:r>
                        <a:rPr sz="1400" b="1" spc="-7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235"/>
                        </a:spcBef>
                      </a:pP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Institute</a:t>
                      </a:r>
                      <a:r>
                        <a:rPr sz="1400" b="1" spc="-7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23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English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7E2F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235"/>
                        </a:spcBef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93.0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235"/>
                        </a:spcBef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76.5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1270" algn="ctr">
                        <a:lnSpc>
                          <a:spcPts val="1655"/>
                        </a:lnSpc>
                        <a:spcBef>
                          <a:spcPts val="235"/>
                        </a:spcBef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Math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7E2F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235"/>
                        </a:spcBef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79.0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235"/>
                        </a:spcBef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76.5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marL="1905" algn="ctr">
                        <a:lnSpc>
                          <a:spcPts val="1655"/>
                        </a:lnSpc>
                        <a:spcBef>
                          <a:spcPts val="23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Science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7E2F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235"/>
                        </a:spcBef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62.5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55"/>
                        </a:lnSpc>
                        <a:spcBef>
                          <a:spcPts val="235"/>
                        </a:spcBef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66.0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4626864" y="1342644"/>
            <a:ext cx="6826250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196850">
              <a:lnSpc>
                <a:spcPct val="100000"/>
              </a:lnSpc>
              <a:spcBef>
                <a:spcPts val="245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Level</a:t>
            </a:r>
            <a:r>
              <a:rPr sz="18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Detail</a:t>
            </a:r>
            <a:r>
              <a:rPr sz="1800"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is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granularity</a:t>
            </a:r>
            <a:r>
              <a:rPr sz="18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data/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how</a:t>
            </a:r>
            <a:r>
              <a:rPr sz="18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fine</a:t>
            </a:r>
            <a:r>
              <a:rPr sz="18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is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information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97248" y="4888890"/>
            <a:ext cx="7776209" cy="1343025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4348480">
              <a:lnSpc>
                <a:spcPct val="100000"/>
              </a:lnSpc>
              <a:spcBef>
                <a:spcPts val="1195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1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* 3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=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3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marks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-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lesser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level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detail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 marR="4283710">
              <a:lnSpc>
                <a:spcPct val="100000"/>
              </a:lnSpc>
              <a:spcBef>
                <a:spcPts val="1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Original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table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–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has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3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*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12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=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36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marks Very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high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level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detail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4348480">
              <a:lnSpc>
                <a:spcPts val="1695"/>
              </a:lnSpc>
            </a:pPr>
            <a:r>
              <a:rPr sz="1800" dirty="0">
                <a:latin typeface="Calibri" panose="020F0502020204030204"/>
                <a:cs typeface="Calibri" panose="020F0502020204030204"/>
              </a:rPr>
              <a:t>1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mark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-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least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level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detail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33409" y="3441572"/>
            <a:ext cx="3244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2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*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3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=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6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marks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-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less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level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detail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LOD</a:t>
            </a:r>
            <a:r>
              <a:rPr spc="-14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expressions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329" y="1593341"/>
            <a:ext cx="0" cy="4246245"/>
          </a:xfrm>
          <a:custGeom>
            <a:avLst/>
            <a:gdLst/>
            <a:ahLst/>
            <a:cxnLst/>
            <a:rect l="l" t="t" r="r" b="b"/>
            <a:pathLst>
              <a:path h="4246245">
                <a:moveTo>
                  <a:pt x="0" y="0"/>
                </a:moveTo>
                <a:lnTo>
                  <a:pt x="0" y="4246079"/>
                </a:lnTo>
              </a:path>
            </a:pathLst>
          </a:custGeom>
          <a:ln w="38100">
            <a:solidFill>
              <a:srgbClr val="006FC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52399" y="3031363"/>
            <a:ext cx="21913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What</a:t>
            </a:r>
            <a:r>
              <a:rPr sz="3200" b="1" spc="-45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&amp;</a:t>
            </a:r>
            <a:r>
              <a:rPr sz="3200" b="1" spc="-2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25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Why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6864" y="1342644"/>
            <a:ext cx="6826250" cy="64643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1904365" marR="299085" indent="-1600835">
              <a:lnSpc>
                <a:spcPct val="100000"/>
              </a:lnSpc>
              <a:spcBef>
                <a:spcPts val="245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Level</a:t>
            </a:r>
            <a:r>
              <a:rPr sz="1800"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Detail</a:t>
            </a:r>
            <a:r>
              <a:rPr sz="18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expressions</a:t>
            </a:r>
            <a:r>
              <a:rPr sz="18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help</a:t>
            </a:r>
            <a:r>
              <a:rPr sz="18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specifying</a:t>
            </a:r>
            <a:r>
              <a:rPr sz="1800" b="1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level</a:t>
            </a:r>
            <a:r>
              <a:rPr sz="18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detail</a:t>
            </a:r>
            <a:r>
              <a:rPr sz="18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25" dirty="0">
                <a:latin typeface="Calibri" panose="020F0502020204030204"/>
                <a:cs typeface="Calibri" panose="020F0502020204030204"/>
              </a:rPr>
              <a:t>for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aggregation</a:t>
            </a:r>
            <a:r>
              <a:rPr sz="18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a</a:t>
            </a:r>
            <a:r>
              <a:rPr sz="18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calculated</a:t>
            </a:r>
            <a:r>
              <a:rPr sz="18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field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50538" y="2304034"/>
            <a:ext cx="4615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Usually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aggregation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happens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at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visualization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level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50538" y="2852673"/>
            <a:ext cx="6944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With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LOD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expressions,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we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can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control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level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detail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aggregation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50538" y="4000576"/>
            <a:ext cx="4239260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Example: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{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FIXED</a:t>
            </a:r>
            <a:r>
              <a:rPr sz="18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[segment]</a:t>
            </a:r>
            <a:r>
              <a:rPr sz="1800" b="1" spc="3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: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SUM([profit])</a:t>
            </a:r>
            <a:r>
              <a:rPr sz="18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50" dirty="0">
                <a:latin typeface="Calibri" panose="020F0502020204030204"/>
                <a:cs typeface="Calibri" panose="020F0502020204030204"/>
              </a:rPr>
              <a:t>}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2165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There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are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three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LOD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keywords: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FIXED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INCLUDE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EXCLUDE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88891" y="3457955"/>
            <a:ext cx="7364095" cy="3708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549275">
              <a:lnSpc>
                <a:spcPct val="100000"/>
              </a:lnSpc>
              <a:spcBef>
                <a:spcPts val="250"/>
              </a:spcBef>
              <a:tabLst>
                <a:tab pos="4664075" algn="l"/>
              </a:tabLst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Syntax</a:t>
            </a:r>
            <a:r>
              <a:rPr sz="1800" b="1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–</a:t>
            </a:r>
            <a:r>
              <a:rPr sz="18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{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LOD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keyword</a:t>
            </a:r>
            <a:r>
              <a:rPr sz="1800" b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Dimension(s)</a:t>
            </a:r>
            <a:r>
              <a:rPr sz="1800" b="1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50" dirty="0">
                <a:latin typeface="Calibri" panose="020F0502020204030204"/>
                <a:cs typeface="Calibri" panose="020F0502020204030204"/>
              </a:rPr>
              <a:t>: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	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Aggregate</a:t>
            </a:r>
            <a:r>
              <a:rPr sz="1800"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Calculation</a:t>
            </a:r>
            <a:r>
              <a:rPr sz="1800" b="1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50" dirty="0">
                <a:latin typeface="Calibri" panose="020F0502020204030204"/>
                <a:cs typeface="Calibri" panose="020F0502020204030204"/>
              </a:rPr>
              <a:t>}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LOD</a:t>
            </a:r>
            <a:r>
              <a:rPr spc="-14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expressions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28850" y="1355597"/>
            <a:ext cx="14592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Example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26864" y="1472183"/>
            <a:ext cx="4840605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748030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{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FIXED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[Student]: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SUM([Marks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Scored])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}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1751" y="5332221"/>
            <a:ext cx="88334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Compare: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AVG(marks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scored)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on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institute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dimension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vs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AVG(FIXED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LOD)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on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institute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dimension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436611" y="2230120"/>
          <a:ext cx="4408170" cy="2869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090"/>
                <a:gridCol w="1026160"/>
                <a:gridCol w="750569"/>
                <a:gridCol w="1026159"/>
                <a:gridCol w="796289"/>
              </a:tblGrid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Exam</a:t>
                      </a:r>
                      <a:r>
                        <a:rPr sz="1400" b="1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Subject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Institute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Marks</a:t>
                      </a:r>
                      <a:r>
                        <a:rPr sz="1400" b="1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Scored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FIXED</a:t>
                      </a:r>
                      <a:r>
                        <a:rPr sz="1400" b="1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25" dirty="0">
                          <a:latin typeface="Calibri" panose="020F0502020204030204"/>
                          <a:cs typeface="Calibri" panose="020F0502020204030204"/>
                        </a:rPr>
                        <a:t>LOD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Math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92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251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Science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73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251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English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86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251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Math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66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218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Science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52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218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English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100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218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Math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86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236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Science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51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236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English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99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236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Math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67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202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Science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81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202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English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54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202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688840" y="3243326"/>
          <a:ext cx="2554605" cy="1103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0425"/>
                <a:gridCol w="1604645"/>
              </a:tblGrid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Students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Sum</a:t>
                      </a:r>
                      <a:r>
                        <a:rPr sz="1400" b="1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40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Marks</a:t>
                      </a:r>
                      <a:r>
                        <a:rPr sz="140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Scored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251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218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236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202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04100" y="2230120"/>
          <a:ext cx="3611245" cy="2869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090"/>
                <a:gridCol w="1026160"/>
                <a:gridCol w="750569"/>
                <a:gridCol w="1026159"/>
              </a:tblGrid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Exam</a:t>
                      </a:r>
                      <a:r>
                        <a:rPr sz="1400" b="1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Subject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Institute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Marks</a:t>
                      </a:r>
                      <a:r>
                        <a:rPr sz="1400" b="1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Scored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40"/>
                        </a:lnSpc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Math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92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Science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73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English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86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40"/>
                        </a:lnSpc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Math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66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Science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52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English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100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40"/>
                        </a:lnSpc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Math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86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Science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51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English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99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40"/>
                        </a:lnSpc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Math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67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Science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81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English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54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LOD</a:t>
            </a:r>
            <a:r>
              <a:rPr spc="-14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expressions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28850" y="1355597"/>
            <a:ext cx="14592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Example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26864" y="1472183"/>
            <a:ext cx="4840605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673100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{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Include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[Student]: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SUM([Marks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Scored])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}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1751" y="5332221"/>
            <a:ext cx="85471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Compare: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AVG(marks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scored)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on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institute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dimension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vs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AVG(Include)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on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institute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dimension </a:t>
            </a:r>
            <a:r>
              <a:rPr sz="1800" dirty="0">
                <a:latin typeface="Calibri" panose="020F0502020204030204"/>
                <a:cs typeface="Calibri" panose="020F0502020204030204"/>
              </a:rPr>
              <a:t>Compare: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AVG(Fixed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LOD)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on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Subject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dimension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vs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AVG(Include)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on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subject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dimension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436611" y="2230120"/>
          <a:ext cx="4408170" cy="2869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090"/>
                <a:gridCol w="1026160"/>
                <a:gridCol w="750569"/>
                <a:gridCol w="1026159"/>
                <a:gridCol w="796289"/>
              </a:tblGrid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Exam</a:t>
                      </a:r>
                      <a:r>
                        <a:rPr sz="1400" b="1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Subject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Institute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Marks</a:t>
                      </a:r>
                      <a:r>
                        <a:rPr sz="1400" b="1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Scored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640"/>
                        </a:lnSpc>
                      </a:pP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Include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Math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92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251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Science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73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251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English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86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251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Math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66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218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Science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52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218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English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100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218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Math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86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236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Science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51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236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English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99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236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Math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67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202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Science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81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202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English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54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202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688840" y="3243326"/>
          <a:ext cx="2554605" cy="1103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0425"/>
                <a:gridCol w="1604645"/>
              </a:tblGrid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Students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Sum</a:t>
                      </a:r>
                      <a:r>
                        <a:rPr sz="1400" b="1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40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Marks</a:t>
                      </a:r>
                      <a:r>
                        <a:rPr sz="140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Scored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251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218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236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202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04100" y="2230120"/>
          <a:ext cx="3611245" cy="2869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090"/>
                <a:gridCol w="1026160"/>
                <a:gridCol w="750569"/>
                <a:gridCol w="1026159"/>
              </a:tblGrid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Exam</a:t>
                      </a:r>
                      <a:r>
                        <a:rPr sz="1400" b="1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Subject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Institute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Marks</a:t>
                      </a:r>
                      <a:r>
                        <a:rPr sz="1400" b="1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Scored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40"/>
                        </a:lnSpc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Math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92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Science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73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English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86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40"/>
                        </a:lnSpc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Math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66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Science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52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English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100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40"/>
                        </a:lnSpc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Math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86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Science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51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English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99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40"/>
                        </a:lnSpc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Math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67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Science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81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English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54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683" y="265175"/>
            <a:ext cx="9286240" cy="914400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33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420"/>
              </a:spcBef>
            </a:pPr>
            <a:r>
              <a:rPr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LOD</a:t>
            </a:r>
            <a:r>
              <a:rPr spc="-14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spc="-1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expressions</a:t>
            </a:r>
            <a:endParaRPr spc="-1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28850" y="1355597"/>
            <a:ext cx="14592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0E6EC5"/>
                </a:solidFill>
                <a:latin typeface="Calibri" panose="020F0502020204030204"/>
                <a:cs typeface="Calibri" panose="020F0502020204030204"/>
              </a:rPr>
              <a:t>Example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26864" y="1472183"/>
            <a:ext cx="4840605" cy="3689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659130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{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Exclude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[Student]: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SUM([Marks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Scored])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}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1751" y="5332221"/>
            <a:ext cx="80511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Compare: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AVG(marks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scored)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vs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AVG(Include)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on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institute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dimension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 panose="020F0502020204030204"/>
                <a:cs typeface="Calibri" panose="020F0502020204030204"/>
              </a:rPr>
              <a:t>Compare: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AVG(Fixed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LOD)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on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Subject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dimension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vs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AVG(Include)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on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subject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dimension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688840" y="3243326"/>
          <a:ext cx="2554605" cy="1103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0425"/>
                <a:gridCol w="1604645"/>
              </a:tblGrid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Students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Sum</a:t>
                      </a:r>
                      <a:r>
                        <a:rPr sz="1400" b="1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40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Marks</a:t>
                      </a:r>
                      <a:r>
                        <a:rPr sz="1400" b="1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Scored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907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907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907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907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04100" y="2230120"/>
          <a:ext cx="3611245" cy="2869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090"/>
                <a:gridCol w="1026160"/>
                <a:gridCol w="750569"/>
                <a:gridCol w="1026159"/>
              </a:tblGrid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Exam</a:t>
                      </a:r>
                      <a:r>
                        <a:rPr sz="1400" b="1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Subject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Institute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b="1" dirty="0">
                          <a:latin typeface="Calibri" panose="020F0502020204030204"/>
                          <a:cs typeface="Calibri" panose="020F0502020204030204"/>
                        </a:rPr>
                        <a:t>Marks</a:t>
                      </a:r>
                      <a:r>
                        <a:rPr sz="1400" b="1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b="1" spc="-10" dirty="0">
                          <a:latin typeface="Calibri" panose="020F0502020204030204"/>
                          <a:cs typeface="Calibri" panose="020F0502020204030204"/>
                        </a:rPr>
                        <a:t>Scored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40"/>
                        </a:lnSpc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Math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92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Science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73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English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86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40"/>
                        </a:lnSpc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Math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66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Science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52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English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100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40"/>
                        </a:lnSpc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Math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86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Science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51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English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99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40"/>
                        </a:lnSpc>
                      </a:pP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Math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67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Science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81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Student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English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B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0"/>
                        </a:lnSpc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54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8462009" y="3091053"/>
            <a:ext cx="276034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7371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Aggregation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depends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on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Visualization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LOD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 panose="020F0502020204030204"/>
                <a:cs typeface="Calibri" panose="020F0502020204030204"/>
              </a:rPr>
              <a:t>Student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field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will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be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excluded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 panose="020F0502020204030204"/>
                <a:cs typeface="Calibri" panose="020F0502020204030204"/>
              </a:rPr>
              <a:t>while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aggregating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TEXT_FILL_FORE_SCHEMECOLOR_INDEX" val="13"/>
  <p:tag name="KSO_WM_UNIT_TEXT_FILL_TYPE" val="1"/>
  <p:tag name="KSO_WM_UNIT_USESOURCEFORMAT_APPLY" val="1"/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8218_1*a*1"/>
  <p:tag name="KSO_WM_TEMPLATE_CATEGORY" val="custom"/>
  <p:tag name="KSO_WM_TEMPLATE_INDEX" val="20238218"/>
  <p:tag name="KSO_WM_UNIT_LAYERLEVEL" val="1"/>
  <p:tag name="KSO_WM_TAG_VERSION" val="3.0"/>
  <p:tag name="KSO_WM_BEAUTIFY_FLAG" val="#wm#"/>
  <p:tag name="KSO_WM_UNIT_PRESET_TEXT" val="Your title here"/>
</p:tagLst>
</file>

<file path=ppt/tags/tag6.xml><?xml version="1.0" encoding="utf-8"?>
<p:tagLst xmlns:p="http://schemas.openxmlformats.org/presentationml/2006/main">
  <p:tag name="TABLE_ENDDRAG_ORIGIN_RECT" val="745*181"/>
  <p:tag name="TABLE_ENDDRAG_RECT" val="120*98*745*181"/>
  <p:tag name="KSO_WM_UNIT_USESOURCEFORMAT_APPLY" val="1"/>
  <p:tag name="KSO_WM_UNIT_VALUE" val="859*299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β"/>
  <p:tag name="KSO_WM_UNIT_INDEX" val="1"/>
  <p:tag name="KSO_WM_UNIT_ID" val="custom20238218_1*β*1"/>
  <p:tag name="KSO_WM_TEMPLATE_CATEGORY" val="custom"/>
  <p:tag name="KSO_WM_TEMPLATE_INDEX" val="20238218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SHADOW_SCHEMECOLOR_INDEX" val="5"/>
  <p:tag name="KSO_WM_UNIT_TEXT_FILL_FORE_SCHEMECOLOR_INDEX" val="13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8218_1*i*1"/>
  <p:tag name="KSO_WM_TEMPLATE_CATEGORY" val="custom"/>
  <p:tag name="KSO_WM_TEMPLATE_INDEX" val="20238218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35_1*l_h_f*1_1_1"/>
  <p:tag name="KSO_WM_TEMPLATE_CATEGORY" val="diagram"/>
  <p:tag name="KSO_WM_TEMPLATE_INDEX" val="20237935"/>
  <p:tag name="KSO_WM_UNIT_LAYERLEVEL" val="1_1_1"/>
  <p:tag name="KSO_WM_TAG_VERSION" val="3.0"/>
  <p:tag name="KSO_WM_BEAUTIFY_FLAG" val="#wm#"/>
  <p:tag name="KSO_WM_UNIT_PRESET_TEXT" val="Presentations are communication tools that can be used as demonstrations, lectures, speeches, reports, and more. It serves a variety of purposes, making presentations powerful tools for convincing and teaching."/>
  <p:tag name="KSO_WM_UNIT_USESOURCEFORMAT_APPLY" val="1"/>
</p:tagLst>
</file>

<file path=ppt/tags/tag9.xml><?xml version="1.0" encoding="utf-8"?>
<p:tagLst xmlns:p="http://schemas.openxmlformats.org/presentationml/2006/main"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7935_1*l_h_a*1_1_1"/>
  <p:tag name="KSO_WM_TEMPLATE_CATEGORY" val="diagram"/>
  <p:tag name="KSO_WM_TEMPLATE_INDEX" val="20237935"/>
  <p:tag name="KSO_WM_UNIT_LAYERLEVEL" val="1_1_1"/>
  <p:tag name="KSO_WM_TAG_VERSION" val="3.0"/>
  <p:tag name="KSO_WM_BEAUTIFY_FLAG" val="#wm#"/>
  <p:tag name="KSO_WM_UNIT_PRESET_TEXT" val="Your title here"/>
  <p:tag name="KSO_WM_UNIT_USESOURCEFORMAT_APPLY" val="1"/>
</p:tagLst>
</file>

<file path=ppt/tags/tag10.xml><?xml version="1.0" encoding="utf-8"?>
<p:tagLst xmlns:p="http://schemas.openxmlformats.org/presentationml/2006/main">
  <p:tag name="KSO_WM_SPECIAL_SOURCE" val="bdnull"/>
  <p:tag name="KSO_WM_SLIDE_ID" val="custom20238218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1"/>
  <p:tag name="KSO_WM_SLIDE_INDEX" val="1"/>
  <p:tag name="KSO_WM_SLIDE_SIZE" val="745.9*95.95"/>
  <p:tag name="KSO_WM_SLIDE_POSITION" val="115*191.1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8218"/>
  <p:tag name="KSO_WM_SLIDE_LAYOUT" val="a_β_l"/>
  <p:tag name="KSO_WM_SLIDE_LAYOUT_CNT" val="1_1_1"/>
</p:tagLst>
</file>

<file path=ppt/tags/tag11.xml><?xml version="1.0" encoding="utf-8"?>
<p:tagLst xmlns:p="http://schemas.openxmlformats.org/presentationml/2006/main">
  <p:tag name="KSO_WM_UNIT_VALUE" val="1900*20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409_1*d*1"/>
  <p:tag name="KSO_WM_TEMPLATE_CATEGORY" val="custom"/>
  <p:tag name="KSO_WM_TEMPLATE_INDEX" val="20238409"/>
  <p:tag name="KSO_WM_UNIT_LAYERLEVEL" val="1"/>
  <p:tag name="KSO_WM_TAG_VERSION" val="3.0"/>
  <p:tag name="KSO_WM_BEAUTIFY_FLAG" val="#wm#"/>
  <p:tag name="KSO_WM_UNIT_LINE_FORE_SCHEMECOLOR_INDEX" val="5"/>
  <p:tag name="KSO_WM_UNIT_LINE_FILL_TYPE" val="2"/>
  <p:tag name="KSO_WM_UNIT_USESOURCEFORMAT_APPLY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8409_1*i*1"/>
  <p:tag name="KSO_WM_TEMPLATE_CATEGORY" val="custom"/>
  <p:tag name="KSO_WM_TEMPLATE_INDEX" val="20238409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8409_1*a*1"/>
  <p:tag name="KSO_WM_TEMPLATE_CATEGORY" val="custom"/>
  <p:tag name="KSO_WM_TEMPLATE_INDEX" val="20238409"/>
  <p:tag name="KSO_WM_UNIT_LAYERLEVEL" val="1"/>
  <p:tag name="KSO_WM_TAG_VERSION" val="3.0"/>
  <p:tag name="KSO_WM_BEAUTIFY_FLAG" val="#wm#"/>
  <p:tag name="KSO_WM_UNIT_PRESET_TEXT" val="The title goes here"/>
  <p:tag name="KSO_WM_UNIT_TEXT_FILL_FORE_SCHEMECOLOR_INDEX" val="13"/>
  <p:tag name="KSO_WM_UNIT_TEXT_FILL_TYPE" val="1"/>
  <p:tag name="KSO_WM_UNIT_USESOURCEFORMAT_APPLY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8409_1*i*2"/>
  <p:tag name="KSO_WM_TEMPLATE_CATEGORY" val="custom"/>
  <p:tag name="KSO_WM_TEMPLATE_INDEX" val="20238409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3"/>
  <p:tag name="KSO_WM_UNIT_ID" val="custom20238409_1*i*3"/>
  <p:tag name="KSO_WM_TEMPLATE_CATEGORY" val="custom"/>
  <p:tag name="KSO_WM_TEMPLATE_INDEX" val="20238409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6.xml><?xml version="1.0" encoding="utf-8"?>
<p:tagLst xmlns:p="http://schemas.openxmlformats.org/presentationml/2006/main">
  <p:tag name="KSO_WM_UNIT_TEXT_FILL_FORE_SCHEMECOLOR_INDEX_BRIGHTNESS" val="0.25"/>
  <p:tag name="KSO_WM_DIAGRAM_MAX_ITEMCNT" val="1"/>
  <p:tag name="KSO_WM_DIAGRAM_MIN_ITEMCNT" val="1"/>
  <p:tag name="KSO_WM_DIAGRAM_VIRTUALLY_FRAME" val="{&quot;height&quot;:207.13685607910156,&quot;width&quot;:302.689758300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74_1*l_h_f*1_1_1"/>
  <p:tag name="KSO_WM_TEMPLATE_CATEGORY" val="diagram"/>
  <p:tag name="KSO_WM_TEMPLATE_INDEX" val="20237974"/>
  <p:tag name="KSO_WM_UNIT_LAYERLEVEL" val="1_1_1"/>
  <p:tag name="KSO_WM_TAG_VERSION" val="3.0"/>
  <p:tag name="KSO_WM_BEAUTIFY_FLAG" val="#wm#"/>
  <p:tag name="KSO_WM_UNIT_PRESET_TEXT" val="Presentations are communication tools that can be used as demonstrations, lectures, speeches, reports, and more."/>
  <p:tag name="KSO_WM_UNIT_TEXT_FILL_FORE_SCHEMECOLOR_INDEX" val="1"/>
  <p:tag name="KSO_WM_UNIT_TEXT_FILL_TYPE" val="1"/>
  <p:tag name="KSO_WM_UNIT_USESOURCEFORMAT_APPLY" val="1"/>
</p:tagLst>
</file>

<file path=ppt/tags/tag17.xml><?xml version="1.0" encoding="utf-8"?>
<p:tagLst xmlns:p="http://schemas.openxmlformats.org/presentationml/2006/main">
  <p:tag name="KSO_WM_SLIDE_ID" val="custom20238409_1"/>
  <p:tag name="KSO_WM_TEMPLATE_SUBCATEGORY" val="0"/>
  <p:tag name="KSO_WM_TEMPLATE_MASTER_TYPE" val="0"/>
  <p:tag name="KSO_WM_TEMPLATE_COLOR_TYPE" val="0"/>
  <p:tag name="KSO_WM_SLIDE_ITEM_CNT" val="1"/>
  <p:tag name="KSO_WM_SLIDE_INDEX" val="1"/>
  <p:tag name="KSO_WM_TAG_VERSION" val="3.0"/>
  <p:tag name="KSO_WM_BEAUTIFY_FLAG" val="#wm#"/>
  <p:tag name="KSO_WM_TEMPLATE_CATEGORY" val="custom"/>
  <p:tag name="KSO_WM_TEMPLATE_INDEX" val="20238409"/>
  <p:tag name="KSO_WM_SLIDE_TYPE" val="text"/>
  <p:tag name="KSO_WM_SLIDE_SUBTYPE" val="picTxt"/>
  <p:tag name="KSO_WM_SLIDE_SIZE" val="302.69*207.137"/>
  <p:tag name="KSO_WM_SLIDE_POSITION" val="579.205*225.282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heme/theme1.xml><?xml version="1.0" encoding="utf-8"?>
<a:theme xmlns:a="http://schemas.openxmlformats.org/drawingml/2006/main" name="1_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19616</Words>
  <Application>WPS Presentation</Application>
  <PresentationFormat>On-screen Show (4:3)</PresentationFormat>
  <Paragraphs>3363</Paragraphs>
  <Slides>55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65" baseType="lpstr">
      <vt:lpstr>Arial</vt:lpstr>
      <vt:lpstr>SimSun</vt:lpstr>
      <vt:lpstr>Wingdings</vt:lpstr>
      <vt:lpstr>Calibri Light</vt:lpstr>
      <vt:lpstr>Calibri</vt:lpstr>
      <vt:lpstr>Arial MT</vt:lpstr>
      <vt:lpstr>Microsoft YaHei</vt:lpstr>
      <vt:lpstr>Arial Unicode MS</vt:lpstr>
      <vt:lpstr>Times New Roman</vt:lpstr>
      <vt:lpstr>1_Blue Waves</vt:lpstr>
      <vt:lpstr>Data Visualization Process</vt:lpstr>
      <vt:lpstr>Data Visualization Process</vt:lpstr>
      <vt:lpstr>Data Visualization Process</vt:lpstr>
      <vt:lpstr>Tableau Products</vt:lpstr>
      <vt:lpstr>Tableau Products</vt:lpstr>
      <vt:lpstr>Tableau Products</vt:lpstr>
      <vt:lpstr>Tableau Products</vt:lpstr>
      <vt:lpstr>Tableau Products</vt:lpstr>
      <vt:lpstr>Live vs Extract Connection</vt:lpstr>
      <vt:lpstr>Joining data from multiple tables</vt:lpstr>
      <vt:lpstr>3 ways of joining data in tableau</vt:lpstr>
      <vt:lpstr>Merging data from multiple tables</vt:lpstr>
      <vt:lpstr>Merging data from multiple tables</vt:lpstr>
      <vt:lpstr>Joins</vt:lpstr>
      <vt:lpstr>Relationship – performance options</vt:lpstr>
      <vt:lpstr>Relationship – performance options</vt:lpstr>
      <vt:lpstr>Relationship – performance options</vt:lpstr>
      <vt:lpstr>Relationship – performance options</vt:lpstr>
      <vt:lpstr>Relationship – performance options</vt:lpstr>
      <vt:lpstr>Physical vs Logical layer</vt:lpstr>
      <vt:lpstr>Physical vs Logical layer</vt:lpstr>
      <vt:lpstr>Physical vs Logical layer</vt:lpstr>
      <vt:lpstr>Types of Data in Tableau</vt:lpstr>
      <vt:lpstr>Types of Data in Tableau</vt:lpstr>
      <vt:lpstr>Types of Data in Tableau</vt:lpstr>
      <vt:lpstr>Types of Data in Tableau</vt:lpstr>
      <vt:lpstr>Binning data</vt:lpstr>
      <vt:lpstr>Grouping data</vt:lpstr>
      <vt:lpstr>Filtering</vt:lpstr>
      <vt:lpstr>Filters</vt:lpstr>
      <vt:lpstr>Filters</vt:lpstr>
      <vt:lpstr>Filters</vt:lpstr>
      <vt:lpstr>Maps</vt:lpstr>
      <vt:lpstr>PowerPoint 演示文稿</vt:lpstr>
      <vt:lpstr>Maps</vt:lpstr>
      <vt:lpstr>Maps</vt:lpstr>
      <vt:lpstr>Blending for missing geocoding</vt:lpstr>
      <vt:lpstr>Data Analysis</vt:lpstr>
      <vt:lpstr>Data Analysis</vt:lpstr>
      <vt:lpstr>Data Analysis</vt:lpstr>
      <vt:lpstr>Data Analysis</vt:lpstr>
      <vt:lpstr>Data Analysis</vt:lpstr>
      <vt:lpstr>Data Analysis</vt:lpstr>
      <vt:lpstr>Data Analysis</vt:lpstr>
      <vt:lpstr>Sets</vt:lpstr>
      <vt:lpstr>Sets</vt:lpstr>
      <vt:lpstr>Sets</vt:lpstr>
      <vt:lpstr>Sets</vt:lpstr>
      <vt:lpstr>Sets</vt:lpstr>
      <vt:lpstr>Box plot</vt:lpstr>
      <vt:lpstr>Level of Detail</vt:lpstr>
      <vt:lpstr>LOD expressions</vt:lpstr>
      <vt:lpstr>LOD expressions</vt:lpstr>
      <vt:lpstr>LOD expressions</vt:lpstr>
      <vt:lpstr>LOD expressions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 Process</dc:title>
  <dc:creator>Abhishek Bansal</dc:creator>
  <cp:lastModifiedBy>Ashwin Panbude</cp:lastModifiedBy>
  <cp:revision>1</cp:revision>
  <dcterms:created xsi:type="dcterms:W3CDTF">2026-01-07T10:45:01Z</dcterms:created>
  <dcterms:modified xsi:type="dcterms:W3CDTF">2026-01-07T10:45:01Z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2023-02-22T05:30:00Z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2026-01-07T05:30:00Z</vt:filetime>
  </property>
  <property fmtid="{D5CDD505-2E9C-101B-9397-08002B2CF9AE}" pid="5" name="Producer">
    <vt:lpwstr>Microsoft® PowerPoint® 2019</vt:lpwstr>
  </property>
  <property fmtid="{D5CDD505-2E9C-101B-9397-08002B2CF9AE}" pid="6" name="ICV">
    <vt:lpwstr>5F0276D3CD4F42E4B921BF3B405B9D64_13</vt:lpwstr>
  </property>
  <property fmtid="{D5CDD505-2E9C-101B-9397-08002B2CF9AE}" pid="7" name="KSOProductBuildVer">
    <vt:lpwstr>1033-12.2.0.23196</vt:lpwstr>
  </property>
</Properties>
</file>